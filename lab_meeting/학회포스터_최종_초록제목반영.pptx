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62" r:id="rId2"/>
  </p:sldIdLst>
  <p:sldSz cx="30275213" cy="42803763"/>
  <p:notesSz cx="9926638" cy="14355763"/>
  <p:defaultTextStyle>
    <a:defPPr>
      <a:defRPr lang="ko-KR"/>
    </a:defPPr>
    <a:lvl1pPr marL="0" algn="l" defTabSz="4173583" rtl="0" eaLnBrk="1" latinLnBrk="1" hangingPunct="1">
      <a:defRPr sz="8212" kern="1200">
        <a:solidFill>
          <a:schemeClr val="tx1"/>
        </a:solidFill>
        <a:latin typeface="+mn-lt"/>
        <a:ea typeface="+mn-ea"/>
        <a:cs typeface="+mn-cs"/>
      </a:defRPr>
    </a:lvl1pPr>
    <a:lvl2pPr marL="2086792" algn="l" defTabSz="4173583" rtl="0" eaLnBrk="1" latinLnBrk="1" hangingPunct="1">
      <a:defRPr sz="8212" kern="1200">
        <a:solidFill>
          <a:schemeClr val="tx1"/>
        </a:solidFill>
        <a:latin typeface="+mn-lt"/>
        <a:ea typeface="+mn-ea"/>
        <a:cs typeface="+mn-cs"/>
      </a:defRPr>
    </a:lvl2pPr>
    <a:lvl3pPr marL="4173583" algn="l" defTabSz="4173583" rtl="0" eaLnBrk="1" latinLnBrk="1" hangingPunct="1">
      <a:defRPr sz="8212" kern="1200">
        <a:solidFill>
          <a:schemeClr val="tx1"/>
        </a:solidFill>
        <a:latin typeface="+mn-lt"/>
        <a:ea typeface="+mn-ea"/>
        <a:cs typeface="+mn-cs"/>
      </a:defRPr>
    </a:lvl3pPr>
    <a:lvl4pPr marL="6260376" algn="l" defTabSz="4173583" rtl="0" eaLnBrk="1" latinLnBrk="1" hangingPunct="1">
      <a:defRPr sz="8212" kern="1200">
        <a:solidFill>
          <a:schemeClr val="tx1"/>
        </a:solidFill>
        <a:latin typeface="+mn-lt"/>
        <a:ea typeface="+mn-ea"/>
        <a:cs typeface="+mn-cs"/>
      </a:defRPr>
    </a:lvl4pPr>
    <a:lvl5pPr marL="8347166" algn="l" defTabSz="4173583" rtl="0" eaLnBrk="1" latinLnBrk="1" hangingPunct="1">
      <a:defRPr sz="8212" kern="1200">
        <a:solidFill>
          <a:schemeClr val="tx1"/>
        </a:solidFill>
        <a:latin typeface="+mn-lt"/>
        <a:ea typeface="+mn-ea"/>
        <a:cs typeface="+mn-cs"/>
      </a:defRPr>
    </a:lvl5pPr>
    <a:lvl6pPr marL="10433959" algn="l" defTabSz="4173583" rtl="0" eaLnBrk="1" latinLnBrk="1" hangingPunct="1">
      <a:defRPr sz="8212" kern="1200">
        <a:solidFill>
          <a:schemeClr val="tx1"/>
        </a:solidFill>
        <a:latin typeface="+mn-lt"/>
        <a:ea typeface="+mn-ea"/>
        <a:cs typeface="+mn-cs"/>
      </a:defRPr>
    </a:lvl6pPr>
    <a:lvl7pPr marL="12520752" algn="l" defTabSz="4173583" rtl="0" eaLnBrk="1" latinLnBrk="1" hangingPunct="1">
      <a:defRPr sz="8212" kern="1200">
        <a:solidFill>
          <a:schemeClr val="tx1"/>
        </a:solidFill>
        <a:latin typeface="+mn-lt"/>
        <a:ea typeface="+mn-ea"/>
        <a:cs typeface="+mn-cs"/>
      </a:defRPr>
    </a:lvl7pPr>
    <a:lvl8pPr marL="14607544" algn="l" defTabSz="4173583" rtl="0" eaLnBrk="1" latinLnBrk="1" hangingPunct="1">
      <a:defRPr sz="8212" kern="1200">
        <a:solidFill>
          <a:schemeClr val="tx1"/>
        </a:solidFill>
        <a:latin typeface="+mn-lt"/>
        <a:ea typeface="+mn-ea"/>
        <a:cs typeface="+mn-cs"/>
      </a:defRPr>
    </a:lvl8pPr>
    <a:lvl9pPr marL="16694334" algn="l" defTabSz="4173583" rtl="0" eaLnBrk="1" latinLnBrk="1" hangingPunct="1">
      <a:defRPr sz="8212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3482" userDrawn="1">
          <p15:clr>
            <a:srgbClr val="A4A3A4"/>
          </p15:clr>
        </p15:guide>
        <p15:guide id="2" pos="9536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00"/>
    <a:srgbClr val="3063F4"/>
    <a:srgbClr val="3A83B0"/>
    <a:srgbClr val="F6DADA"/>
    <a:srgbClr val="28508C"/>
    <a:srgbClr val="2F5EA3"/>
    <a:srgbClr val="20566E"/>
    <a:srgbClr val="F5A10B"/>
    <a:srgbClr val="EB3D6F"/>
    <a:srgbClr val="74988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771" autoAdjust="0"/>
    <p:restoredTop sz="94142" autoAdjust="0"/>
  </p:normalViewPr>
  <p:slideViewPr>
    <p:cSldViewPr showGuides="1">
      <p:cViewPr>
        <p:scale>
          <a:sx n="25" d="100"/>
          <a:sy n="25" d="100"/>
        </p:scale>
        <p:origin x="132" y="222"/>
      </p:cViewPr>
      <p:guideLst>
        <p:guide orient="horz" pos="13482"/>
        <p:guide pos="9536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301543" cy="720281"/>
          </a:xfrm>
          <a:prstGeom prst="rect">
            <a:avLst/>
          </a:prstGeom>
        </p:spPr>
        <p:txBody>
          <a:bodyPr vert="horz" lIns="138751" tIns="69376" rIns="138751" bIns="69376" rtlCol="0"/>
          <a:lstStyle>
            <a:lvl1pPr algn="l">
              <a:defRPr sz="1800"/>
            </a:lvl1pPr>
          </a:lstStyle>
          <a:p>
            <a:endParaRPr lang="ko-KR" altLang="en-US" dirty="0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5622798" y="0"/>
            <a:ext cx="4301543" cy="720281"/>
          </a:xfrm>
          <a:prstGeom prst="rect">
            <a:avLst/>
          </a:prstGeom>
        </p:spPr>
        <p:txBody>
          <a:bodyPr vert="horz" lIns="138751" tIns="69376" rIns="138751" bIns="69376" rtlCol="0"/>
          <a:lstStyle>
            <a:lvl1pPr algn="r">
              <a:defRPr sz="1800"/>
            </a:lvl1pPr>
          </a:lstStyle>
          <a:p>
            <a:fld id="{C3975C9C-AA20-4771-875B-11630C0B0EE9}" type="datetimeFigureOut">
              <a:rPr lang="ko-KR" altLang="en-US" smtClean="0"/>
              <a:t>2026-10-17</a:t>
            </a:fld>
            <a:endParaRPr lang="ko-KR" altLang="en-US" dirty="0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3251200" y="1793875"/>
            <a:ext cx="3424238" cy="48450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138751" tIns="69376" rIns="138751" bIns="69376" rtlCol="0" anchor="ctr"/>
          <a:lstStyle/>
          <a:p>
            <a:endParaRPr lang="ko-KR" altLang="en-US" dirty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992664" y="6908711"/>
            <a:ext cx="7941310" cy="5652582"/>
          </a:xfrm>
          <a:prstGeom prst="rect">
            <a:avLst/>
          </a:prstGeom>
        </p:spPr>
        <p:txBody>
          <a:bodyPr vert="horz" lIns="138751" tIns="69376" rIns="138751" bIns="69376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13635484"/>
            <a:ext cx="4301543" cy="720280"/>
          </a:xfrm>
          <a:prstGeom prst="rect">
            <a:avLst/>
          </a:prstGeom>
        </p:spPr>
        <p:txBody>
          <a:bodyPr vert="horz" lIns="138751" tIns="69376" rIns="138751" bIns="69376" rtlCol="0" anchor="b"/>
          <a:lstStyle>
            <a:lvl1pPr algn="l">
              <a:defRPr sz="1800"/>
            </a:lvl1pPr>
          </a:lstStyle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5622798" y="13635484"/>
            <a:ext cx="4301543" cy="720280"/>
          </a:xfrm>
          <a:prstGeom prst="rect">
            <a:avLst/>
          </a:prstGeom>
        </p:spPr>
        <p:txBody>
          <a:bodyPr vert="horz" lIns="138751" tIns="69376" rIns="138751" bIns="69376" rtlCol="0" anchor="b"/>
          <a:lstStyle>
            <a:lvl1pPr algn="r">
              <a:defRPr sz="1800"/>
            </a:lvl1pPr>
          </a:lstStyle>
          <a:p>
            <a:fld id="{50A9D8C3-D90B-4640-9792-40BF06B6F7E5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12741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293094" rtl="0" eaLnBrk="1" latinLnBrk="1" hangingPunct="1">
      <a:defRPr sz="1698" kern="1200">
        <a:solidFill>
          <a:schemeClr val="tx1"/>
        </a:solidFill>
        <a:latin typeface="+mn-lt"/>
        <a:ea typeface="+mn-ea"/>
        <a:cs typeface="+mn-cs"/>
      </a:defRPr>
    </a:lvl1pPr>
    <a:lvl2pPr marL="646546" algn="l" defTabSz="1293094" rtl="0" eaLnBrk="1" latinLnBrk="1" hangingPunct="1">
      <a:defRPr sz="1698" kern="1200">
        <a:solidFill>
          <a:schemeClr val="tx1"/>
        </a:solidFill>
        <a:latin typeface="+mn-lt"/>
        <a:ea typeface="+mn-ea"/>
        <a:cs typeface="+mn-cs"/>
      </a:defRPr>
    </a:lvl2pPr>
    <a:lvl3pPr marL="1293094" algn="l" defTabSz="1293094" rtl="0" eaLnBrk="1" latinLnBrk="1" hangingPunct="1">
      <a:defRPr sz="1698" kern="1200">
        <a:solidFill>
          <a:schemeClr val="tx1"/>
        </a:solidFill>
        <a:latin typeface="+mn-lt"/>
        <a:ea typeface="+mn-ea"/>
        <a:cs typeface="+mn-cs"/>
      </a:defRPr>
    </a:lvl3pPr>
    <a:lvl4pPr marL="1939642" algn="l" defTabSz="1293094" rtl="0" eaLnBrk="1" latinLnBrk="1" hangingPunct="1">
      <a:defRPr sz="1698" kern="1200">
        <a:solidFill>
          <a:schemeClr val="tx1"/>
        </a:solidFill>
        <a:latin typeface="+mn-lt"/>
        <a:ea typeface="+mn-ea"/>
        <a:cs typeface="+mn-cs"/>
      </a:defRPr>
    </a:lvl4pPr>
    <a:lvl5pPr marL="2586189" algn="l" defTabSz="1293094" rtl="0" eaLnBrk="1" latinLnBrk="1" hangingPunct="1">
      <a:defRPr sz="1698" kern="1200">
        <a:solidFill>
          <a:schemeClr val="tx1"/>
        </a:solidFill>
        <a:latin typeface="+mn-lt"/>
        <a:ea typeface="+mn-ea"/>
        <a:cs typeface="+mn-cs"/>
      </a:defRPr>
    </a:lvl5pPr>
    <a:lvl6pPr marL="3232736" algn="l" defTabSz="1293094" rtl="0" eaLnBrk="1" latinLnBrk="1" hangingPunct="1">
      <a:defRPr sz="1698" kern="1200">
        <a:solidFill>
          <a:schemeClr val="tx1"/>
        </a:solidFill>
        <a:latin typeface="+mn-lt"/>
        <a:ea typeface="+mn-ea"/>
        <a:cs typeface="+mn-cs"/>
      </a:defRPr>
    </a:lvl6pPr>
    <a:lvl7pPr marL="3879283" algn="l" defTabSz="1293094" rtl="0" eaLnBrk="1" latinLnBrk="1" hangingPunct="1">
      <a:defRPr sz="1698" kern="1200">
        <a:solidFill>
          <a:schemeClr val="tx1"/>
        </a:solidFill>
        <a:latin typeface="+mn-lt"/>
        <a:ea typeface="+mn-ea"/>
        <a:cs typeface="+mn-cs"/>
      </a:defRPr>
    </a:lvl7pPr>
    <a:lvl8pPr marL="4525832" algn="l" defTabSz="1293094" rtl="0" eaLnBrk="1" latinLnBrk="1" hangingPunct="1">
      <a:defRPr sz="1698" kern="1200">
        <a:solidFill>
          <a:schemeClr val="tx1"/>
        </a:solidFill>
        <a:latin typeface="+mn-lt"/>
        <a:ea typeface="+mn-ea"/>
        <a:cs typeface="+mn-cs"/>
      </a:defRPr>
    </a:lvl8pPr>
    <a:lvl9pPr marL="5172377" algn="l" defTabSz="1293094" rtl="0" eaLnBrk="1" latinLnBrk="1" hangingPunct="1">
      <a:defRPr sz="1698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0A9D8C3-D90B-4640-9792-40BF06B6F7E5}" type="slidenum">
              <a:rPr lang="ko-KR" altLang="en-US" smtClean="0"/>
              <a:t>1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34339987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사용자 지정 레이아웃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>
            <a:extLst>
              <a:ext uri="{FF2B5EF4-FFF2-40B4-BE49-F238E27FC236}">
                <a16:creationId xmlns:a16="http://schemas.microsoft.com/office/drawing/2014/main" id="{BF76B742-CA72-4B76-9A1B-00F13A079611}"/>
              </a:ext>
            </a:extLst>
          </p:cNvPr>
          <p:cNvSpPr/>
          <p:nvPr/>
        </p:nvSpPr>
        <p:spPr>
          <a:xfrm>
            <a:off x="387465" y="6099356"/>
            <a:ext cx="14506964" cy="36186940"/>
          </a:xfrm>
          <a:prstGeom prst="rect">
            <a:avLst/>
          </a:prstGeom>
          <a:solidFill>
            <a:schemeClr val="bg1"/>
          </a:solidFill>
          <a:ln w="190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7585" tIns="43793" rIns="87585" bIns="43793" rtlCol="0" anchor="ctr"/>
          <a:lstStyle/>
          <a:p>
            <a:pPr algn="ctr"/>
            <a:endParaRPr lang="ko-KR" altLang="en-US" sz="5418" dirty="0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AFE6F6F2-1EEE-4BAA-B7BB-4B058EAAA213}"/>
              </a:ext>
            </a:extLst>
          </p:cNvPr>
          <p:cNvSpPr/>
          <p:nvPr/>
        </p:nvSpPr>
        <p:spPr>
          <a:xfrm>
            <a:off x="15382036" y="6099358"/>
            <a:ext cx="14505719" cy="36186939"/>
          </a:xfrm>
          <a:prstGeom prst="rect">
            <a:avLst/>
          </a:prstGeom>
          <a:solidFill>
            <a:schemeClr val="bg1"/>
          </a:solidFill>
          <a:ln w="190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7585" tIns="43793" rIns="87585" bIns="43793" rtlCol="0" anchor="ctr"/>
          <a:lstStyle/>
          <a:p>
            <a:pPr lvl="0" algn="ctr"/>
            <a:endParaRPr lang="ko-KR" altLang="en-US" sz="5418" dirty="0"/>
          </a:p>
        </p:txBody>
      </p:sp>
      <p:pic>
        <p:nvPicPr>
          <p:cNvPr id="2" name="그림 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983" y="35249"/>
            <a:ext cx="30275357" cy="57977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681170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1513764" y="1714136"/>
            <a:ext cx="27247692" cy="7133959"/>
          </a:xfrm>
          <a:prstGeom prst="rect">
            <a:avLst/>
          </a:prstGeom>
        </p:spPr>
        <p:txBody>
          <a:bodyPr vert="horz" lIns="431984" tIns="215993" rIns="431984" bIns="215993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1513764" y="9987549"/>
            <a:ext cx="27247692" cy="28248506"/>
          </a:xfrm>
          <a:prstGeom prst="rect">
            <a:avLst/>
          </a:prstGeom>
        </p:spPr>
        <p:txBody>
          <a:bodyPr vert="horz" lIns="431984" tIns="215993" rIns="431984" bIns="215993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1513764" y="39672751"/>
            <a:ext cx="7064217" cy="2278906"/>
          </a:xfrm>
          <a:prstGeom prst="rect">
            <a:avLst/>
          </a:prstGeom>
        </p:spPr>
        <p:txBody>
          <a:bodyPr vert="horz" lIns="431984" tIns="215993" rIns="431984" bIns="215993" rtlCol="0" anchor="ctr"/>
          <a:lstStyle>
            <a:lvl1pPr algn="l">
              <a:defRPr sz="522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6BD32EA-93D2-422C-9D50-DCDFD5662F59}" type="datetimeFigureOut">
              <a:rPr lang="ko-KR" altLang="en-US" smtClean="0"/>
              <a:t>2026-10-17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10344033" y="39672751"/>
            <a:ext cx="9587152" cy="2278906"/>
          </a:xfrm>
          <a:prstGeom prst="rect">
            <a:avLst/>
          </a:prstGeom>
        </p:spPr>
        <p:txBody>
          <a:bodyPr vert="horz" lIns="431984" tIns="215993" rIns="431984" bIns="215993" rtlCol="0" anchor="ctr"/>
          <a:lstStyle>
            <a:lvl1pPr algn="ctr">
              <a:defRPr sz="522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21697241" y="39672751"/>
            <a:ext cx="7064217" cy="2278906"/>
          </a:xfrm>
          <a:prstGeom prst="rect">
            <a:avLst/>
          </a:prstGeom>
        </p:spPr>
        <p:txBody>
          <a:bodyPr vert="horz" lIns="431984" tIns="215993" rIns="431984" bIns="215993" rtlCol="0" anchor="ctr"/>
          <a:lstStyle>
            <a:lvl1pPr algn="r">
              <a:defRPr sz="522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D5A678E-E807-4BC3-8392-26D7FE55F75E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1095119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8" r:id="rId1"/>
  </p:sldLayoutIdLst>
  <p:txStyles>
    <p:titleStyle>
      <a:lvl1pPr algn="ctr" defTabSz="4030263" rtl="0" eaLnBrk="1" latinLnBrk="1" hangingPunct="1">
        <a:spcBef>
          <a:spcPct val="0"/>
        </a:spcBef>
        <a:buNone/>
        <a:defRPr sz="19406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511348" indent="-1511348" algn="l" defTabSz="4030263" rtl="0" eaLnBrk="1" latinLnBrk="1" hangingPunct="1">
        <a:spcBef>
          <a:spcPct val="20000"/>
        </a:spcBef>
        <a:buFont typeface="Arial" pitchFamily="34" charset="0"/>
        <a:buChar char="•"/>
        <a:defRPr sz="14087" kern="1200">
          <a:solidFill>
            <a:schemeClr val="tx1"/>
          </a:solidFill>
          <a:latin typeface="+mn-lt"/>
          <a:ea typeface="+mn-ea"/>
          <a:cs typeface="+mn-cs"/>
        </a:defRPr>
      </a:lvl1pPr>
      <a:lvl2pPr marL="3274587" indent="-1259457" algn="l" defTabSz="4030263" rtl="0" eaLnBrk="1" latinLnBrk="1" hangingPunct="1">
        <a:spcBef>
          <a:spcPct val="20000"/>
        </a:spcBef>
        <a:buFont typeface="Arial" pitchFamily="34" charset="0"/>
        <a:buChar char="–"/>
        <a:defRPr sz="12316" kern="1200">
          <a:solidFill>
            <a:schemeClr val="tx1"/>
          </a:solidFill>
          <a:latin typeface="+mn-lt"/>
          <a:ea typeface="+mn-ea"/>
          <a:cs typeface="+mn-cs"/>
        </a:defRPr>
      </a:lvl2pPr>
      <a:lvl3pPr marL="5037827" indent="-1007566" algn="l" defTabSz="4030263" rtl="0" eaLnBrk="1" latinLnBrk="1" hangingPunct="1">
        <a:spcBef>
          <a:spcPct val="20000"/>
        </a:spcBef>
        <a:buFont typeface="Arial" pitchFamily="34" charset="0"/>
        <a:buChar char="•"/>
        <a:defRPr sz="10636" kern="1200">
          <a:solidFill>
            <a:schemeClr val="tx1"/>
          </a:solidFill>
          <a:latin typeface="+mn-lt"/>
          <a:ea typeface="+mn-ea"/>
          <a:cs typeface="+mn-cs"/>
        </a:defRPr>
      </a:lvl3pPr>
      <a:lvl4pPr marL="7052959" indent="-1007566" algn="l" defTabSz="4030263" rtl="0" eaLnBrk="1" latinLnBrk="1" hangingPunct="1">
        <a:spcBef>
          <a:spcPct val="20000"/>
        </a:spcBef>
        <a:buFont typeface="Arial" pitchFamily="34" charset="0"/>
        <a:buChar char="–"/>
        <a:defRPr sz="8770" kern="1200">
          <a:solidFill>
            <a:schemeClr val="tx1"/>
          </a:solidFill>
          <a:latin typeface="+mn-lt"/>
          <a:ea typeface="+mn-ea"/>
          <a:cs typeface="+mn-cs"/>
        </a:defRPr>
      </a:lvl4pPr>
      <a:lvl5pPr marL="9068089" indent="-1007566" algn="l" defTabSz="4030263" rtl="0" eaLnBrk="1" latinLnBrk="1" hangingPunct="1">
        <a:spcBef>
          <a:spcPct val="20000"/>
        </a:spcBef>
        <a:buFont typeface="Arial" pitchFamily="34" charset="0"/>
        <a:buChar char="»"/>
        <a:defRPr sz="8770" kern="1200">
          <a:solidFill>
            <a:schemeClr val="tx1"/>
          </a:solidFill>
          <a:latin typeface="+mn-lt"/>
          <a:ea typeface="+mn-ea"/>
          <a:cs typeface="+mn-cs"/>
        </a:defRPr>
      </a:lvl5pPr>
      <a:lvl6pPr marL="11083222" indent="-1007566" algn="l" defTabSz="4030263" rtl="0" eaLnBrk="1" latinLnBrk="1" hangingPunct="1">
        <a:spcBef>
          <a:spcPct val="20000"/>
        </a:spcBef>
        <a:buFont typeface="Arial" pitchFamily="34" charset="0"/>
        <a:buChar char="•"/>
        <a:defRPr sz="8770" kern="1200">
          <a:solidFill>
            <a:schemeClr val="tx1"/>
          </a:solidFill>
          <a:latin typeface="+mn-lt"/>
          <a:ea typeface="+mn-ea"/>
          <a:cs typeface="+mn-cs"/>
        </a:defRPr>
      </a:lvl6pPr>
      <a:lvl7pPr marL="13098354" indent="-1007566" algn="l" defTabSz="4030263" rtl="0" eaLnBrk="1" latinLnBrk="1" hangingPunct="1">
        <a:spcBef>
          <a:spcPct val="20000"/>
        </a:spcBef>
        <a:buFont typeface="Arial" pitchFamily="34" charset="0"/>
        <a:buChar char="•"/>
        <a:defRPr sz="8770" kern="1200">
          <a:solidFill>
            <a:schemeClr val="tx1"/>
          </a:solidFill>
          <a:latin typeface="+mn-lt"/>
          <a:ea typeface="+mn-ea"/>
          <a:cs typeface="+mn-cs"/>
        </a:defRPr>
      </a:lvl7pPr>
      <a:lvl8pPr marL="15113485" indent="-1007566" algn="l" defTabSz="4030263" rtl="0" eaLnBrk="1" latinLnBrk="1" hangingPunct="1">
        <a:spcBef>
          <a:spcPct val="20000"/>
        </a:spcBef>
        <a:buFont typeface="Arial" pitchFamily="34" charset="0"/>
        <a:buChar char="•"/>
        <a:defRPr sz="8770" kern="1200">
          <a:solidFill>
            <a:schemeClr val="tx1"/>
          </a:solidFill>
          <a:latin typeface="+mn-lt"/>
          <a:ea typeface="+mn-ea"/>
          <a:cs typeface="+mn-cs"/>
        </a:defRPr>
      </a:lvl8pPr>
      <a:lvl9pPr marL="17128615" indent="-1007566" algn="l" defTabSz="4030263" rtl="0" eaLnBrk="1" latinLnBrk="1" hangingPunct="1">
        <a:spcBef>
          <a:spcPct val="20000"/>
        </a:spcBef>
        <a:buFont typeface="Arial" pitchFamily="34" charset="0"/>
        <a:buChar char="•"/>
        <a:defRPr sz="877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4030263" rtl="0" eaLnBrk="1" latinLnBrk="1" hangingPunct="1">
        <a:defRPr sz="7930" kern="1200">
          <a:solidFill>
            <a:schemeClr val="tx1"/>
          </a:solidFill>
          <a:latin typeface="+mn-lt"/>
          <a:ea typeface="+mn-ea"/>
          <a:cs typeface="+mn-cs"/>
        </a:defRPr>
      </a:lvl1pPr>
      <a:lvl2pPr marL="2015132" algn="l" defTabSz="4030263" rtl="0" eaLnBrk="1" latinLnBrk="1" hangingPunct="1">
        <a:defRPr sz="7930" kern="1200">
          <a:solidFill>
            <a:schemeClr val="tx1"/>
          </a:solidFill>
          <a:latin typeface="+mn-lt"/>
          <a:ea typeface="+mn-ea"/>
          <a:cs typeface="+mn-cs"/>
        </a:defRPr>
      </a:lvl2pPr>
      <a:lvl3pPr marL="4030263" algn="l" defTabSz="4030263" rtl="0" eaLnBrk="1" latinLnBrk="1" hangingPunct="1">
        <a:defRPr sz="7930" kern="1200">
          <a:solidFill>
            <a:schemeClr val="tx1"/>
          </a:solidFill>
          <a:latin typeface="+mn-lt"/>
          <a:ea typeface="+mn-ea"/>
          <a:cs typeface="+mn-cs"/>
        </a:defRPr>
      </a:lvl3pPr>
      <a:lvl4pPr marL="6045393" algn="l" defTabSz="4030263" rtl="0" eaLnBrk="1" latinLnBrk="1" hangingPunct="1">
        <a:defRPr sz="7930" kern="1200">
          <a:solidFill>
            <a:schemeClr val="tx1"/>
          </a:solidFill>
          <a:latin typeface="+mn-lt"/>
          <a:ea typeface="+mn-ea"/>
          <a:cs typeface="+mn-cs"/>
        </a:defRPr>
      </a:lvl4pPr>
      <a:lvl5pPr marL="8060525" algn="l" defTabSz="4030263" rtl="0" eaLnBrk="1" latinLnBrk="1" hangingPunct="1">
        <a:defRPr sz="7930" kern="1200">
          <a:solidFill>
            <a:schemeClr val="tx1"/>
          </a:solidFill>
          <a:latin typeface="+mn-lt"/>
          <a:ea typeface="+mn-ea"/>
          <a:cs typeface="+mn-cs"/>
        </a:defRPr>
      </a:lvl5pPr>
      <a:lvl6pPr marL="10075656" algn="l" defTabSz="4030263" rtl="0" eaLnBrk="1" latinLnBrk="1" hangingPunct="1">
        <a:defRPr sz="7930" kern="1200">
          <a:solidFill>
            <a:schemeClr val="tx1"/>
          </a:solidFill>
          <a:latin typeface="+mn-lt"/>
          <a:ea typeface="+mn-ea"/>
          <a:cs typeface="+mn-cs"/>
        </a:defRPr>
      </a:lvl6pPr>
      <a:lvl7pPr marL="12090788" algn="l" defTabSz="4030263" rtl="0" eaLnBrk="1" latinLnBrk="1" hangingPunct="1">
        <a:defRPr sz="7930" kern="1200">
          <a:solidFill>
            <a:schemeClr val="tx1"/>
          </a:solidFill>
          <a:latin typeface="+mn-lt"/>
          <a:ea typeface="+mn-ea"/>
          <a:cs typeface="+mn-cs"/>
        </a:defRPr>
      </a:lvl7pPr>
      <a:lvl8pPr marL="14105919" algn="l" defTabSz="4030263" rtl="0" eaLnBrk="1" latinLnBrk="1" hangingPunct="1">
        <a:defRPr sz="7930" kern="1200">
          <a:solidFill>
            <a:schemeClr val="tx1"/>
          </a:solidFill>
          <a:latin typeface="+mn-lt"/>
          <a:ea typeface="+mn-ea"/>
          <a:cs typeface="+mn-cs"/>
        </a:defRPr>
      </a:lvl8pPr>
      <a:lvl9pPr marL="16121050" algn="l" defTabSz="4030263" rtl="0" eaLnBrk="1" latinLnBrk="1" hangingPunct="1">
        <a:defRPr sz="793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그룹 2"/>
          <p:cNvGrpSpPr>
            <a:grpSpLocks noGrp="1" noUngrp="1" noRot="1" noMove="1" noResize="1"/>
          </p:cNvGrpSpPr>
          <p:nvPr/>
        </p:nvGrpSpPr>
        <p:grpSpPr>
          <a:xfrm>
            <a:off x="375966" y="375545"/>
            <a:ext cx="5141882" cy="1730166"/>
            <a:chOff x="375966" y="375545"/>
            <a:chExt cx="5141882" cy="1730166"/>
          </a:xfrm>
        </p:grpSpPr>
        <p:sp>
          <p:nvSpPr>
            <p:cNvPr id="131" name="직사각형 130">
              <a:extLst>
                <a:ext uri="{FF2B5EF4-FFF2-40B4-BE49-F238E27FC236}">
                  <a16:creationId xmlns:a16="http://schemas.microsoft.com/office/drawing/2014/main" id="{E8958C42-464C-487C-8515-D9CD11E80249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75966" y="375545"/>
              <a:ext cx="5074637" cy="651765"/>
            </a:xfrm>
            <a:prstGeom prst="rect">
              <a:avLst/>
            </a:prstGeom>
          </p:spPr>
          <p:txBody>
            <a:bodyPr wrap="square" lIns="96819" tIns="48411" rIns="96819" bIns="48411">
              <a:spAutoFit/>
            </a:bodyPr>
            <a:lstStyle/>
            <a:p>
              <a:pPr algn="ctr"/>
              <a:r>
                <a:rPr lang="en-US" altLang="ko-KR" sz="3600" b="1" spc="-300" dirty="0">
                  <a:solidFill>
                    <a:schemeClr val="bg1"/>
                  </a:solidFill>
                  <a:latin typeface="Arial Unicode MS" panose="020B0604020202020204" pitchFamily="50" charset="-127"/>
                  <a:ea typeface="Arial Unicode MS" panose="020B0604020202020204" pitchFamily="50" charset="-127"/>
                  <a:cs typeface="Arial Unicode MS" panose="020B0604020202020204" pitchFamily="50" charset="-127"/>
                </a:rPr>
                <a:t>KSCE 2026 CONVENTION</a:t>
              </a:r>
              <a:endParaRPr lang="ko-KR" altLang="en-US" sz="3600" b="1" spc="-300" dirty="0">
                <a:solidFill>
                  <a:schemeClr val="bg1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endParaRPr>
            </a:p>
          </p:txBody>
        </p:sp>
        <p:pic>
          <p:nvPicPr>
            <p:cNvPr id="95" name="Picture 3" descr="D:\02.기타 업무\4.각 행사 및 회의\2022\4. 학술대회\11.포스터세션\로고a.png"/>
            <p:cNvPicPr>
              <a:picLocks noGrp="1" noRot="1" noChangeAspect="1" noMove="1" noResize="1" noEditPoints="1" noAdjustHandles="1" noChangeArrowheads="1" noChangeShapeType="1" noCrop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34209"/>
            <a:stretch/>
          </p:blipFill>
          <p:spPr bwMode="auto">
            <a:xfrm>
              <a:off x="441848" y="985071"/>
              <a:ext cx="5076000" cy="112064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1001" name="직사각형 5"/>
          <p:cNvSpPr/>
          <p:nvPr/>
        </p:nvSpPr>
        <p:spPr>
          <a:xfrm>
            <a:off x="5992955" y="300000"/>
            <a:ext cx="20582661" cy="2700000"/>
          </a:xfrm>
          <a:prstGeom prst="rect">
            <a:avLst/>
          </a:prstGeom>
        </p:spPr>
        <p:txBody>
          <a:bodyPr wrap="square" lIns="103612" tIns="51807" rIns="103612" bIns="51807">
            <a:noAutofit/>
          </a:bodyPr>
          <a:lstStyle/>
          <a:p>
            <a:pPr algn="ctr">
              <a:lnSpc>
                <a:spcPct val="115000"/>
              </a:lnSpc>
            </a:pPr>
            <a:r>
              <a:rPr lang="ko-KR" altLang="en-US" sz="5000" b="1" cap="all" spc="-227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Arial" panose="020B0604020202020204" pitchFamily="34" charset="0"/>
              </a:rPr>
              <a:t>온톨로지 시드 기반 지식그래프를 활용한 수자원 분야 문서 LLM-RAG 프레임워크 구축</a:t>
            </a:r>
          </a:p>
          <a:p>
            <a:pPr algn="ctr">
              <a:lnSpc>
                <a:spcPct val="115000"/>
              </a:lnSpc>
            </a:pPr>
            <a:r>
              <a:rPr lang="en-US" altLang="ko-KR" sz="2600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bg1"/>
                </a:solidFill>
                <a:latin typeface="Arial" panose="020B0604020202020204" pitchFamily="34" charset="0"/>
                <a:ea typeface="나눔고딕" pitchFamily="50" charset="-127"/>
                <a:cs typeface="Arial" panose="020B0604020202020204" pitchFamily="34" charset="0"/>
              </a:rPr>
              <a:t>Development of an LLM-RAG Framework for Water Resources Documents Using an Ontology Seed-based Knowledge Graph</a:t>
            </a:r>
          </a:p>
        </p:txBody>
      </p:sp>
      <p:sp>
        <p:nvSpPr>
          <p:cNvPr id="1002" name="저자"/>
          <p:cNvSpPr txBox="1"/>
          <p:nvPr/>
        </p:nvSpPr>
        <p:spPr>
          <a:xfrm>
            <a:off x="5992958" y="3080000"/>
            <a:ext cx="20582660" cy="1400000"/>
          </a:xfrm>
          <a:prstGeom prst="rect">
            <a:avLst/>
          </a:prstGeom>
          <a:noFill/>
          <a:ln>
            <a:noFill/>
          </a:ln>
        </p:spPr>
        <p:txBody>
          <a:bodyPr wrap="square" lIns="66158" tIns="33079" rIns="66158" bIns="33079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lang="ko-KR" altLang="en-US" sz="4000" dirty="0">
                <a:solidFill>
                  <a:schemeClr val="bg1"/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문경민</a:t>
            </a:r>
            <a:r>
              <a:rPr lang="ko-KR" altLang="en-US" sz="4000" baseline="30000" dirty="0">
                <a:solidFill>
                  <a:schemeClr val="bg1"/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*</a:t>
            </a:r>
            <a:r>
              <a:rPr lang="ko-KR" altLang="en-US" sz="4000" dirty="0">
                <a:solidFill>
                  <a:schemeClr val="bg1"/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․신주영</a:t>
            </a:r>
            <a:r>
              <a:rPr lang="ko-KR" altLang="en-US" sz="4000" baseline="30000" dirty="0">
                <a:solidFill>
                  <a:schemeClr val="bg1"/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**</a:t>
            </a:r>
            <a:r>
              <a:rPr lang="ko-KR" altLang="en-US" sz="4000" dirty="0">
                <a:solidFill>
                  <a:schemeClr val="bg1"/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․장상범</a:t>
            </a:r>
            <a:r>
              <a:rPr lang="ko-KR" altLang="en-US" sz="4000" baseline="30000" dirty="0">
                <a:solidFill>
                  <a:schemeClr val="bg1"/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***</a:t>
            </a:r>
            <a:r>
              <a:rPr lang="ko-KR" altLang="en-US" sz="4000" dirty="0">
                <a:solidFill>
                  <a:schemeClr val="bg1"/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․조수빈</a:t>
            </a:r>
            <a:r>
              <a:rPr lang="ko-KR" altLang="en-US" sz="4000" baseline="30000" dirty="0">
                <a:solidFill>
                  <a:schemeClr val="bg1"/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****</a:t>
            </a:r>
          </a:p>
          <a:p>
            <a:pPr algn="ctr"/>
            <a:r>
              <a:rPr lang="ko-KR" altLang="en-US" sz="2800" dirty="0">
                <a:solidFill>
                  <a:schemeClr val="bg1"/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Moon, Kyeungmin ・ Shin, Ju-Young ・ Jang, Sangbeom ・ Cho, Subin</a:t>
            </a:r>
          </a:p>
        </p:txBody>
      </p:sp>
      <p:sp>
        <p:nvSpPr>
          <p:cNvPr id="1003" name="소속"/>
          <p:cNvSpPr txBox="1"/>
          <p:nvPr/>
        </p:nvSpPr>
        <p:spPr>
          <a:xfrm>
            <a:off x="1327064" y="4600000"/>
            <a:ext cx="27500000" cy="560000"/>
          </a:xfrm>
          <a:prstGeom prst="rect">
            <a:avLst/>
          </a:prstGeom>
          <a:noFill/>
          <a:ln>
            <a:noFill/>
          </a:ln>
        </p:spPr>
        <p:txBody>
          <a:bodyPr wrap="square" lIns="66158" tIns="33079" rIns="66158" bIns="33079" anchor="t">
            <a:noAutofit/>
          </a:bodyPr>
          <a:lstStyle/>
          <a:p>
            <a:pPr algn="ctr"/>
            <a:r>
              <a:rPr lang="ko-KR" altLang="en-US" sz="2600" baseline="30000" dirty="0">
                <a:solidFill>
                  <a:schemeClr val="bg1"/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*</a:t>
            </a:r>
            <a:r>
              <a:rPr lang="ko-KR" altLang="en-US" sz="2600" dirty="0">
                <a:solidFill>
                  <a:schemeClr val="bg1"/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국민대학교 건설시스템공학과 석사과정   </a:t>
            </a:r>
            <a:r>
              <a:rPr lang="ko-KR" altLang="en-US" sz="2600" baseline="30000" dirty="0">
                <a:solidFill>
                  <a:schemeClr val="bg1"/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**</a:t>
            </a:r>
            <a:r>
              <a:rPr lang="ko-KR" altLang="en-US" sz="2600" dirty="0">
                <a:solidFill>
                  <a:schemeClr val="bg1"/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국민대학교 건설시스템공학과 교수   </a:t>
            </a:r>
            <a:r>
              <a:rPr lang="ko-KR" altLang="en-US" sz="2600" baseline="30000" dirty="0">
                <a:solidFill>
                  <a:schemeClr val="bg1"/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***</a:t>
            </a:r>
            <a:r>
              <a:rPr lang="ko-KR" altLang="en-US" sz="2600" dirty="0">
                <a:solidFill>
                  <a:schemeClr val="bg1"/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국민대학교 건설시스템공학과 석사과정   </a:t>
            </a:r>
            <a:r>
              <a:rPr lang="ko-KR" altLang="en-US" sz="2600" baseline="30000" dirty="0">
                <a:solidFill>
                  <a:schemeClr val="bg1"/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****</a:t>
            </a:r>
            <a:r>
              <a:rPr lang="ko-KR" altLang="en-US" sz="2600" dirty="0">
                <a:solidFill>
                  <a:schemeClr val="bg1"/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국민대학교 건설시스템공학과 석사과정</a:t>
            </a:r>
          </a:p>
        </p:txBody>
      </p:sp>
      <p:sp>
        <p:nvSpPr>
          <p:cNvPr id="1006" name="직사각형 1"/>
          <p:cNvSpPr/>
          <p:nvPr/>
        </p:nvSpPr>
        <p:spPr>
          <a:xfrm>
            <a:off x="674157" y="6350000"/>
            <a:ext cx="13943667" cy="1023024"/>
          </a:xfrm>
          <a:prstGeom prst="rect">
            <a:avLst/>
          </a:prstGeom>
          <a:solidFill>
            <a:schemeClr val="accent1">
              <a:lumMod val="75000"/>
            </a:schemeClr>
          </a:solidFill>
          <a:ln w="9525">
            <a:noFill/>
            <a:miter lim="800000"/>
            <a:headEnd/>
            <a:tailEnd/>
          </a:ln>
        </p:spPr>
        <p:txBody>
          <a:bodyPr wrap="square" lIns="222728" tIns="111366" rIns="222728" bIns="111366" anchor="ctr"/>
          <a:lstStyle/>
          <a:p>
            <a:pPr defTabSz="2048653"/>
            <a:r>
              <a:rPr lang="ko-KR" altLang="en-US" sz="4800" b="1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고딕 ExtraBold" panose="020D0904000000000000" pitchFamily="50" charset="-127"/>
                <a:ea typeface="나눔고딕 ExtraBold" panose="020D0904000000000000" pitchFamily="50" charset="-127"/>
                <a:cs typeface="Arial Unicode MS" panose="020B0604020202020204" pitchFamily="50" charset="-127"/>
              </a:rPr>
              <a:t>서론</a:t>
            </a:r>
          </a:p>
        </p:txBody>
      </p:sp>
      <p:sp>
        <p:nvSpPr>
          <p:cNvPr id="1007" name="본문"/>
          <p:cNvSpPr txBox="1"/>
          <p:nvPr/>
        </p:nvSpPr>
        <p:spPr>
          <a:xfrm>
            <a:off x="597946" y="7493024"/>
            <a:ext cx="14113138" cy="3190053"/>
          </a:xfrm>
          <a:prstGeom prst="rect">
            <a:avLst/>
          </a:prstGeom>
          <a:noFill/>
          <a:ln>
            <a:noFill/>
          </a:ln>
        </p:spPr>
        <p:txBody>
          <a:bodyPr wrap="square" lIns="66158" tIns="33079" rIns="66158" bIns="33079" anchor="t">
            <a:noAutofit/>
          </a:bodyPr>
          <a:lstStyle/>
          <a:p>
            <a:pPr marL="334726" indent="-334726">
              <a:lnSpc>
                <a:spcPct val="118000"/>
              </a:lnSpc>
              <a:spcAft>
                <a:spcPts val="600"/>
              </a:spcAft>
              <a:buBlip>
                <a:blip r:embed="rId4"/>
              </a:buBlip>
            </a:pPr>
            <a:r>
              <a:rPr lang="ko-KR" altLang="en-US" sz="23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수자원 분야의 댐 운영 판단에는 </a:t>
            </a:r>
            <a:r>
              <a:rPr lang="ko-KR" altLang="en-US" sz="2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방류 승인 기록</a:t>
            </a:r>
            <a:r>
              <a:rPr lang="ko-KR" altLang="en-US" sz="23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, </a:t>
            </a:r>
            <a:r>
              <a:rPr lang="ko-KR" altLang="en-US" sz="2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수문·기상 관측 자료</a:t>
            </a:r>
            <a:r>
              <a:rPr lang="ko-KR" altLang="en-US" sz="23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, </a:t>
            </a:r>
            <a:r>
              <a:rPr lang="ko-KR" altLang="en-US" sz="2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운영 규정</a:t>
            </a:r>
            <a:r>
              <a:rPr lang="ko-KR" altLang="en-US" sz="23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 등 문서와 자료를 함께 확인해야 하나, 자료마다 형식과 이름이 달라 사람이 일일이 연결해야 함</a:t>
            </a:r>
          </a:p>
          <a:p>
            <a:pPr marL="334726" indent="-334726">
              <a:lnSpc>
                <a:spcPct val="118000"/>
              </a:lnSpc>
              <a:spcAft>
                <a:spcPts val="600"/>
              </a:spcAft>
              <a:buBlip>
                <a:blip r:embed="rId4"/>
              </a:buBlip>
            </a:pPr>
            <a:r>
              <a:rPr lang="ko-KR" altLang="en-US" sz="23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대규모 언어모델(LLM) 단독 활용은 답변의 </a:t>
            </a:r>
            <a:r>
              <a:rPr lang="ko-KR" altLang="en-US" sz="2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근거를 확인하기 어려워</a:t>
            </a:r>
            <a:r>
              <a:rPr lang="ko-KR" altLang="en-US" sz="23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, 외부 자료를 검색해 답변에 활용하는 </a:t>
            </a:r>
            <a:r>
              <a:rPr lang="ko-KR" altLang="en-US" sz="2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검색증강생성(RAG)</a:t>
            </a:r>
            <a:r>
              <a:rPr lang="ko-KR" altLang="en-US" sz="23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 이 쓰이나, 자료 간 관계와 출처를 함께 다루려면 구조화된 지식이 필요함</a:t>
            </a:r>
          </a:p>
          <a:p>
            <a:pPr marL="334726" indent="-334726">
              <a:lnSpc>
                <a:spcPct val="118000"/>
              </a:lnSpc>
              <a:spcAft>
                <a:spcPts val="600"/>
              </a:spcAft>
              <a:buBlip>
                <a:blip r:embed="rId4"/>
              </a:buBlip>
            </a:pPr>
            <a:r>
              <a:rPr lang="ko-KR" altLang="en-US" sz="23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본 연구는 </a:t>
            </a:r>
            <a:r>
              <a:rPr lang="ko-KR" altLang="en-US" sz="2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온톨로지 시드 기반 지식그래프(KG)</a:t>
            </a:r>
            <a:r>
              <a:rPr lang="ko-KR" altLang="en-US" sz="23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 를 RAG 기반 검색 및 LLM 답변 생성과 연계하여, 운영자의 </a:t>
            </a:r>
            <a:r>
              <a:rPr lang="ko-KR" altLang="en-US" sz="2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근거 기반 의사결정을 지원하는 프레임워크</a:t>
            </a:r>
            <a:r>
              <a:rPr lang="ko-KR" altLang="en-US" sz="23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를 구축함</a:t>
            </a:r>
          </a:p>
        </p:txBody>
      </p:sp>
      <p:sp>
        <p:nvSpPr>
          <p:cNvPr id="1008" name="직사각형 1"/>
          <p:cNvSpPr/>
          <p:nvPr/>
        </p:nvSpPr>
        <p:spPr>
          <a:xfrm>
            <a:off x="674157" y="10883077"/>
            <a:ext cx="13943667" cy="1023024"/>
          </a:xfrm>
          <a:prstGeom prst="rect">
            <a:avLst/>
          </a:prstGeom>
          <a:solidFill>
            <a:schemeClr val="accent1">
              <a:lumMod val="75000"/>
            </a:schemeClr>
          </a:solidFill>
          <a:ln w="9525">
            <a:noFill/>
            <a:miter lim="800000"/>
            <a:headEnd/>
            <a:tailEnd/>
          </a:ln>
        </p:spPr>
        <p:txBody>
          <a:bodyPr wrap="square" lIns="222728" tIns="111366" rIns="222728" bIns="111366" anchor="ctr"/>
          <a:lstStyle/>
          <a:p>
            <a:pPr defTabSz="2048653"/>
            <a:r>
              <a:rPr lang="ko-KR" altLang="en-US" sz="4800" b="1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고딕 ExtraBold" panose="020D0904000000000000" pitchFamily="50" charset="-127"/>
                <a:ea typeface="나눔고딕 ExtraBold" panose="020D0904000000000000" pitchFamily="50" charset="-127"/>
                <a:cs typeface="Arial Unicode MS" panose="020B0604020202020204" pitchFamily="50" charset="-127"/>
              </a:rPr>
              <a:t>핵심 용어</a:t>
            </a:r>
          </a:p>
        </p:txBody>
      </p:sp>
      <p:sp>
        <p:nvSpPr>
          <p:cNvPr id="1009" name="직사각형 415"/>
          <p:cNvSpPr/>
          <p:nvPr/>
        </p:nvSpPr>
        <p:spPr>
          <a:xfrm>
            <a:off x="830804" y="12026101"/>
            <a:ext cx="13649422" cy="64598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8242" tIns="44120" rIns="88242" bIns="44120" spcCol="0" rtlCol="0" anchor="ctr"/>
          <a:lstStyle/>
          <a:p>
            <a:pPr marL="0" lvl="1">
              <a:lnSpc>
                <a:spcPct val="107000"/>
              </a:lnSpc>
            </a:pPr>
            <a:r>
              <a:rPr lang="ko-KR" altLang="en-US" sz="2800" b="1" spc="-21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Table 1. 핵심 용어</a:t>
            </a:r>
          </a:p>
        </p:txBody>
      </p:sp>
      <p:graphicFrame>
        <p:nvGraphicFramePr>
          <p:cNvPr id="1010" name="표"/>
          <p:cNvGraphicFramePr>
            <a:graphicFrameLocks noGrp="1"/>
          </p:cNvGraphicFramePr>
          <p:nvPr/>
        </p:nvGraphicFramePr>
        <p:xfrm>
          <a:off x="697946" y="12762086"/>
          <a:ext cx="13500000" cy="6118000"/>
        </p:xfrm>
        <a:graphic>
          <a:graphicData uri="http://schemas.openxmlformats.org/drawingml/2006/table">
            <a:tbl>
              <a:tblPr firstRow="1" bandRow="1"/>
              <a:tblGrid>
                <a:gridCol w="29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60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19875"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lang="ko-KR" altLang="en-US" sz="1700" b="1" dirty="0">
                          <a:solidFill>
                            <a:schemeClr val="bg1"/>
                          </a:solidFill>
                          <a:latin typeface="나눔고딕" pitchFamily="50" charset="-127"/>
                          <a:ea typeface="나눔고딕" pitchFamily="50" charset="-127"/>
                          <a:cs typeface="Arial" panose="020B0604020202020204" pitchFamily="34" charset="0"/>
                        </a:rPr>
                        <a:t>용어</a:t>
                      </a:r>
                    </a:p>
                  </a:txBody>
                  <a:tcPr marT="60000" marB="60000" anchor="ctr">
                    <a:lnL w="9525">
                      <a:solidFill>
                        <a:srgbClr val="9AA7B5"/>
                      </a:solidFill>
                    </a:lnL>
                    <a:lnR w="9525">
                      <a:solidFill>
                        <a:srgbClr val="9AA7B5"/>
                      </a:solidFill>
                    </a:lnR>
                    <a:lnT w="9525">
                      <a:solidFill>
                        <a:srgbClr val="9AA7B5"/>
                      </a:solidFill>
                    </a:lnT>
                    <a:lnB w="9525">
                      <a:solidFill>
                        <a:srgbClr val="9AA7B5"/>
                      </a:solidFill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lang="ko-KR" altLang="en-US" sz="1700" b="1" dirty="0">
                          <a:solidFill>
                            <a:schemeClr val="bg1"/>
                          </a:solidFill>
                          <a:latin typeface="나눔고딕" pitchFamily="50" charset="-127"/>
                          <a:ea typeface="나눔고딕" pitchFamily="50" charset="-127"/>
                          <a:cs typeface="Arial" panose="020B0604020202020204" pitchFamily="34" charset="0"/>
                        </a:rPr>
                        <a:t>설명</a:t>
                      </a:r>
                    </a:p>
                  </a:txBody>
                  <a:tcPr marT="60000" marB="60000" anchor="ctr">
                    <a:lnL w="9525">
                      <a:solidFill>
                        <a:srgbClr val="9AA7B5"/>
                      </a:solidFill>
                    </a:lnL>
                    <a:lnR w="9525">
                      <a:solidFill>
                        <a:srgbClr val="9AA7B5"/>
                      </a:solidFill>
                    </a:lnR>
                    <a:lnT w="9525">
                      <a:solidFill>
                        <a:srgbClr val="9AA7B5"/>
                      </a:solidFill>
                    </a:lnT>
                    <a:lnB w="9525">
                      <a:solidFill>
                        <a:srgbClr val="9AA7B5"/>
                      </a:solidFill>
                    </a:lnB>
                    <a:solidFill>
                      <a:srgbClr val="1F4E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9875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lang="ko-KR" altLang="en-US" sz="17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고딕" pitchFamily="50" charset="-127"/>
                          <a:ea typeface="나눔고딕" pitchFamily="50" charset="-127"/>
                          <a:cs typeface="Arial" panose="020B0604020202020204" pitchFamily="34" charset="0"/>
                        </a:rPr>
                        <a:t>온톨로지 / 시드</a:t>
                      </a:r>
                    </a:p>
                  </a:txBody>
                  <a:tcPr marT="60000" marB="60000" anchor="ctr">
                    <a:lnL w="9525">
                      <a:solidFill>
                        <a:srgbClr val="9AA7B5"/>
                      </a:solidFill>
                    </a:lnL>
                    <a:lnR w="9525">
                      <a:solidFill>
                        <a:srgbClr val="9AA7B5"/>
                      </a:solidFill>
                    </a:lnR>
                    <a:lnT w="9525">
                      <a:solidFill>
                        <a:srgbClr val="9AA7B5"/>
                      </a:solidFill>
                    </a:lnT>
                    <a:lnB w="9525">
                      <a:solidFill>
                        <a:srgbClr val="9AA7B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lang="ko-KR" altLang="en-US" sz="17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고딕" pitchFamily="50" charset="-127"/>
                          <a:ea typeface="나눔고딕" pitchFamily="50" charset="-127"/>
                          <a:cs typeface="Arial" panose="020B0604020202020204" pitchFamily="34" charset="0"/>
                        </a:rPr>
                        <a:t>대상(Class)과 관계·속성의 의미 구조. 시드는 CQ에서 먼저 정의한 초기 온톨로지(검증 시 보완)</a:t>
                      </a:r>
                    </a:p>
                  </a:txBody>
                  <a:tcPr marT="60000" marB="60000" anchor="ctr">
                    <a:lnL w="9525">
                      <a:solidFill>
                        <a:srgbClr val="9AA7B5"/>
                      </a:solidFill>
                    </a:lnL>
                    <a:lnR w="9525">
                      <a:solidFill>
                        <a:srgbClr val="9AA7B5"/>
                      </a:solidFill>
                    </a:lnR>
                    <a:lnT w="9525">
                      <a:solidFill>
                        <a:srgbClr val="9AA7B5"/>
                      </a:solidFill>
                    </a:lnT>
                    <a:lnB w="9525">
                      <a:solidFill>
                        <a:srgbClr val="9AA7B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9875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lang="ko-KR" altLang="en-US" sz="17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고딕" pitchFamily="50" charset="-127"/>
                          <a:ea typeface="나눔고딕" pitchFamily="50" charset="-127"/>
                          <a:cs typeface="Arial" panose="020B0604020202020204" pitchFamily="34" charset="0"/>
                        </a:rPr>
                        <a:t>Class / 개체(Entity)</a:t>
                      </a:r>
                    </a:p>
                  </a:txBody>
                  <a:tcPr marT="60000" marB="60000" anchor="ctr">
                    <a:lnL w="9525">
                      <a:solidFill>
                        <a:srgbClr val="9AA7B5"/>
                      </a:solidFill>
                    </a:lnL>
                    <a:lnR w="9525">
                      <a:solidFill>
                        <a:srgbClr val="9AA7B5"/>
                      </a:solidFill>
                    </a:lnR>
                    <a:lnT w="9525">
                      <a:solidFill>
                        <a:srgbClr val="9AA7B5"/>
                      </a:solidFill>
                    </a:lnT>
                    <a:lnB w="9525">
                      <a:solidFill>
                        <a:srgbClr val="9AA7B5"/>
                      </a:solidFill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lang="ko-KR" altLang="en-US" sz="17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고딕" pitchFamily="50" charset="-127"/>
                          <a:ea typeface="나눔고딕" pitchFamily="50" charset="-127"/>
                          <a:cs typeface="Arial" panose="020B0604020202020204" pitchFamily="34" charset="0"/>
                        </a:rPr>
                        <a:t>Class는 대상의 종류(예: 댐, 승인), 개체는 Class에 속한 실제 대상(예: 충주댐)</a:t>
                      </a:r>
                    </a:p>
                  </a:txBody>
                  <a:tcPr marT="60000" marB="60000" anchor="ctr">
                    <a:lnL w="9525">
                      <a:solidFill>
                        <a:srgbClr val="9AA7B5"/>
                      </a:solidFill>
                    </a:lnL>
                    <a:lnR w="9525">
                      <a:solidFill>
                        <a:srgbClr val="9AA7B5"/>
                      </a:solidFill>
                    </a:lnR>
                    <a:lnT w="9525">
                      <a:solidFill>
                        <a:srgbClr val="9AA7B5"/>
                      </a:solidFill>
                    </a:lnT>
                    <a:lnB w="9525">
                      <a:solidFill>
                        <a:srgbClr val="9AA7B5"/>
                      </a:solidFill>
                    </a:lnB>
                    <a:solidFill>
                      <a:srgbClr val="EEF3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89750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lang="ko-KR" altLang="en-US" sz="17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고딕" pitchFamily="50" charset="-127"/>
                          <a:ea typeface="나눔고딕" pitchFamily="50" charset="-127"/>
                          <a:cs typeface="Arial" panose="020B0604020202020204" pitchFamily="34" charset="0"/>
                        </a:rPr>
                        <a:t>관계 / Data Property</a:t>
                      </a:r>
                    </a:p>
                  </a:txBody>
                  <a:tcPr marT="60000" marB="60000" anchor="ctr">
                    <a:lnL w="9525">
                      <a:solidFill>
                        <a:srgbClr val="9AA7B5"/>
                      </a:solidFill>
                    </a:lnL>
                    <a:lnR w="9525">
                      <a:solidFill>
                        <a:srgbClr val="9AA7B5"/>
                      </a:solidFill>
                    </a:lnR>
                    <a:lnT w="9525">
                      <a:solidFill>
                        <a:srgbClr val="9AA7B5"/>
                      </a:solidFill>
                    </a:lnT>
                    <a:lnB w="9525">
                      <a:solidFill>
                        <a:srgbClr val="9AA7B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lang="ko-KR" altLang="en-US" sz="17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고딕" pitchFamily="50" charset="-127"/>
                          <a:ea typeface="나눔고딕" pitchFamily="50" charset="-127"/>
                          <a:cs typeface="Arial" panose="020B0604020202020204" pitchFamily="34" charset="0"/>
                        </a:rPr>
                        <a:t>관계는 개체 사이의 연결(예: 승인이 운영행위를 허가함), Data Property는 개체가 가진 값(예: 승인일)</a:t>
                      </a:r>
                    </a:p>
                  </a:txBody>
                  <a:tcPr marT="60000" marB="60000" anchor="ctr">
                    <a:lnL w="9525">
                      <a:solidFill>
                        <a:srgbClr val="9AA7B5"/>
                      </a:solidFill>
                    </a:lnL>
                    <a:lnR w="9525">
                      <a:solidFill>
                        <a:srgbClr val="9AA7B5"/>
                      </a:solidFill>
                    </a:lnR>
                    <a:lnT w="9525">
                      <a:solidFill>
                        <a:srgbClr val="9AA7B5"/>
                      </a:solidFill>
                    </a:lnT>
                    <a:lnB w="9525">
                      <a:solidFill>
                        <a:srgbClr val="9AA7B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9875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lang="ko-KR" altLang="en-US" sz="17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고딕" pitchFamily="50" charset="-127"/>
                          <a:ea typeface="나눔고딕" pitchFamily="50" charset="-127"/>
                          <a:cs typeface="Arial" panose="020B0604020202020204" pitchFamily="34" charset="0"/>
                        </a:rPr>
                        <a:t>CQ</a:t>
                      </a:r>
                    </a:p>
                  </a:txBody>
                  <a:tcPr marT="60000" marB="60000" anchor="ctr">
                    <a:lnL w="9525">
                      <a:solidFill>
                        <a:srgbClr val="9AA7B5"/>
                      </a:solidFill>
                    </a:lnL>
                    <a:lnR w="9525">
                      <a:solidFill>
                        <a:srgbClr val="9AA7B5"/>
                      </a:solidFill>
                    </a:lnR>
                    <a:lnT w="9525">
                      <a:solidFill>
                        <a:srgbClr val="9AA7B5"/>
                      </a:solidFill>
                    </a:lnT>
                    <a:lnB w="9525">
                      <a:solidFill>
                        <a:srgbClr val="9AA7B5"/>
                      </a:solidFill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lang="ko-KR" altLang="en-US" sz="17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고딕" pitchFamily="50" charset="-127"/>
                          <a:ea typeface="나눔고딕" pitchFamily="50" charset="-127"/>
                          <a:cs typeface="Arial" panose="020B0604020202020204" pitchFamily="34" charset="0"/>
                        </a:rPr>
                        <a:t>Competency Question. 온톨로지가 답할 수 있어야 하는 질문으로, 필요한 Class·관계를 정하는 기준</a:t>
                      </a:r>
                    </a:p>
                  </a:txBody>
                  <a:tcPr marT="60000" marB="60000" anchor="ctr">
                    <a:lnL w="9525">
                      <a:solidFill>
                        <a:srgbClr val="9AA7B5"/>
                      </a:solidFill>
                    </a:lnL>
                    <a:lnR w="9525">
                      <a:solidFill>
                        <a:srgbClr val="9AA7B5"/>
                      </a:solidFill>
                    </a:lnR>
                    <a:lnT w="9525">
                      <a:solidFill>
                        <a:srgbClr val="9AA7B5"/>
                      </a:solidFill>
                    </a:lnT>
                    <a:lnB w="9525">
                      <a:solidFill>
                        <a:srgbClr val="9AA7B5"/>
                      </a:solidFill>
                    </a:lnB>
                    <a:solidFill>
                      <a:srgbClr val="EEF3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9875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lang="ko-KR" altLang="en-US" sz="17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고딕" pitchFamily="50" charset="-127"/>
                          <a:ea typeface="나눔고딕" pitchFamily="50" charset="-127"/>
                          <a:cs typeface="Arial" panose="020B0604020202020204" pitchFamily="34" charset="0"/>
                        </a:rPr>
                        <a:t>지식그래프 (KG)</a:t>
                      </a:r>
                    </a:p>
                  </a:txBody>
                  <a:tcPr marT="60000" marB="60000" anchor="ctr">
                    <a:lnL w="9525">
                      <a:solidFill>
                        <a:srgbClr val="9AA7B5"/>
                      </a:solidFill>
                    </a:lnL>
                    <a:lnR w="9525">
                      <a:solidFill>
                        <a:srgbClr val="9AA7B5"/>
                      </a:solidFill>
                    </a:lnR>
                    <a:lnT w="9525">
                      <a:solidFill>
                        <a:srgbClr val="9AA7B5"/>
                      </a:solidFill>
                    </a:lnT>
                    <a:lnB w="9525">
                      <a:solidFill>
                        <a:srgbClr val="9AA7B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lang="ko-KR" altLang="en-US" sz="17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고딕" pitchFamily="50" charset="-127"/>
                          <a:ea typeface="나눔고딕" pitchFamily="50" charset="-127"/>
                          <a:cs typeface="Arial" panose="020B0604020202020204" pitchFamily="34" charset="0"/>
                        </a:rPr>
                        <a:t>온톨로지에 실제 개체·관계·값을 채운 그래프(개체는 점, 관계는 선)</a:t>
                      </a:r>
                    </a:p>
                  </a:txBody>
                  <a:tcPr marT="60000" marB="60000" anchor="ctr">
                    <a:lnL w="9525">
                      <a:solidFill>
                        <a:srgbClr val="9AA7B5"/>
                      </a:solidFill>
                    </a:lnL>
                    <a:lnR w="9525">
                      <a:solidFill>
                        <a:srgbClr val="9AA7B5"/>
                      </a:solidFill>
                    </a:lnR>
                    <a:lnT w="9525">
                      <a:solidFill>
                        <a:srgbClr val="9AA7B5"/>
                      </a:solidFill>
                    </a:lnT>
                    <a:lnB w="9525">
                      <a:solidFill>
                        <a:srgbClr val="9AA7B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19875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lang="ko-KR" altLang="en-US" sz="17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고딕" pitchFamily="50" charset="-127"/>
                          <a:ea typeface="나눔고딕" pitchFamily="50" charset="-127"/>
                          <a:cs typeface="Arial" panose="020B0604020202020204" pitchFamily="34" charset="0"/>
                        </a:rPr>
                        <a:t>Neo4j / Cypher</a:t>
                      </a:r>
                    </a:p>
                  </a:txBody>
                  <a:tcPr marT="60000" marB="60000" anchor="ctr">
                    <a:lnL w="9525">
                      <a:solidFill>
                        <a:srgbClr val="9AA7B5"/>
                      </a:solidFill>
                    </a:lnL>
                    <a:lnR w="9525">
                      <a:solidFill>
                        <a:srgbClr val="9AA7B5"/>
                      </a:solidFill>
                    </a:lnR>
                    <a:lnT w="9525">
                      <a:solidFill>
                        <a:srgbClr val="9AA7B5"/>
                      </a:solidFill>
                    </a:lnT>
                    <a:lnB w="9525">
                      <a:solidFill>
                        <a:srgbClr val="9AA7B5"/>
                      </a:solidFill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lang="ko-KR" altLang="en-US" sz="17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고딕" pitchFamily="50" charset="-127"/>
                          <a:ea typeface="나눔고딕" pitchFamily="50" charset="-127"/>
                          <a:cs typeface="Arial" panose="020B0604020202020204" pitchFamily="34" charset="0"/>
                        </a:rPr>
                        <a:t>Neo4j는 KG를 저장하는 그래프 데이터베이스, Cypher는 연결 패턴으로 찾는 질의 언어</a:t>
                      </a:r>
                    </a:p>
                  </a:txBody>
                  <a:tcPr marT="60000" marB="60000" anchor="ctr">
                    <a:lnL w="9525">
                      <a:solidFill>
                        <a:srgbClr val="9AA7B5"/>
                      </a:solidFill>
                    </a:lnL>
                    <a:lnR w="9525">
                      <a:solidFill>
                        <a:srgbClr val="9AA7B5"/>
                      </a:solidFill>
                    </a:lnR>
                    <a:lnT w="9525">
                      <a:solidFill>
                        <a:srgbClr val="9AA7B5"/>
                      </a:solidFill>
                    </a:lnT>
                    <a:lnB w="9525">
                      <a:solidFill>
                        <a:srgbClr val="9AA7B5"/>
                      </a:solidFill>
                    </a:lnB>
                    <a:solidFill>
                      <a:srgbClr val="EEF3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89750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lang="ko-KR" altLang="en-US" sz="17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고딕" pitchFamily="50" charset="-127"/>
                          <a:ea typeface="나눔고딕" pitchFamily="50" charset="-127"/>
                          <a:cs typeface="Arial" panose="020B0604020202020204" pitchFamily="34" charset="0"/>
                        </a:rPr>
                        <a:t>운영기준 / 근거자료</a:t>
                      </a:r>
                    </a:p>
                  </a:txBody>
                  <a:tcPr marT="60000" marB="60000" anchor="ctr">
                    <a:lnL w="9525">
                      <a:solidFill>
                        <a:srgbClr val="9AA7B5"/>
                      </a:solidFill>
                    </a:lnL>
                    <a:lnR w="9525">
                      <a:solidFill>
                        <a:srgbClr val="9AA7B5"/>
                      </a:solidFill>
                    </a:lnR>
                    <a:lnT w="9525">
                      <a:solidFill>
                        <a:srgbClr val="9AA7B5"/>
                      </a:solidFill>
                    </a:lnT>
                    <a:lnB w="9525">
                      <a:solidFill>
                        <a:srgbClr val="9AA7B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lang="ko-KR" altLang="en-US" sz="17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고딕" pitchFamily="50" charset="-127"/>
                          <a:ea typeface="나눔고딕" pitchFamily="50" charset="-127"/>
                          <a:cs typeface="Arial" panose="020B0604020202020204" pitchFamily="34" charset="0"/>
                        </a:rPr>
                        <a:t>운영기준은 댐에 적용되는 기준(예: 규정 별표3의 홍수기 제한수위), 근거자료는 개체를 확인할 수 있는 출처(승인 기록, 규정 원문 등)</a:t>
                      </a:r>
                    </a:p>
                  </a:txBody>
                  <a:tcPr marT="60000" marB="60000" anchor="ctr">
                    <a:lnL w="9525">
                      <a:solidFill>
                        <a:srgbClr val="9AA7B5"/>
                      </a:solidFill>
                    </a:lnL>
                    <a:lnR w="9525">
                      <a:solidFill>
                        <a:srgbClr val="9AA7B5"/>
                      </a:solidFill>
                    </a:lnR>
                    <a:lnT w="9525">
                      <a:solidFill>
                        <a:srgbClr val="9AA7B5"/>
                      </a:solidFill>
                    </a:lnT>
                    <a:lnB w="9525">
                      <a:solidFill>
                        <a:srgbClr val="9AA7B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689750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lang="ko-KR" altLang="en-US" sz="17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고딕" pitchFamily="50" charset="-127"/>
                          <a:ea typeface="나눔고딕" pitchFamily="50" charset="-127"/>
                          <a:cs typeface="Arial" panose="020B0604020202020204" pitchFamily="34" charset="0"/>
                        </a:rPr>
                        <a:t>구조화 자료 / 문서 자료</a:t>
                      </a:r>
                    </a:p>
                  </a:txBody>
                  <a:tcPr marT="60000" marB="60000" anchor="ctr">
                    <a:lnL w="9525">
                      <a:solidFill>
                        <a:srgbClr val="9AA7B5"/>
                      </a:solidFill>
                    </a:lnL>
                    <a:lnR w="9525">
                      <a:solidFill>
                        <a:srgbClr val="9AA7B5"/>
                      </a:solidFill>
                    </a:lnR>
                    <a:lnT w="9525">
                      <a:solidFill>
                        <a:srgbClr val="9AA7B5"/>
                      </a:solidFill>
                    </a:lnT>
                    <a:lnB w="9525">
                      <a:solidFill>
                        <a:srgbClr val="9AA7B5"/>
                      </a:solidFill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lang="ko-KR" altLang="en-US" sz="17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고딕" pitchFamily="50" charset="-127"/>
                          <a:ea typeface="나눔고딕" pitchFamily="50" charset="-127"/>
                          <a:cs typeface="Arial" panose="020B0604020202020204" pitchFamily="34" charset="0"/>
                        </a:rPr>
                        <a:t>구조화 자료는 열·행이 정해진 표, 문서 자료는 글 속에 값이 들어 있는 자료(승인 비고, 규정 별표). 문서 자료의 값은 규칙(키워드, 정규식)으로 추출</a:t>
                      </a:r>
                    </a:p>
                  </a:txBody>
                  <a:tcPr marT="60000" marB="60000" anchor="ctr">
                    <a:lnL w="9525">
                      <a:solidFill>
                        <a:srgbClr val="9AA7B5"/>
                      </a:solidFill>
                    </a:lnL>
                    <a:lnR w="9525">
                      <a:solidFill>
                        <a:srgbClr val="9AA7B5"/>
                      </a:solidFill>
                    </a:lnR>
                    <a:lnT w="9525">
                      <a:solidFill>
                        <a:srgbClr val="9AA7B5"/>
                      </a:solidFill>
                    </a:lnT>
                    <a:lnB w="9525">
                      <a:solidFill>
                        <a:srgbClr val="9AA7B5"/>
                      </a:solidFill>
                    </a:lnB>
                    <a:solidFill>
                      <a:srgbClr val="EEF3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19875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lang="ko-KR" altLang="en-US" sz="17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고딕" pitchFamily="50" charset="-127"/>
                          <a:ea typeface="나눔고딕" pitchFamily="50" charset="-127"/>
                          <a:cs typeface="Arial" panose="020B0604020202020204" pitchFamily="34" charset="0"/>
                        </a:rPr>
                        <a:t>외부 저장소 / 키</a:t>
                      </a:r>
                    </a:p>
                  </a:txBody>
                  <a:tcPr marT="60000" marB="60000" anchor="ctr">
                    <a:lnL w="9525">
                      <a:solidFill>
                        <a:srgbClr val="9AA7B5"/>
                      </a:solidFill>
                    </a:lnL>
                    <a:lnR w="9525">
                      <a:solidFill>
                        <a:srgbClr val="9AA7B5"/>
                      </a:solidFill>
                    </a:lnR>
                    <a:lnT w="9525">
                      <a:solidFill>
                        <a:srgbClr val="9AA7B5"/>
                      </a:solidFill>
                    </a:lnT>
                    <a:lnB w="9525">
                      <a:solidFill>
                        <a:srgbClr val="9AA7B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lang="ko-KR" altLang="en-US" sz="17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고딕" pitchFamily="50" charset="-127"/>
                          <a:ea typeface="나눔고딕" pitchFamily="50" charset="-127"/>
                          <a:cs typeface="Arial" panose="020B0604020202020204" pitchFamily="34" charset="0"/>
                        </a:rPr>
                        <a:t>KG 밖에 둔 측정값(측정자료 저장소)과 규정 원문(문서 저장소). KG에는 이를 찾아가는 키만 저장</a:t>
                      </a:r>
                    </a:p>
                  </a:txBody>
                  <a:tcPr marT="60000" marB="60000" anchor="ctr">
                    <a:lnL w="9525">
                      <a:solidFill>
                        <a:srgbClr val="9AA7B5"/>
                      </a:solidFill>
                    </a:lnL>
                    <a:lnR w="9525">
                      <a:solidFill>
                        <a:srgbClr val="9AA7B5"/>
                      </a:solidFill>
                    </a:lnR>
                    <a:lnT w="9525">
                      <a:solidFill>
                        <a:srgbClr val="9AA7B5"/>
                      </a:solidFill>
                    </a:lnT>
                    <a:lnB w="9525">
                      <a:solidFill>
                        <a:srgbClr val="9AA7B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19875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lang="ko-KR" altLang="en-US" sz="17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고딕" pitchFamily="50" charset="-127"/>
                          <a:ea typeface="나눔고딕" pitchFamily="50" charset="-127"/>
                          <a:cs typeface="Arial" panose="020B0604020202020204" pitchFamily="34" charset="0"/>
                        </a:rPr>
                        <a:t>RAG</a:t>
                      </a:r>
                    </a:p>
                  </a:txBody>
                  <a:tcPr marT="60000" marB="60000" anchor="ctr">
                    <a:lnL w="9525">
                      <a:solidFill>
                        <a:srgbClr val="9AA7B5"/>
                      </a:solidFill>
                    </a:lnL>
                    <a:lnR w="9525">
                      <a:solidFill>
                        <a:srgbClr val="9AA7B5"/>
                      </a:solidFill>
                    </a:lnR>
                    <a:lnT w="9525">
                      <a:solidFill>
                        <a:srgbClr val="9AA7B5"/>
                      </a:solidFill>
                    </a:lnT>
                    <a:lnB w="9525">
                      <a:solidFill>
                        <a:srgbClr val="9AA7B5"/>
                      </a:solidFill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lang="ko-KR" altLang="en-US" sz="17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고딕" pitchFamily="50" charset="-127"/>
                          <a:ea typeface="나눔고딕" pitchFamily="50" charset="-127"/>
                          <a:cs typeface="Arial" panose="020B0604020202020204" pitchFamily="34" charset="0"/>
                        </a:rPr>
                        <a:t>질문과 관련된 근거를 검색해 LLM에 함께 주고, 그 근거로 답하게 하는 방식</a:t>
                      </a:r>
                    </a:p>
                  </a:txBody>
                  <a:tcPr marT="60000" marB="60000" anchor="ctr">
                    <a:lnL w="9525">
                      <a:solidFill>
                        <a:srgbClr val="9AA7B5"/>
                      </a:solidFill>
                    </a:lnL>
                    <a:lnR w="9525">
                      <a:solidFill>
                        <a:srgbClr val="9AA7B5"/>
                      </a:solidFill>
                    </a:lnR>
                    <a:lnT w="9525">
                      <a:solidFill>
                        <a:srgbClr val="9AA7B5"/>
                      </a:solidFill>
                    </a:lnT>
                    <a:lnB w="9525">
                      <a:solidFill>
                        <a:srgbClr val="9AA7B5"/>
                      </a:solidFill>
                    </a:lnB>
                    <a:solidFill>
                      <a:srgbClr val="EEF3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689750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lang="ko-KR" altLang="en-US" sz="17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고딕" pitchFamily="50" charset="-127"/>
                          <a:ea typeface="나눔고딕" pitchFamily="50" charset="-127"/>
                          <a:cs typeface="Arial" panose="020B0604020202020204" pitchFamily="34" charset="0"/>
                        </a:rPr>
                        <a:t>의도 / 근거 묶음</a:t>
                      </a:r>
                    </a:p>
                  </a:txBody>
                  <a:tcPr marT="60000" marB="60000" anchor="ctr">
                    <a:lnL w="9525">
                      <a:solidFill>
                        <a:srgbClr val="9AA7B5"/>
                      </a:solidFill>
                    </a:lnL>
                    <a:lnR w="9525">
                      <a:solidFill>
                        <a:srgbClr val="9AA7B5"/>
                      </a:solidFill>
                    </a:lnR>
                    <a:lnT w="9525">
                      <a:solidFill>
                        <a:srgbClr val="9AA7B5"/>
                      </a:solidFill>
                    </a:lnT>
                    <a:lnB w="9525">
                      <a:solidFill>
                        <a:srgbClr val="9AA7B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lang="ko-KR" altLang="en-US" sz="17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고딕" pitchFamily="50" charset="-127"/>
                          <a:ea typeface="나눔고딕" pitchFamily="50" charset="-127"/>
                          <a:cs typeface="Arial" panose="020B0604020202020204" pitchFamily="34" charset="0"/>
                        </a:rPr>
                        <a:t>의도는 질문이 CQ1~CQ6 중 무엇을 묻는지의 분류(복수 가능), 근거 묶음은 검색한 근거를 의도별로 모아 LLM에 주는 입력</a:t>
                      </a:r>
                    </a:p>
                  </a:txBody>
                  <a:tcPr marT="60000" marB="60000" anchor="ctr">
                    <a:lnL w="9525">
                      <a:solidFill>
                        <a:srgbClr val="9AA7B5"/>
                      </a:solidFill>
                    </a:lnL>
                    <a:lnR w="9525">
                      <a:solidFill>
                        <a:srgbClr val="9AA7B5"/>
                      </a:solidFill>
                    </a:lnR>
                    <a:lnT w="9525">
                      <a:solidFill>
                        <a:srgbClr val="9AA7B5"/>
                      </a:solidFill>
                    </a:lnT>
                    <a:lnB w="9525">
                      <a:solidFill>
                        <a:srgbClr val="9AA7B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sp>
        <p:nvSpPr>
          <p:cNvPr id="1011" name="직사각형 1"/>
          <p:cNvSpPr/>
          <p:nvPr/>
        </p:nvSpPr>
        <p:spPr>
          <a:xfrm>
            <a:off x="674157" y="19080086"/>
            <a:ext cx="13943667" cy="1023024"/>
          </a:xfrm>
          <a:prstGeom prst="rect">
            <a:avLst/>
          </a:prstGeom>
          <a:solidFill>
            <a:schemeClr val="accent1">
              <a:lumMod val="75000"/>
            </a:schemeClr>
          </a:solidFill>
          <a:ln w="9525">
            <a:noFill/>
            <a:miter lim="800000"/>
            <a:headEnd/>
            <a:tailEnd/>
          </a:ln>
        </p:spPr>
        <p:txBody>
          <a:bodyPr wrap="square" lIns="222728" tIns="111366" rIns="222728" bIns="111366" anchor="ctr"/>
          <a:lstStyle/>
          <a:p>
            <a:pPr defTabSz="2048653"/>
            <a:r>
              <a:rPr lang="ko-KR" altLang="en-US" sz="4800" b="1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고딕 ExtraBold" panose="020D0904000000000000" pitchFamily="50" charset="-127"/>
                <a:ea typeface="나눔고딕 ExtraBold" panose="020D0904000000000000" pitchFamily="50" charset="-127"/>
                <a:cs typeface="Arial Unicode MS" panose="020B0604020202020204" pitchFamily="50" charset="-127"/>
              </a:rPr>
              <a:t>프레임워크 개요</a:t>
            </a:r>
          </a:p>
        </p:txBody>
      </p:sp>
      <p:sp>
        <p:nvSpPr>
          <p:cNvPr id="1012" name="본문"/>
          <p:cNvSpPr txBox="1"/>
          <p:nvPr/>
        </p:nvSpPr>
        <p:spPr>
          <a:xfrm>
            <a:off x="597946" y="20223110"/>
            <a:ext cx="14113138" cy="678585"/>
          </a:xfrm>
          <a:prstGeom prst="rect">
            <a:avLst/>
          </a:prstGeom>
          <a:noFill/>
          <a:ln>
            <a:noFill/>
          </a:ln>
        </p:spPr>
        <p:txBody>
          <a:bodyPr wrap="square" lIns="66158" tIns="33079" rIns="66158" bIns="33079" anchor="t">
            <a:noAutofit/>
          </a:bodyPr>
          <a:lstStyle/>
          <a:p>
            <a:pPr marL="334726" indent="-334726">
              <a:lnSpc>
                <a:spcPct val="118000"/>
              </a:lnSpc>
              <a:spcAft>
                <a:spcPts val="600"/>
              </a:spcAft>
              <a:buBlip>
                <a:blip r:embed="rId4"/>
              </a:buBlip>
            </a:pPr>
            <a:r>
              <a:rPr lang="ko-KR" altLang="en-US" sz="23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프레임워크는 </a:t>
            </a:r>
            <a:r>
              <a:rPr lang="ko-KR" altLang="en-US" sz="2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세 단계</a:t>
            </a:r>
            <a:r>
              <a:rPr lang="ko-KR" altLang="en-US" sz="23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로 구성됨: </a:t>
            </a:r>
            <a:r>
              <a:rPr lang="ko-KR" altLang="en-US" sz="2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① Ontology 설계 → ② KG 구축 → ③ 근거 기반 질의응답</a:t>
            </a:r>
          </a:p>
        </p:txBody>
      </p:sp>
      <p:grpSp>
        <p:nvGrpSpPr>
          <p:cNvPr id="5030" name="그림1 전체 구조"/>
          <p:cNvGrpSpPr/>
          <p:nvPr/>
        </p:nvGrpSpPr>
        <p:grpSpPr>
          <a:xfrm>
            <a:off x="1168054" y="20923293"/>
            <a:ext cx="12866808" cy="6352768"/>
            <a:chOff x="2254515" y="21268895"/>
            <a:chExt cx="10800000" cy="5886000"/>
          </a:xfrm>
        </p:grpSpPr>
        <p:sp>
          <p:nvSpPr>
            <p:cNvPr id="5001" name="도형"/>
            <p:cNvSpPr/>
            <p:nvPr/>
          </p:nvSpPr>
          <p:spPr>
            <a:xfrm>
              <a:off x="2254515" y="21268895"/>
              <a:ext cx="2862000" cy="3132000"/>
            </a:xfrm>
            <a:prstGeom prst="rect">
              <a:avLst/>
            </a:prstGeom>
            <a:noFill/>
            <a:ln w="19050">
              <a:solidFill>
                <a:srgbClr val="888888"/>
              </a:solidFill>
              <a:prstDash val="dash"/>
            </a:ln>
          </p:spPr>
          <p:txBody>
            <a:bodyPr wrap="square" lIns="86400" tIns="43200" rIns="86400" bIns="43200" anchor="ctr">
              <a:noAutofit/>
            </a:bodyPr>
            <a:lstStyle/>
            <a:p>
              <a:endParaRPr lang="ko-KR"/>
            </a:p>
          </p:txBody>
        </p:sp>
        <p:sp>
          <p:nvSpPr>
            <p:cNvPr id="5002" name="글상자"/>
            <p:cNvSpPr/>
            <p:nvPr/>
          </p:nvSpPr>
          <p:spPr>
            <a:xfrm>
              <a:off x="2362515" y="21333695"/>
              <a:ext cx="2646000" cy="367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21600" tIns="10800" rIns="21600" bIns="1080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lang="ko-KR" altLang="en-US" sz="1800" b="1" dirty="0">
                  <a:solidFill>
                    <a:srgbClr val="1F3A5F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1 Ontology 설계</a:t>
              </a:r>
            </a:p>
          </p:txBody>
        </p:sp>
        <p:sp>
          <p:nvSpPr>
            <p:cNvPr id="5003" name="도형"/>
            <p:cNvSpPr/>
            <p:nvPr/>
          </p:nvSpPr>
          <p:spPr>
            <a:xfrm>
              <a:off x="2470515" y="21787295"/>
              <a:ext cx="2430000" cy="1080000"/>
            </a:xfrm>
            <a:prstGeom prst="roundRect">
              <a:avLst>
                <a:gd name="adj" fmla="val 6000"/>
              </a:avLst>
            </a:prstGeom>
            <a:solidFill>
              <a:srgbClr val="FFFFFF"/>
            </a:solidFill>
            <a:ln w="22225">
              <a:solidFill>
                <a:srgbClr val="262626"/>
              </a:solidFill>
            </a:ln>
          </p:spPr>
          <p:txBody>
            <a:bodyPr wrap="square" lIns="86400" tIns="43200" rIns="86400" bIns="4320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lang="ko-KR" altLang="en-US" sz="1800" b="1" dirty="0">
                  <a:solidFill>
                    <a:srgbClr val="222222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CQ</a:t>
              </a:r>
            </a:p>
            <a:p>
              <a:pPr algn="ctr">
                <a:lnSpc>
                  <a:spcPct val="100000"/>
                </a:lnSpc>
              </a:pPr>
              <a:r>
                <a:rPr lang="ko-KR" altLang="en-US" sz="1600" b="0" dirty="0">
                  <a:solidFill>
                    <a:srgbClr val="444444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전체 질문 1개</a:t>
              </a:r>
            </a:p>
            <a:p>
              <a:pPr algn="ctr">
                <a:lnSpc>
                  <a:spcPct val="100000"/>
                </a:lnSpc>
              </a:pPr>
              <a:r>
                <a:rPr lang="ko-KR" altLang="en-US" sz="1600" b="0" dirty="0">
                  <a:solidFill>
                    <a:srgbClr val="444444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세부 질문 6개</a:t>
              </a:r>
            </a:p>
          </p:txBody>
        </p:sp>
        <p:cxnSp>
          <p:nvCxnSpPr>
            <p:cNvPr id="5004" name="선"/>
            <p:cNvCxnSpPr/>
            <p:nvPr/>
          </p:nvCxnSpPr>
          <p:spPr>
            <a:xfrm>
              <a:off x="3680115" y="22888895"/>
              <a:ext cx="0" cy="237600"/>
            </a:xfrm>
            <a:prstGeom prst="line">
              <a:avLst/>
            </a:prstGeom>
            <a:ln w="31750">
              <a:solidFill>
                <a:srgbClr val="3B4A63"/>
              </a:solidFill>
              <a:tailEnd type="triangle" w="med" len="med"/>
            </a:ln>
          </p:spPr>
        </p:cxnSp>
        <p:sp>
          <p:nvSpPr>
            <p:cNvPr id="5005" name="도형"/>
            <p:cNvSpPr/>
            <p:nvPr/>
          </p:nvSpPr>
          <p:spPr>
            <a:xfrm>
              <a:off x="2470515" y="23148095"/>
              <a:ext cx="2430000" cy="1080000"/>
            </a:xfrm>
            <a:prstGeom prst="roundRect">
              <a:avLst>
                <a:gd name="adj" fmla="val 6000"/>
              </a:avLst>
            </a:prstGeom>
            <a:solidFill>
              <a:srgbClr val="FFFFFF"/>
            </a:solidFill>
            <a:ln w="22225">
              <a:solidFill>
                <a:srgbClr val="262626"/>
              </a:solidFill>
            </a:ln>
          </p:spPr>
          <p:txBody>
            <a:bodyPr wrap="square" lIns="86400" tIns="43200" rIns="86400" bIns="4320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lang="ko-KR" altLang="en-US" sz="1800" b="1" dirty="0">
                  <a:solidFill>
                    <a:srgbClr val="222222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Class · 관계</a:t>
              </a:r>
            </a:p>
            <a:p>
              <a:pPr algn="ctr">
                <a:lnSpc>
                  <a:spcPct val="100000"/>
                </a:lnSpc>
              </a:pPr>
              <a:r>
                <a:rPr lang="ko-KR" altLang="en-US" sz="1600" b="0" dirty="0">
                  <a:solidFill>
                    <a:srgbClr val="444444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Class 6, 관계 9</a:t>
              </a:r>
            </a:p>
            <a:p>
              <a:pPr algn="ctr">
                <a:lnSpc>
                  <a:spcPct val="100000"/>
                </a:lnSpc>
              </a:pPr>
              <a:r>
                <a:rPr lang="ko-KR" altLang="en-US" sz="1600" b="0" dirty="0">
                  <a:solidFill>
                    <a:srgbClr val="444444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Data Property</a:t>
              </a:r>
            </a:p>
          </p:txBody>
        </p:sp>
        <p:sp>
          <p:nvSpPr>
            <p:cNvPr id="5006" name="도형"/>
            <p:cNvSpPr/>
            <p:nvPr/>
          </p:nvSpPr>
          <p:spPr>
            <a:xfrm>
              <a:off x="5332515" y="21268895"/>
              <a:ext cx="7722000" cy="3132000"/>
            </a:xfrm>
            <a:prstGeom prst="rect">
              <a:avLst/>
            </a:prstGeom>
            <a:noFill/>
            <a:ln w="19050">
              <a:solidFill>
                <a:srgbClr val="888888"/>
              </a:solidFill>
              <a:prstDash val="dash"/>
            </a:ln>
          </p:spPr>
          <p:txBody>
            <a:bodyPr wrap="square" lIns="86400" tIns="43200" rIns="86400" bIns="43200" anchor="ctr">
              <a:noAutofit/>
            </a:bodyPr>
            <a:lstStyle/>
            <a:p>
              <a:endParaRPr lang="ko-KR"/>
            </a:p>
          </p:txBody>
        </p:sp>
        <p:sp>
          <p:nvSpPr>
            <p:cNvPr id="5007" name="글상자"/>
            <p:cNvSpPr/>
            <p:nvPr/>
          </p:nvSpPr>
          <p:spPr>
            <a:xfrm>
              <a:off x="5440515" y="21333695"/>
              <a:ext cx="7506000" cy="367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21600" tIns="10800" rIns="21600" bIns="1080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lang="ko-KR" altLang="en-US" sz="1800" b="1" dirty="0">
                  <a:solidFill>
                    <a:srgbClr val="1F3A5F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2 KG 구축</a:t>
              </a:r>
            </a:p>
          </p:txBody>
        </p:sp>
        <p:sp>
          <p:nvSpPr>
            <p:cNvPr id="5008" name="도형"/>
            <p:cNvSpPr/>
            <p:nvPr/>
          </p:nvSpPr>
          <p:spPr>
            <a:xfrm>
              <a:off x="5494515" y="21808895"/>
              <a:ext cx="1728000" cy="2430000"/>
            </a:xfrm>
            <a:prstGeom prst="roundRect">
              <a:avLst>
                <a:gd name="adj" fmla="val 6000"/>
              </a:avLst>
            </a:prstGeom>
            <a:solidFill>
              <a:srgbClr val="FFFFFF"/>
            </a:solidFill>
            <a:ln w="22225">
              <a:solidFill>
                <a:srgbClr val="262626"/>
              </a:solidFill>
            </a:ln>
          </p:spPr>
          <p:txBody>
            <a:bodyPr wrap="square" lIns="86400" tIns="43200" rIns="86400" bIns="4320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lang="ko-KR" altLang="en-US" sz="1800" b="1" dirty="0">
                  <a:solidFill>
                    <a:srgbClr val="222222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원자료 4종</a:t>
              </a:r>
            </a:p>
            <a:p>
              <a:pPr algn="ctr">
                <a:lnSpc>
                  <a:spcPct val="100000"/>
                </a:lnSpc>
              </a:pPr>
              <a:r>
                <a:rPr lang="ko-KR" altLang="en-US" sz="1600" b="0" dirty="0">
                  <a:solidFill>
                    <a:srgbClr val="444444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승인 기록</a:t>
              </a:r>
            </a:p>
            <a:p>
              <a:pPr algn="ctr">
                <a:lnSpc>
                  <a:spcPct val="100000"/>
                </a:lnSpc>
              </a:pPr>
              <a:r>
                <a:rPr lang="ko-KR" altLang="en-US" sz="1600" b="0" dirty="0">
                  <a:solidFill>
                    <a:srgbClr val="444444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시간 자료</a:t>
              </a:r>
            </a:p>
            <a:p>
              <a:pPr algn="ctr">
                <a:lnSpc>
                  <a:spcPct val="100000"/>
                </a:lnSpc>
              </a:pPr>
              <a:r>
                <a:rPr lang="ko-KR" altLang="en-US" sz="1600" b="0" dirty="0">
                  <a:solidFill>
                    <a:srgbClr val="444444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규정 별표3</a:t>
              </a:r>
            </a:p>
            <a:p>
              <a:pPr algn="ctr">
                <a:lnSpc>
                  <a:spcPct val="100000"/>
                </a:lnSpc>
              </a:pPr>
              <a:r>
                <a:rPr lang="ko-KR" altLang="en-US" sz="1600" b="0" dirty="0">
                  <a:solidFill>
                    <a:srgbClr val="444444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댐 정보</a:t>
              </a:r>
            </a:p>
          </p:txBody>
        </p:sp>
        <p:cxnSp>
          <p:nvCxnSpPr>
            <p:cNvPr id="5009" name="선"/>
            <p:cNvCxnSpPr/>
            <p:nvPr/>
          </p:nvCxnSpPr>
          <p:spPr>
            <a:xfrm>
              <a:off x="7244115" y="23018495"/>
              <a:ext cx="388800" cy="0"/>
            </a:xfrm>
            <a:prstGeom prst="line">
              <a:avLst/>
            </a:prstGeom>
            <a:ln w="31750">
              <a:solidFill>
                <a:srgbClr val="3B4A63"/>
              </a:solidFill>
              <a:tailEnd type="triangle" w="med" len="med"/>
            </a:ln>
          </p:spPr>
        </p:cxnSp>
        <p:sp>
          <p:nvSpPr>
            <p:cNvPr id="5010" name="도형"/>
            <p:cNvSpPr/>
            <p:nvPr/>
          </p:nvSpPr>
          <p:spPr>
            <a:xfrm>
              <a:off x="7654515" y="21808895"/>
              <a:ext cx="1836000" cy="2430000"/>
            </a:xfrm>
            <a:prstGeom prst="roundRect">
              <a:avLst>
                <a:gd name="adj" fmla="val 6000"/>
              </a:avLst>
            </a:prstGeom>
            <a:solidFill>
              <a:srgbClr val="FFFFFF"/>
            </a:solidFill>
            <a:ln w="22225">
              <a:solidFill>
                <a:srgbClr val="262626"/>
              </a:solidFill>
            </a:ln>
          </p:spPr>
          <p:txBody>
            <a:bodyPr wrap="square" lIns="86400" tIns="43200" rIns="86400" bIns="4320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lang="ko-KR" altLang="en-US" sz="1800" b="1" dirty="0">
                  <a:solidFill>
                    <a:srgbClr val="222222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6단계</a:t>
              </a:r>
            </a:p>
            <a:p>
              <a:pPr algn="ctr">
                <a:lnSpc>
                  <a:spcPct val="100000"/>
                </a:lnSpc>
              </a:pPr>
              <a:r>
                <a:rPr lang="ko-KR" altLang="en-US" sz="1600" b="0" dirty="0">
                  <a:solidFill>
                    <a:srgbClr val="444444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전처리</a:t>
              </a:r>
            </a:p>
            <a:p>
              <a:pPr algn="ctr">
                <a:lnSpc>
                  <a:spcPct val="100000"/>
                </a:lnSpc>
              </a:pPr>
              <a:r>
                <a:rPr lang="ko-KR" altLang="en-US" sz="1600" b="0" dirty="0">
                  <a:solidFill>
                    <a:srgbClr val="444444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매핑 · 추출</a:t>
              </a:r>
            </a:p>
            <a:p>
              <a:pPr algn="ctr">
                <a:lnSpc>
                  <a:spcPct val="100000"/>
                </a:lnSpc>
              </a:pPr>
              <a:r>
                <a:rPr lang="ko-KR" altLang="en-US" sz="1600" b="0" dirty="0">
                  <a:solidFill>
                    <a:srgbClr val="444444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관계 연결</a:t>
              </a:r>
            </a:p>
            <a:p>
              <a:pPr algn="ctr">
                <a:lnSpc>
                  <a:spcPct val="100000"/>
                </a:lnSpc>
              </a:pPr>
              <a:r>
                <a:rPr lang="ko-KR" altLang="en-US" sz="1600" b="0" dirty="0">
                  <a:solidFill>
                    <a:srgbClr val="444444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검증 · 저장</a:t>
              </a:r>
            </a:p>
          </p:txBody>
        </p:sp>
        <p:cxnSp>
          <p:nvCxnSpPr>
            <p:cNvPr id="5011" name="선"/>
            <p:cNvCxnSpPr/>
            <p:nvPr/>
          </p:nvCxnSpPr>
          <p:spPr>
            <a:xfrm>
              <a:off x="9512115" y="23018495"/>
              <a:ext cx="388800" cy="0"/>
            </a:xfrm>
            <a:prstGeom prst="line">
              <a:avLst/>
            </a:prstGeom>
            <a:ln w="31750">
              <a:solidFill>
                <a:srgbClr val="3B4A63"/>
              </a:solidFill>
              <a:tailEnd type="triangle" w="med" len="med"/>
            </a:ln>
          </p:spPr>
        </p:cxnSp>
        <p:sp>
          <p:nvSpPr>
            <p:cNvPr id="5012" name="도형"/>
            <p:cNvSpPr/>
            <p:nvPr/>
          </p:nvSpPr>
          <p:spPr>
            <a:xfrm>
              <a:off x="9922515" y="21765695"/>
              <a:ext cx="2970000" cy="756000"/>
            </a:xfrm>
            <a:prstGeom prst="can">
              <a:avLst/>
            </a:prstGeom>
            <a:solidFill>
              <a:srgbClr val="F2F2F2"/>
            </a:solidFill>
            <a:ln w="22225">
              <a:solidFill>
                <a:srgbClr val="262626"/>
              </a:solidFill>
            </a:ln>
          </p:spPr>
          <p:txBody>
            <a:bodyPr wrap="square" lIns="86400" tIns="43200" rIns="86400" bIns="4320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lang="ko-KR" altLang="en-US" sz="1800" b="1" dirty="0">
                  <a:solidFill>
                    <a:srgbClr val="222222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KG (Neo4j)</a:t>
              </a:r>
            </a:p>
          </p:txBody>
        </p:sp>
        <p:sp>
          <p:nvSpPr>
            <p:cNvPr id="5013" name="도형"/>
            <p:cNvSpPr/>
            <p:nvPr/>
          </p:nvSpPr>
          <p:spPr>
            <a:xfrm>
              <a:off x="9922515" y="22629695"/>
              <a:ext cx="2970000" cy="756000"/>
            </a:xfrm>
            <a:prstGeom prst="can">
              <a:avLst/>
            </a:prstGeom>
            <a:solidFill>
              <a:srgbClr val="F2F2F2"/>
            </a:solidFill>
            <a:ln w="22225">
              <a:solidFill>
                <a:srgbClr val="262626"/>
              </a:solidFill>
            </a:ln>
          </p:spPr>
          <p:txBody>
            <a:bodyPr wrap="square" lIns="86400" tIns="43200" rIns="86400" bIns="4320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lang="ko-KR" altLang="en-US" sz="1800" b="1" dirty="0">
                  <a:solidFill>
                    <a:srgbClr val="222222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측정자료 저장소</a:t>
              </a:r>
            </a:p>
          </p:txBody>
        </p:sp>
        <p:sp>
          <p:nvSpPr>
            <p:cNvPr id="5014" name="도형"/>
            <p:cNvSpPr/>
            <p:nvPr/>
          </p:nvSpPr>
          <p:spPr>
            <a:xfrm>
              <a:off x="9922515" y="23493695"/>
              <a:ext cx="2970000" cy="756000"/>
            </a:xfrm>
            <a:prstGeom prst="can">
              <a:avLst/>
            </a:prstGeom>
            <a:solidFill>
              <a:srgbClr val="F2F2F2"/>
            </a:solidFill>
            <a:ln w="22225">
              <a:solidFill>
                <a:srgbClr val="262626"/>
              </a:solidFill>
            </a:ln>
          </p:spPr>
          <p:txBody>
            <a:bodyPr wrap="square" lIns="86400" tIns="43200" rIns="86400" bIns="4320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lang="ko-KR" altLang="en-US" sz="1800" b="1" dirty="0">
                  <a:solidFill>
                    <a:srgbClr val="222222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문서 저장소</a:t>
              </a:r>
            </a:p>
          </p:txBody>
        </p:sp>
        <p:sp>
          <p:nvSpPr>
            <p:cNvPr id="5015" name="도형"/>
            <p:cNvSpPr/>
            <p:nvPr/>
          </p:nvSpPr>
          <p:spPr>
            <a:xfrm>
              <a:off x="2254515" y="24832895"/>
              <a:ext cx="10800000" cy="2322000"/>
            </a:xfrm>
            <a:prstGeom prst="rect">
              <a:avLst/>
            </a:prstGeom>
            <a:noFill/>
            <a:ln w="19050">
              <a:solidFill>
                <a:srgbClr val="888888"/>
              </a:solidFill>
              <a:prstDash val="dash"/>
            </a:ln>
          </p:spPr>
          <p:txBody>
            <a:bodyPr wrap="square" lIns="86400" tIns="43200" rIns="86400" bIns="43200" anchor="ctr">
              <a:noAutofit/>
            </a:bodyPr>
            <a:lstStyle/>
            <a:p>
              <a:endParaRPr lang="ko-KR"/>
            </a:p>
          </p:txBody>
        </p:sp>
        <p:sp>
          <p:nvSpPr>
            <p:cNvPr id="5016" name="글상자"/>
            <p:cNvSpPr/>
            <p:nvPr/>
          </p:nvSpPr>
          <p:spPr>
            <a:xfrm>
              <a:off x="2362515" y="24897695"/>
              <a:ext cx="10584000" cy="367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21600" tIns="10800" rIns="21600" bIns="1080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lang="ko-KR" altLang="en-US" sz="1800" b="1" dirty="0">
                  <a:solidFill>
                    <a:srgbClr val="1F3A5F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3 근거 기반 질의응답</a:t>
              </a:r>
            </a:p>
          </p:txBody>
        </p:sp>
        <p:sp>
          <p:nvSpPr>
            <p:cNvPr id="5017" name="도형"/>
            <p:cNvSpPr/>
            <p:nvPr/>
          </p:nvSpPr>
          <p:spPr>
            <a:xfrm>
              <a:off x="2405715" y="25502495"/>
              <a:ext cx="1857600" cy="1512000"/>
            </a:xfrm>
            <a:prstGeom prst="roundRect">
              <a:avLst>
                <a:gd name="adj" fmla="val 6000"/>
              </a:avLst>
            </a:prstGeom>
            <a:solidFill>
              <a:srgbClr val="FFFFFF"/>
            </a:solidFill>
            <a:ln w="22225">
              <a:solidFill>
                <a:srgbClr val="262626"/>
              </a:solidFill>
            </a:ln>
          </p:spPr>
          <p:txBody>
            <a:bodyPr wrap="square" lIns="86400" tIns="43200" rIns="86400" bIns="4320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lang="ko-KR" altLang="en-US" sz="1800" b="1" dirty="0">
                  <a:solidFill>
                    <a:srgbClr val="222222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사용자</a:t>
              </a:r>
            </a:p>
            <a:p>
              <a:pPr algn="ctr">
                <a:lnSpc>
                  <a:spcPct val="100000"/>
                </a:lnSpc>
              </a:pPr>
              <a:r>
                <a:rPr lang="ko-KR" altLang="en-US" sz="1800" b="0" dirty="0">
                  <a:solidFill>
                    <a:srgbClr val="444444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질문</a:t>
              </a:r>
            </a:p>
          </p:txBody>
        </p:sp>
        <p:sp>
          <p:nvSpPr>
            <p:cNvPr id="5018" name="도형"/>
            <p:cNvSpPr/>
            <p:nvPr/>
          </p:nvSpPr>
          <p:spPr>
            <a:xfrm>
              <a:off x="4565715" y="25502495"/>
              <a:ext cx="1857600" cy="1512000"/>
            </a:xfrm>
            <a:prstGeom prst="roundRect">
              <a:avLst>
                <a:gd name="adj" fmla="val 6000"/>
              </a:avLst>
            </a:prstGeom>
            <a:solidFill>
              <a:srgbClr val="FFFFFF"/>
            </a:solidFill>
            <a:ln w="22225">
              <a:solidFill>
                <a:srgbClr val="262626"/>
              </a:solidFill>
            </a:ln>
          </p:spPr>
          <p:txBody>
            <a:bodyPr wrap="square" lIns="86400" tIns="43200" rIns="86400" bIns="4320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lang="ko-KR" altLang="en-US" sz="1800" b="1" dirty="0">
                  <a:solidFill>
                    <a:srgbClr val="222222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질문 해석</a:t>
              </a:r>
            </a:p>
            <a:p>
              <a:pPr algn="ctr">
                <a:lnSpc>
                  <a:spcPct val="100000"/>
                </a:lnSpc>
              </a:pPr>
              <a:r>
                <a:rPr lang="ko-KR" altLang="en-US" sz="1600" b="0" dirty="0">
                  <a:solidFill>
                    <a:srgbClr val="444444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의도 CQ1~6</a:t>
              </a:r>
            </a:p>
            <a:p>
              <a:pPr algn="ctr">
                <a:lnSpc>
                  <a:spcPct val="100000"/>
                </a:lnSpc>
              </a:pPr>
              <a:r>
                <a:rPr lang="ko-KR" altLang="en-US" sz="1600" b="0" dirty="0">
                  <a:solidFill>
                    <a:srgbClr val="444444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댐 · 시점</a:t>
              </a:r>
            </a:p>
          </p:txBody>
        </p:sp>
        <p:sp>
          <p:nvSpPr>
            <p:cNvPr id="5019" name="도형"/>
            <p:cNvSpPr/>
            <p:nvPr/>
          </p:nvSpPr>
          <p:spPr>
            <a:xfrm>
              <a:off x="6725715" y="25502495"/>
              <a:ext cx="1857600" cy="1512000"/>
            </a:xfrm>
            <a:prstGeom prst="roundRect">
              <a:avLst>
                <a:gd name="adj" fmla="val 6000"/>
              </a:avLst>
            </a:prstGeom>
            <a:solidFill>
              <a:srgbClr val="FFFFFF"/>
            </a:solidFill>
            <a:ln w="22225">
              <a:solidFill>
                <a:srgbClr val="262626"/>
              </a:solidFill>
            </a:ln>
          </p:spPr>
          <p:txBody>
            <a:bodyPr wrap="square" lIns="86400" tIns="43200" rIns="86400" bIns="4320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lang="ko-KR" altLang="en-US" sz="1800" b="1" dirty="0">
                  <a:solidFill>
                    <a:srgbClr val="222222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근거 검색</a:t>
              </a:r>
            </a:p>
            <a:p>
              <a:pPr algn="ctr">
                <a:lnSpc>
                  <a:spcPct val="100000"/>
                </a:lnSpc>
              </a:pPr>
              <a:r>
                <a:rPr lang="ko-KR" altLang="en-US" sz="1600" b="0" dirty="0">
                  <a:solidFill>
                    <a:srgbClr val="444444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입력 확인</a:t>
              </a:r>
            </a:p>
            <a:p>
              <a:pPr algn="ctr">
                <a:lnSpc>
                  <a:spcPct val="100000"/>
                </a:lnSpc>
              </a:pPr>
              <a:r>
                <a:rPr lang="ko-KR" altLang="en-US" sz="1600" b="0" dirty="0">
                  <a:solidFill>
                    <a:srgbClr val="444444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KG · 저장소</a:t>
              </a:r>
            </a:p>
            <a:p>
              <a:pPr algn="ctr">
                <a:lnSpc>
                  <a:spcPct val="100000"/>
                </a:lnSpc>
              </a:pPr>
              <a:r>
                <a:rPr lang="ko-KR" altLang="en-US" sz="1600" b="0" dirty="0">
                  <a:solidFill>
                    <a:srgbClr val="444444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조회</a:t>
              </a:r>
            </a:p>
          </p:txBody>
        </p:sp>
        <p:sp>
          <p:nvSpPr>
            <p:cNvPr id="5020" name="도형"/>
            <p:cNvSpPr/>
            <p:nvPr/>
          </p:nvSpPr>
          <p:spPr>
            <a:xfrm>
              <a:off x="8885715" y="25502495"/>
              <a:ext cx="1857600" cy="1512000"/>
            </a:xfrm>
            <a:prstGeom prst="roundRect">
              <a:avLst>
                <a:gd name="adj" fmla="val 6000"/>
              </a:avLst>
            </a:prstGeom>
            <a:solidFill>
              <a:srgbClr val="FFFFFF"/>
            </a:solidFill>
            <a:ln w="22225">
              <a:solidFill>
                <a:srgbClr val="262626"/>
              </a:solidFill>
            </a:ln>
          </p:spPr>
          <p:txBody>
            <a:bodyPr wrap="square" lIns="86400" tIns="43200" rIns="86400" bIns="4320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lang="ko-KR" altLang="en-US" sz="1800" b="1" dirty="0">
                  <a:solidFill>
                    <a:srgbClr val="222222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근거 묶음</a:t>
              </a:r>
            </a:p>
            <a:p>
              <a:pPr algn="ctr">
                <a:lnSpc>
                  <a:spcPct val="100000"/>
                </a:lnSpc>
              </a:pPr>
              <a:r>
                <a:rPr lang="ko-KR" altLang="en-US" sz="1600" b="0" dirty="0">
                  <a:solidFill>
                    <a:srgbClr val="444444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출처 번호 부착</a:t>
              </a:r>
            </a:p>
            <a:p>
              <a:pPr algn="ctr">
                <a:lnSpc>
                  <a:spcPct val="100000"/>
                </a:lnSpc>
              </a:pPr>
              <a:r>
                <a:rPr lang="ko-KR" altLang="en-US" sz="1600" b="0" dirty="0">
                  <a:solidFill>
                    <a:srgbClr val="444444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원값 근거</a:t>
              </a:r>
            </a:p>
          </p:txBody>
        </p:sp>
        <p:sp>
          <p:nvSpPr>
            <p:cNvPr id="5021" name="도형"/>
            <p:cNvSpPr/>
            <p:nvPr/>
          </p:nvSpPr>
          <p:spPr>
            <a:xfrm>
              <a:off x="11045715" y="25502495"/>
              <a:ext cx="1857600" cy="1512000"/>
            </a:xfrm>
            <a:prstGeom prst="roundRect">
              <a:avLst>
                <a:gd name="adj" fmla="val 6000"/>
              </a:avLst>
            </a:prstGeom>
            <a:solidFill>
              <a:srgbClr val="FFFFFF"/>
            </a:solidFill>
            <a:ln w="22225">
              <a:solidFill>
                <a:srgbClr val="262626"/>
              </a:solidFill>
            </a:ln>
          </p:spPr>
          <p:txBody>
            <a:bodyPr wrap="square" lIns="86400" tIns="43200" rIns="86400" bIns="4320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lang="ko-KR" altLang="en-US" sz="1800" b="1" dirty="0">
                  <a:solidFill>
                    <a:srgbClr val="222222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답변 생성</a:t>
              </a:r>
            </a:p>
            <a:p>
              <a:pPr algn="ctr">
                <a:lnSpc>
                  <a:spcPct val="100000"/>
                </a:lnSpc>
              </a:pPr>
              <a:r>
                <a:rPr lang="ko-KR" altLang="en-US" sz="1600" b="0" dirty="0">
                  <a:solidFill>
                    <a:srgbClr val="444444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근거 / 판단</a:t>
              </a:r>
            </a:p>
            <a:p>
              <a:pPr algn="ctr">
                <a:lnSpc>
                  <a:spcPct val="100000"/>
                </a:lnSpc>
              </a:pPr>
              <a:r>
                <a:rPr lang="ko-KR" altLang="en-US" sz="1600" b="0" dirty="0">
                  <a:solidFill>
                    <a:srgbClr val="444444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분리 작성</a:t>
              </a:r>
            </a:p>
          </p:txBody>
        </p:sp>
        <p:cxnSp>
          <p:nvCxnSpPr>
            <p:cNvPr id="5022" name="선"/>
            <p:cNvCxnSpPr/>
            <p:nvPr/>
          </p:nvCxnSpPr>
          <p:spPr>
            <a:xfrm>
              <a:off x="4284915" y="26258495"/>
              <a:ext cx="259200" cy="0"/>
            </a:xfrm>
            <a:prstGeom prst="line">
              <a:avLst/>
            </a:prstGeom>
            <a:ln w="31750">
              <a:solidFill>
                <a:srgbClr val="3B4A63"/>
              </a:solidFill>
              <a:tailEnd type="triangle" w="med" len="med"/>
            </a:ln>
          </p:spPr>
        </p:cxnSp>
        <p:cxnSp>
          <p:nvCxnSpPr>
            <p:cNvPr id="5023" name="선"/>
            <p:cNvCxnSpPr/>
            <p:nvPr/>
          </p:nvCxnSpPr>
          <p:spPr>
            <a:xfrm>
              <a:off x="6444915" y="26258495"/>
              <a:ext cx="259200" cy="0"/>
            </a:xfrm>
            <a:prstGeom prst="line">
              <a:avLst/>
            </a:prstGeom>
            <a:ln w="31750">
              <a:solidFill>
                <a:srgbClr val="3B4A63"/>
              </a:solidFill>
              <a:tailEnd type="triangle" w="med" len="med"/>
            </a:ln>
          </p:spPr>
        </p:cxnSp>
        <p:cxnSp>
          <p:nvCxnSpPr>
            <p:cNvPr id="5024" name="선"/>
            <p:cNvCxnSpPr/>
            <p:nvPr/>
          </p:nvCxnSpPr>
          <p:spPr>
            <a:xfrm>
              <a:off x="8604915" y="26258495"/>
              <a:ext cx="259200" cy="0"/>
            </a:xfrm>
            <a:prstGeom prst="line">
              <a:avLst/>
            </a:prstGeom>
            <a:ln w="31750">
              <a:solidFill>
                <a:srgbClr val="3B4A63"/>
              </a:solidFill>
              <a:tailEnd type="triangle" w="med" len="med"/>
            </a:ln>
          </p:spPr>
        </p:cxnSp>
        <p:cxnSp>
          <p:nvCxnSpPr>
            <p:cNvPr id="5025" name="선"/>
            <p:cNvCxnSpPr/>
            <p:nvPr/>
          </p:nvCxnSpPr>
          <p:spPr>
            <a:xfrm>
              <a:off x="10764915" y="26258495"/>
              <a:ext cx="259200" cy="0"/>
            </a:xfrm>
            <a:prstGeom prst="line">
              <a:avLst/>
            </a:prstGeom>
            <a:ln w="31750">
              <a:solidFill>
                <a:srgbClr val="3B4A63"/>
              </a:solidFill>
              <a:tailEnd type="triangle" w="med" len="med"/>
            </a:ln>
          </p:spPr>
        </p:cxnSp>
        <p:cxnSp>
          <p:nvCxnSpPr>
            <p:cNvPr id="5026" name="선"/>
            <p:cNvCxnSpPr/>
            <p:nvPr/>
          </p:nvCxnSpPr>
          <p:spPr>
            <a:xfrm>
              <a:off x="11412915" y="24271295"/>
              <a:ext cx="0" cy="367200"/>
            </a:xfrm>
            <a:prstGeom prst="line">
              <a:avLst/>
            </a:prstGeom>
            <a:ln w="25400">
              <a:solidFill>
                <a:srgbClr val="555555"/>
              </a:solidFill>
              <a:prstDash val="dash"/>
            </a:ln>
          </p:spPr>
        </p:cxnSp>
        <p:cxnSp>
          <p:nvCxnSpPr>
            <p:cNvPr id="5027" name="선"/>
            <p:cNvCxnSpPr/>
            <p:nvPr/>
          </p:nvCxnSpPr>
          <p:spPr>
            <a:xfrm flipH="1">
              <a:off x="7654515" y="24638495"/>
              <a:ext cx="3758400" cy="0"/>
            </a:xfrm>
            <a:prstGeom prst="line">
              <a:avLst/>
            </a:prstGeom>
            <a:ln w="25400">
              <a:solidFill>
                <a:srgbClr val="555555"/>
              </a:solidFill>
              <a:prstDash val="dash"/>
            </a:ln>
          </p:spPr>
        </p:cxnSp>
        <p:cxnSp>
          <p:nvCxnSpPr>
            <p:cNvPr id="5028" name="선"/>
            <p:cNvCxnSpPr/>
            <p:nvPr/>
          </p:nvCxnSpPr>
          <p:spPr>
            <a:xfrm>
              <a:off x="7654515" y="24638495"/>
              <a:ext cx="0" cy="842400"/>
            </a:xfrm>
            <a:prstGeom prst="line">
              <a:avLst/>
            </a:prstGeom>
            <a:ln w="25400">
              <a:solidFill>
                <a:srgbClr val="555555"/>
              </a:solidFill>
              <a:prstDash val="dash"/>
              <a:tailEnd type="triangle" w="med" len="med"/>
            </a:ln>
          </p:spPr>
        </p:cxnSp>
        <p:sp>
          <p:nvSpPr>
            <p:cNvPr id="5029" name="글상자"/>
            <p:cNvSpPr/>
            <p:nvPr/>
          </p:nvSpPr>
          <p:spPr>
            <a:xfrm>
              <a:off x="7805716" y="24950147"/>
              <a:ext cx="3240000" cy="3024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21600" tIns="10800" rIns="21600" bIns="1080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lang="ko-KR" altLang="en-US" sz="1600" b="0" dirty="0">
                  <a:solidFill>
                    <a:srgbClr val="444444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저장소에서 읽어 옴</a:t>
              </a:r>
            </a:p>
          </p:txBody>
        </p:sp>
      </p:grpSp>
      <p:sp>
        <p:nvSpPr>
          <p:cNvPr id="1013" name="본문"/>
          <p:cNvSpPr txBox="1"/>
          <p:nvPr/>
        </p:nvSpPr>
        <p:spPr>
          <a:xfrm>
            <a:off x="391377" y="27527238"/>
            <a:ext cx="14113138" cy="520000"/>
          </a:xfrm>
          <a:prstGeom prst="rect">
            <a:avLst/>
          </a:prstGeom>
          <a:noFill/>
          <a:ln>
            <a:noFill/>
          </a:ln>
        </p:spPr>
        <p:txBody>
          <a:bodyPr wrap="square" lIns="66158" tIns="33079" rIns="66158" bIns="33079" anchor="t">
            <a:noAutofit/>
          </a:bodyPr>
          <a:lstStyle/>
          <a:p>
            <a:pPr marL="0" indent="0" algn="ctr">
              <a:lnSpc>
                <a:spcPct val="118000"/>
              </a:lnSpc>
              <a:spcAft>
                <a:spcPts val="600"/>
              </a:spcAft>
              <a:buNone/>
            </a:pPr>
            <a:r>
              <a:rPr lang="ko-KR" altLang="en-US" sz="22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그림 1. 연구 프레임워크</a:t>
            </a:r>
          </a:p>
        </p:txBody>
      </p:sp>
      <p:sp>
        <p:nvSpPr>
          <p:cNvPr id="1014" name="직사각형 1"/>
          <p:cNvSpPr/>
          <p:nvPr/>
        </p:nvSpPr>
        <p:spPr>
          <a:xfrm>
            <a:off x="674157" y="28096895"/>
            <a:ext cx="13943667" cy="1023024"/>
          </a:xfrm>
          <a:prstGeom prst="rect">
            <a:avLst/>
          </a:prstGeom>
          <a:solidFill>
            <a:schemeClr val="accent1">
              <a:lumMod val="75000"/>
            </a:schemeClr>
          </a:solidFill>
          <a:ln w="9525">
            <a:noFill/>
            <a:miter lim="800000"/>
            <a:headEnd/>
            <a:tailEnd/>
          </a:ln>
        </p:spPr>
        <p:txBody>
          <a:bodyPr wrap="square" lIns="222728" tIns="111366" rIns="222728" bIns="111366" anchor="ctr"/>
          <a:lstStyle/>
          <a:p>
            <a:pPr defTabSz="2048653"/>
            <a:r>
              <a:rPr lang="ko-KR" altLang="en-US" sz="4800" b="1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고딕 ExtraBold" panose="020D0904000000000000" pitchFamily="50" charset="-127"/>
                <a:ea typeface="나눔고딕 ExtraBold" panose="020D0904000000000000" pitchFamily="50" charset="-127"/>
                <a:cs typeface="Arial Unicode MS" panose="020B0604020202020204" pitchFamily="50" charset="-127"/>
              </a:rPr>
              <a:t>단계 1. Ontology 설계</a:t>
            </a:r>
          </a:p>
        </p:txBody>
      </p:sp>
      <p:sp>
        <p:nvSpPr>
          <p:cNvPr id="1015" name="본문"/>
          <p:cNvSpPr txBox="1"/>
          <p:nvPr/>
        </p:nvSpPr>
        <p:spPr>
          <a:xfrm>
            <a:off x="597946" y="29239919"/>
            <a:ext cx="14113138" cy="1045785"/>
          </a:xfrm>
          <a:prstGeom prst="rect">
            <a:avLst/>
          </a:prstGeom>
          <a:noFill/>
          <a:ln>
            <a:noFill/>
          </a:ln>
        </p:spPr>
        <p:txBody>
          <a:bodyPr wrap="square" lIns="66158" tIns="33079" rIns="66158" bIns="33079" anchor="t">
            <a:noAutofit/>
          </a:bodyPr>
          <a:lstStyle/>
          <a:p>
            <a:pPr marL="334726" indent="-334726">
              <a:lnSpc>
                <a:spcPct val="118000"/>
              </a:lnSpc>
              <a:spcAft>
                <a:spcPts val="600"/>
              </a:spcAft>
              <a:buBlip>
                <a:blip r:embed="rId4"/>
              </a:buBlip>
            </a:pPr>
            <a:r>
              <a:rPr lang="ko-KR" altLang="en-US" sz="23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운영자가 확인해야 할 질문을 </a:t>
            </a:r>
            <a:r>
              <a:rPr lang="ko-KR" altLang="en-US" sz="2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전체 질문 1개와 세부 질문 6개(CQ1~CQ6)</a:t>
            </a:r>
            <a:r>
              <a:rPr lang="ko-KR" altLang="en-US" sz="23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 로 정함</a:t>
            </a:r>
          </a:p>
          <a:p>
            <a:pPr marL="334726" indent="-334726">
              <a:lnSpc>
                <a:spcPct val="118000"/>
              </a:lnSpc>
              <a:spcAft>
                <a:spcPts val="600"/>
              </a:spcAft>
              <a:buBlip>
                <a:blip r:embed="rId4"/>
              </a:buBlip>
            </a:pPr>
            <a:r>
              <a:rPr lang="ko-KR" altLang="en-US" sz="23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이 질문에 답하는 </a:t>
            </a:r>
            <a:r>
              <a:rPr lang="ko-KR" altLang="en-US" sz="2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Class 6개와 관계 9개</a:t>
            </a:r>
            <a:r>
              <a:rPr lang="ko-KR" altLang="en-US" sz="23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, </a:t>
            </a:r>
            <a:r>
              <a:rPr lang="ko-KR" altLang="en-US" sz="2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Data Property</a:t>
            </a:r>
            <a:r>
              <a:rPr lang="ko-KR" altLang="en-US" sz="23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를 시드로 정의함</a:t>
            </a:r>
          </a:p>
        </p:txBody>
      </p:sp>
      <p:sp>
        <p:nvSpPr>
          <p:cNvPr id="1016" name="직사각형 415"/>
          <p:cNvSpPr/>
          <p:nvPr/>
        </p:nvSpPr>
        <p:spPr>
          <a:xfrm>
            <a:off x="830804" y="30285704"/>
            <a:ext cx="13649422" cy="64598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8242" tIns="44120" rIns="88242" bIns="44120" spcCol="0" rtlCol="0" anchor="ctr"/>
          <a:lstStyle/>
          <a:p>
            <a:pPr marL="0" lvl="1">
              <a:lnSpc>
                <a:spcPct val="107000"/>
              </a:lnSpc>
            </a:pPr>
            <a:r>
              <a:rPr lang="ko-KR" altLang="en-US" sz="2800" b="1" spc="-21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Table 2. 전체 질문과 세부 질문(CQ)</a:t>
            </a:r>
          </a:p>
        </p:txBody>
      </p:sp>
      <p:graphicFrame>
        <p:nvGraphicFramePr>
          <p:cNvPr id="1017" name="표"/>
          <p:cNvGraphicFramePr>
            <a:graphicFrameLocks noGrp="1"/>
          </p:cNvGraphicFramePr>
          <p:nvPr/>
        </p:nvGraphicFramePr>
        <p:xfrm>
          <a:off x="697946" y="31021689"/>
          <a:ext cx="13500000" cy="3628875"/>
        </p:xfrm>
        <a:graphic>
          <a:graphicData uri="http://schemas.openxmlformats.org/drawingml/2006/table">
            <a:tbl>
              <a:tblPr firstRow="1" bandRow="1"/>
              <a:tblGrid>
                <a:gridCol w="20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50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19875"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lang="ko-KR" altLang="en-US" sz="1700" b="1" dirty="0">
                          <a:solidFill>
                            <a:schemeClr val="bg1"/>
                          </a:solidFill>
                          <a:latin typeface="나눔고딕" pitchFamily="50" charset="-127"/>
                          <a:ea typeface="나눔고딕" pitchFamily="50" charset="-127"/>
                          <a:cs typeface="Arial" panose="020B0604020202020204" pitchFamily="34" charset="0"/>
                        </a:rPr>
                        <a:t>번호</a:t>
                      </a:r>
                    </a:p>
                  </a:txBody>
                  <a:tcPr marT="60000" marB="60000" anchor="ctr">
                    <a:lnL w="9525">
                      <a:solidFill>
                        <a:srgbClr val="9AA7B5"/>
                      </a:solidFill>
                    </a:lnL>
                    <a:lnR w="9525">
                      <a:solidFill>
                        <a:srgbClr val="9AA7B5"/>
                      </a:solidFill>
                    </a:lnR>
                    <a:lnT w="9525">
                      <a:solidFill>
                        <a:srgbClr val="9AA7B5"/>
                      </a:solidFill>
                    </a:lnT>
                    <a:lnB w="9525">
                      <a:solidFill>
                        <a:srgbClr val="9AA7B5"/>
                      </a:solidFill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lang="ko-KR" altLang="en-US" sz="1700" b="1" dirty="0">
                          <a:solidFill>
                            <a:schemeClr val="bg1"/>
                          </a:solidFill>
                          <a:latin typeface="나눔고딕" pitchFamily="50" charset="-127"/>
                          <a:ea typeface="나눔고딕" pitchFamily="50" charset="-127"/>
                          <a:cs typeface="Arial" panose="020B0604020202020204" pitchFamily="34" charset="0"/>
                        </a:rPr>
                        <a:t>질문 (Competency Question)</a:t>
                      </a:r>
                    </a:p>
                  </a:txBody>
                  <a:tcPr marT="60000" marB="60000" anchor="ctr">
                    <a:lnL w="9525">
                      <a:solidFill>
                        <a:srgbClr val="9AA7B5"/>
                      </a:solidFill>
                    </a:lnL>
                    <a:lnR w="9525">
                      <a:solidFill>
                        <a:srgbClr val="9AA7B5"/>
                      </a:solidFill>
                    </a:lnR>
                    <a:lnT w="9525">
                      <a:solidFill>
                        <a:srgbClr val="9AA7B5"/>
                      </a:solidFill>
                    </a:lnT>
                    <a:lnB w="9525">
                      <a:solidFill>
                        <a:srgbClr val="9AA7B5"/>
                      </a:solidFill>
                    </a:lnB>
                    <a:solidFill>
                      <a:srgbClr val="1F4E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89750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lang="ko-KR" altLang="en-US" sz="17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고딕" pitchFamily="50" charset="-127"/>
                          <a:ea typeface="나눔고딕" pitchFamily="50" charset="-127"/>
                          <a:cs typeface="Arial" panose="020B0604020202020204" pitchFamily="34" charset="0"/>
                        </a:rPr>
                        <a:t>전체 질문</a:t>
                      </a:r>
                    </a:p>
                  </a:txBody>
                  <a:tcPr marT="60000" marB="60000" anchor="ctr">
                    <a:lnL w="9525">
                      <a:solidFill>
                        <a:srgbClr val="9AA7B5"/>
                      </a:solidFill>
                    </a:lnL>
                    <a:lnR w="9525">
                      <a:solidFill>
                        <a:srgbClr val="9AA7B5"/>
                      </a:solidFill>
                    </a:lnR>
                    <a:lnT w="9525">
                      <a:solidFill>
                        <a:srgbClr val="9AA7B5"/>
                      </a:solidFill>
                    </a:lnT>
                    <a:lnB w="9525">
                      <a:solidFill>
                        <a:srgbClr val="9AA7B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lang="ko-KR" altLang="en-US" sz="17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고딕" pitchFamily="50" charset="-127"/>
                          <a:ea typeface="나눔고딕" pitchFamily="50" charset="-127"/>
                          <a:cs typeface="Arial" panose="020B0604020202020204" pitchFamily="34" charset="0"/>
                        </a:rPr>
                        <a:t>특정 댐의 현재 수문·기상 상태와 운영기준을 확인하고, 선택된 과거 사례의 상태·운영행위·승인·근거를 함께 추적하여 운영 판단을 지원할 수 있는가?</a:t>
                      </a:r>
                    </a:p>
                  </a:txBody>
                  <a:tcPr marT="60000" marB="60000" anchor="ctr">
                    <a:lnL w="9525">
                      <a:solidFill>
                        <a:srgbClr val="9AA7B5"/>
                      </a:solidFill>
                    </a:lnL>
                    <a:lnR w="9525">
                      <a:solidFill>
                        <a:srgbClr val="9AA7B5"/>
                      </a:solidFill>
                    </a:lnR>
                    <a:lnT w="9525">
                      <a:solidFill>
                        <a:srgbClr val="9AA7B5"/>
                      </a:solidFill>
                    </a:lnT>
                    <a:lnB w="9525">
                      <a:solidFill>
                        <a:srgbClr val="9AA7B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9875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lang="ko-KR" altLang="en-US" sz="17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고딕" pitchFamily="50" charset="-127"/>
                          <a:ea typeface="나눔고딕" pitchFamily="50" charset="-127"/>
                          <a:cs typeface="Arial" panose="020B0604020202020204" pitchFamily="34" charset="0"/>
                        </a:rPr>
                        <a:t>CQ1</a:t>
                      </a:r>
                    </a:p>
                  </a:txBody>
                  <a:tcPr marT="60000" marB="60000" anchor="ctr">
                    <a:lnL w="9525">
                      <a:solidFill>
                        <a:srgbClr val="9AA7B5"/>
                      </a:solidFill>
                    </a:lnL>
                    <a:lnR w="9525">
                      <a:solidFill>
                        <a:srgbClr val="9AA7B5"/>
                      </a:solidFill>
                    </a:lnR>
                    <a:lnT w="9525">
                      <a:solidFill>
                        <a:srgbClr val="9AA7B5"/>
                      </a:solidFill>
                    </a:lnT>
                    <a:lnB w="9525">
                      <a:solidFill>
                        <a:srgbClr val="9AA7B5"/>
                      </a:solidFill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lang="ko-KR" altLang="en-US" sz="17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고딕" pitchFamily="50" charset="-127"/>
                          <a:ea typeface="나눔고딕" pitchFamily="50" charset="-127"/>
                          <a:cs typeface="Arial" panose="020B0604020202020204" pitchFamily="34" charset="0"/>
                        </a:rPr>
                        <a:t>대상 댐의 현재 수문·기상 상태는 무엇인가?</a:t>
                      </a:r>
                    </a:p>
                  </a:txBody>
                  <a:tcPr marT="60000" marB="60000" anchor="ctr">
                    <a:lnL w="9525">
                      <a:solidFill>
                        <a:srgbClr val="9AA7B5"/>
                      </a:solidFill>
                    </a:lnL>
                    <a:lnR w="9525">
                      <a:solidFill>
                        <a:srgbClr val="9AA7B5"/>
                      </a:solidFill>
                    </a:lnR>
                    <a:lnT w="9525">
                      <a:solidFill>
                        <a:srgbClr val="9AA7B5"/>
                      </a:solidFill>
                    </a:lnT>
                    <a:lnB w="9525">
                      <a:solidFill>
                        <a:srgbClr val="9AA7B5"/>
                      </a:solidFill>
                    </a:lnB>
                    <a:solidFill>
                      <a:srgbClr val="EEF3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9875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lang="ko-KR" altLang="en-US" sz="17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고딕" pitchFamily="50" charset="-127"/>
                          <a:ea typeface="나눔고딕" pitchFamily="50" charset="-127"/>
                          <a:cs typeface="Arial" panose="020B0604020202020204" pitchFamily="34" charset="0"/>
                        </a:rPr>
                        <a:t>CQ2</a:t>
                      </a:r>
                    </a:p>
                  </a:txBody>
                  <a:tcPr marT="60000" marB="60000" anchor="ctr">
                    <a:lnL w="9525">
                      <a:solidFill>
                        <a:srgbClr val="9AA7B5"/>
                      </a:solidFill>
                    </a:lnL>
                    <a:lnR w="9525">
                      <a:solidFill>
                        <a:srgbClr val="9AA7B5"/>
                      </a:solidFill>
                    </a:lnR>
                    <a:lnT w="9525">
                      <a:solidFill>
                        <a:srgbClr val="9AA7B5"/>
                      </a:solidFill>
                    </a:lnT>
                    <a:lnB w="9525">
                      <a:solidFill>
                        <a:srgbClr val="9AA7B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lang="ko-KR" altLang="en-US" sz="17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고딕" pitchFamily="50" charset="-127"/>
                          <a:ea typeface="나눔고딕" pitchFamily="50" charset="-127"/>
                          <a:cs typeface="Arial" panose="020B0604020202020204" pitchFamily="34" charset="0"/>
                        </a:rPr>
                        <a:t>선택된 과거 시점 또는 사례의 수문·기상 상태는 어떠했는가?</a:t>
                      </a:r>
                    </a:p>
                  </a:txBody>
                  <a:tcPr marT="60000" marB="60000" anchor="ctr">
                    <a:lnL w="9525">
                      <a:solidFill>
                        <a:srgbClr val="9AA7B5"/>
                      </a:solidFill>
                    </a:lnL>
                    <a:lnR w="9525">
                      <a:solidFill>
                        <a:srgbClr val="9AA7B5"/>
                      </a:solidFill>
                    </a:lnR>
                    <a:lnT w="9525">
                      <a:solidFill>
                        <a:srgbClr val="9AA7B5"/>
                      </a:solidFill>
                    </a:lnT>
                    <a:lnB w="9525">
                      <a:solidFill>
                        <a:srgbClr val="9AA7B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9875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lang="ko-KR" altLang="en-US" sz="17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고딕" pitchFamily="50" charset="-127"/>
                          <a:ea typeface="나눔고딕" pitchFamily="50" charset="-127"/>
                          <a:cs typeface="Arial" panose="020B0604020202020204" pitchFamily="34" charset="0"/>
                        </a:rPr>
                        <a:t>CQ3</a:t>
                      </a:r>
                    </a:p>
                  </a:txBody>
                  <a:tcPr marT="60000" marB="60000" anchor="ctr">
                    <a:lnL w="9525">
                      <a:solidFill>
                        <a:srgbClr val="9AA7B5"/>
                      </a:solidFill>
                    </a:lnL>
                    <a:lnR w="9525">
                      <a:solidFill>
                        <a:srgbClr val="9AA7B5"/>
                      </a:solidFill>
                    </a:lnR>
                    <a:lnT w="9525">
                      <a:solidFill>
                        <a:srgbClr val="9AA7B5"/>
                      </a:solidFill>
                    </a:lnT>
                    <a:lnB w="9525">
                      <a:solidFill>
                        <a:srgbClr val="9AA7B5"/>
                      </a:solidFill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lang="ko-KR" altLang="en-US" sz="17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고딕" pitchFamily="50" charset="-127"/>
                          <a:ea typeface="나눔고딕" pitchFamily="50" charset="-127"/>
                          <a:cs typeface="Arial" panose="020B0604020202020204" pitchFamily="34" charset="0"/>
                        </a:rPr>
                        <a:t>해당 과거 시점 또는 사례에서 수행된 운영행위는 무엇이었는가?</a:t>
                      </a:r>
                    </a:p>
                  </a:txBody>
                  <a:tcPr marT="60000" marB="60000" anchor="ctr">
                    <a:lnL w="9525">
                      <a:solidFill>
                        <a:srgbClr val="9AA7B5"/>
                      </a:solidFill>
                    </a:lnL>
                    <a:lnR w="9525">
                      <a:solidFill>
                        <a:srgbClr val="9AA7B5"/>
                      </a:solidFill>
                    </a:lnR>
                    <a:lnT w="9525">
                      <a:solidFill>
                        <a:srgbClr val="9AA7B5"/>
                      </a:solidFill>
                    </a:lnT>
                    <a:lnB w="9525">
                      <a:solidFill>
                        <a:srgbClr val="9AA7B5"/>
                      </a:solidFill>
                    </a:lnB>
                    <a:solidFill>
                      <a:srgbClr val="EEF3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9875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lang="ko-KR" altLang="en-US" sz="17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고딕" pitchFamily="50" charset="-127"/>
                          <a:ea typeface="나눔고딕" pitchFamily="50" charset="-127"/>
                          <a:cs typeface="Arial" panose="020B0604020202020204" pitchFamily="34" charset="0"/>
                        </a:rPr>
                        <a:t>CQ4</a:t>
                      </a:r>
                    </a:p>
                  </a:txBody>
                  <a:tcPr marT="60000" marB="60000" anchor="ctr">
                    <a:lnL w="9525">
                      <a:solidFill>
                        <a:srgbClr val="9AA7B5"/>
                      </a:solidFill>
                    </a:lnL>
                    <a:lnR w="9525">
                      <a:solidFill>
                        <a:srgbClr val="9AA7B5"/>
                      </a:solidFill>
                    </a:lnR>
                    <a:lnT w="9525">
                      <a:solidFill>
                        <a:srgbClr val="9AA7B5"/>
                      </a:solidFill>
                    </a:lnT>
                    <a:lnB w="9525">
                      <a:solidFill>
                        <a:srgbClr val="9AA7B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lang="ko-KR" altLang="en-US" sz="17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고딕" pitchFamily="50" charset="-127"/>
                          <a:ea typeface="나눔고딕" pitchFamily="50" charset="-127"/>
                          <a:cs typeface="Arial" panose="020B0604020202020204" pitchFamily="34" charset="0"/>
                        </a:rPr>
                        <a:t>해당 과거 시점 또는 사례의 방류 승인과 승인 내용은 무엇인가?</a:t>
                      </a:r>
                    </a:p>
                  </a:txBody>
                  <a:tcPr marT="60000" marB="60000" anchor="ctr">
                    <a:lnL w="9525">
                      <a:solidFill>
                        <a:srgbClr val="9AA7B5"/>
                      </a:solidFill>
                    </a:lnL>
                    <a:lnR w="9525">
                      <a:solidFill>
                        <a:srgbClr val="9AA7B5"/>
                      </a:solidFill>
                    </a:lnR>
                    <a:lnT w="9525">
                      <a:solidFill>
                        <a:srgbClr val="9AA7B5"/>
                      </a:solidFill>
                    </a:lnT>
                    <a:lnB w="9525">
                      <a:solidFill>
                        <a:srgbClr val="9AA7B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19875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lang="ko-KR" altLang="en-US" sz="17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고딕" pitchFamily="50" charset="-127"/>
                          <a:ea typeface="나눔고딕" pitchFamily="50" charset="-127"/>
                          <a:cs typeface="Arial" panose="020B0604020202020204" pitchFamily="34" charset="0"/>
                        </a:rPr>
                        <a:t>CQ5</a:t>
                      </a:r>
                    </a:p>
                  </a:txBody>
                  <a:tcPr marT="60000" marB="60000" anchor="ctr">
                    <a:lnL w="9525">
                      <a:solidFill>
                        <a:srgbClr val="9AA7B5"/>
                      </a:solidFill>
                    </a:lnL>
                    <a:lnR w="9525">
                      <a:solidFill>
                        <a:srgbClr val="9AA7B5"/>
                      </a:solidFill>
                    </a:lnR>
                    <a:lnT w="9525">
                      <a:solidFill>
                        <a:srgbClr val="9AA7B5"/>
                      </a:solidFill>
                    </a:lnT>
                    <a:lnB w="9525">
                      <a:solidFill>
                        <a:srgbClr val="9AA7B5"/>
                      </a:solidFill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lang="ko-KR" altLang="en-US" sz="17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고딕" pitchFamily="50" charset="-127"/>
                          <a:ea typeface="나눔고딕" pitchFamily="50" charset="-127"/>
                          <a:cs typeface="Arial" panose="020B0604020202020204" pitchFamily="34" charset="0"/>
                        </a:rPr>
                        <a:t>현재 대상 댐에 적용되는 운영기준과 기준값은 무엇인가?</a:t>
                      </a:r>
                    </a:p>
                  </a:txBody>
                  <a:tcPr marT="60000" marB="60000" anchor="ctr">
                    <a:lnL w="9525">
                      <a:solidFill>
                        <a:srgbClr val="9AA7B5"/>
                      </a:solidFill>
                    </a:lnL>
                    <a:lnR w="9525">
                      <a:solidFill>
                        <a:srgbClr val="9AA7B5"/>
                      </a:solidFill>
                    </a:lnR>
                    <a:lnT w="9525">
                      <a:solidFill>
                        <a:srgbClr val="9AA7B5"/>
                      </a:solidFill>
                    </a:lnT>
                    <a:lnB w="9525">
                      <a:solidFill>
                        <a:srgbClr val="9AA7B5"/>
                      </a:solidFill>
                    </a:lnB>
                    <a:solidFill>
                      <a:srgbClr val="EEF3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19875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lang="ko-KR" altLang="en-US" sz="17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고딕" pitchFamily="50" charset="-127"/>
                          <a:ea typeface="나눔고딕" pitchFamily="50" charset="-127"/>
                          <a:cs typeface="Arial" panose="020B0604020202020204" pitchFamily="34" charset="0"/>
                        </a:rPr>
                        <a:t>CQ6</a:t>
                      </a:r>
                    </a:p>
                  </a:txBody>
                  <a:tcPr marT="60000" marB="60000" anchor="ctr">
                    <a:lnL w="9525">
                      <a:solidFill>
                        <a:srgbClr val="9AA7B5"/>
                      </a:solidFill>
                    </a:lnL>
                    <a:lnR w="9525">
                      <a:solidFill>
                        <a:srgbClr val="9AA7B5"/>
                      </a:solidFill>
                    </a:lnR>
                    <a:lnT w="9525">
                      <a:solidFill>
                        <a:srgbClr val="9AA7B5"/>
                      </a:solidFill>
                    </a:lnT>
                    <a:lnB w="9525">
                      <a:solidFill>
                        <a:srgbClr val="9AA7B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lang="ko-KR" altLang="en-US" sz="17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고딕" pitchFamily="50" charset="-127"/>
                          <a:ea typeface="나눔고딕" pitchFamily="50" charset="-127"/>
                          <a:cs typeface="Arial" panose="020B0604020202020204" pitchFamily="34" charset="0"/>
                        </a:rPr>
                        <a:t>위 정보를 확인할 수 있는 공식 자료 또는 근거문서는 무엇인가?</a:t>
                      </a:r>
                    </a:p>
                  </a:txBody>
                  <a:tcPr marT="60000" marB="60000" anchor="ctr">
                    <a:lnL w="9525">
                      <a:solidFill>
                        <a:srgbClr val="9AA7B5"/>
                      </a:solidFill>
                    </a:lnL>
                    <a:lnR w="9525">
                      <a:solidFill>
                        <a:srgbClr val="9AA7B5"/>
                      </a:solidFill>
                    </a:lnR>
                    <a:lnT w="9525">
                      <a:solidFill>
                        <a:srgbClr val="9AA7B5"/>
                      </a:solidFill>
                    </a:lnT>
                    <a:lnB w="9525">
                      <a:solidFill>
                        <a:srgbClr val="9AA7B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pSp>
        <p:nvGrpSpPr>
          <p:cNvPr id="5071" name="그림2 KG 예시"/>
          <p:cNvGrpSpPr/>
          <p:nvPr/>
        </p:nvGrpSpPr>
        <p:grpSpPr>
          <a:xfrm>
            <a:off x="1962915" y="34770564"/>
            <a:ext cx="11361600" cy="6069600"/>
            <a:chOff x="1962915" y="34770564"/>
            <a:chExt cx="11361600" cy="6069600"/>
          </a:xfrm>
        </p:grpSpPr>
        <p:sp>
          <p:nvSpPr>
            <p:cNvPr id="5031" name="도형"/>
            <p:cNvSpPr/>
            <p:nvPr/>
          </p:nvSpPr>
          <p:spPr>
            <a:xfrm>
              <a:off x="2254515" y="34770564"/>
              <a:ext cx="4320000" cy="1317600"/>
            </a:xfrm>
            <a:prstGeom prst="rect">
              <a:avLst/>
            </a:prstGeom>
            <a:solidFill>
              <a:srgbClr val="FFFFFF"/>
            </a:solidFill>
            <a:ln w="22225">
              <a:solidFill>
                <a:srgbClr val="262626"/>
              </a:solidFill>
            </a:ln>
          </p:spPr>
          <p:txBody>
            <a:bodyPr wrap="square" lIns="86400" tIns="43200" rIns="86400" bIns="43200" anchor="ctr">
              <a:noAutofit/>
            </a:bodyPr>
            <a:lstStyle/>
            <a:p>
              <a:endParaRPr lang="ko-KR"/>
            </a:p>
          </p:txBody>
        </p:sp>
        <p:sp>
          <p:nvSpPr>
            <p:cNvPr id="5032" name="도형"/>
            <p:cNvSpPr/>
            <p:nvPr/>
          </p:nvSpPr>
          <p:spPr>
            <a:xfrm>
              <a:off x="2254515" y="34770564"/>
              <a:ext cx="4320000" cy="475200"/>
            </a:xfrm>
            <a:prstGeom prst="rect">
              <a:avLst/>
            </a:prstGeom>
            <a:solidFill>
              <a:srgbClr val="E9EEF5"/>
            </a:solidFill>
            <a:ln w="22225">
              <a:solidFill>
                <a:srgbClr val="262626"/>
              </a:solidFill>
            </a:ln>
          </p:spPr>
          <p:txBody>
            <a:bodyPr wrap="square" lIns="151200" tIns="75600" rIns="151200" bIns="7560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lang="ko-KR" altLang="en-US" sz="1800" b="1" dirty="0">
                  <a:solidFill>
                    <a:srgbClr val="1F4E79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Approval</a:t>
              </a:r>
            </a:p>
          </p:txBody>
        </p:sp>
        <p:sp>
          <p:nvSpPr>
            <p:cNvPr id="5033" name="속성"/>
            <p:cNvSpPr/>
            <p:nvPr/>
          </p:nvSpPr>
          <p:spPr>
            <a:xfrm>
              <a:off x="2254515" y="35267364"/>
              <a:ext cx="4320000" cy="8208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151200" tIns="75600" rIns="151200" bIns="75600" anchor="t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lang="ko-KR" altLang="en-US" sz="1600" b="0" dirty="0">
                  <a:solidFill>
                    <a:srgbClr val="222222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approvalTime</a:t>
              </a:r>
            </a:p>
            <a:p>
              <a:pPr algn="l">
                <a:lnSpc>
                  <a:spcPct val="100000"/>
                </a:lnSpc>
              </a:pPr>
              <a:r>
                <a:rPr lang="ko-KR" altLang="en-US" sz="1600" b="0" dirty="0">
                  <a:solidFill>
                    <a:srgbClr val="222222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approvalContent</a:t>
              </a:r>
            </a:p>
          </p:txBody>
        </p:sp>
        <p:sp>
          <p:nvSpPr>
            <p:cNvPr id="5034" name="도형"/>
            <p:cNvSpPr/>
            <p:nvPr/>
          </p:nvSpPr>
          <p:spPr>
            <a:xfrm>
              <a:off x="8788515" y="34770564"/>
              <a:ext cx="4320000" cy="1620000"/>
            </a:xfrm>
            <a:prstGeom prst="rect">
              <a:avLst/>
            </a:prstGeom>
            <a:solidFill>
              <a:srgbClr val="FFFFFF"/>
            </a:solidFill>
            <a:ln w="22225">
              <a:solidFill>
                <a:srgbClr val="262626"/>
              </a:solidFill>
            </a:ln>
          </p:spPr>
          <p:txBody>
            <a:bodyPr wrap="square" lIns="86400" tIns="43200" rIns="86400" bIns="43200" anchor="ctr">
              <a:noAutofit/>
            </a:bodyPr>
            <a:lstStyle/>
            <a:p>
              <a:endParaRPr lang="ko-KR"/>
            </a:p>
          </p:txBody>
        </p:sp>
        <p:sp>
          <p:nvSpPr>
            <p:cNvPr id="5035" name="도형"/>
            <p:cNvSpPr/>
            <p:nvPr/>
          </p:nvSpPr>
          <p:spPr>
            <a:xfrm>
              <a:off x="8788515" y="34770564"/>
              <a:ext cx="4320000" cy="475200"/>
            </a:xfrm>
            <a:prstGeom prst="rect">
              <a:avLst/>
            </a:prstGeom>
            <a:solidFill>
              <a:srgbClr val="E9EEF5"/>
            </a:solidFill>
            <a:ln w="22225">
              <a:solidFill>
                <a:srgbClr val="262626"/>
              </a:solidFill>
            </a:ln>
          </p:spPr>
          <p:txBody>
            <a:bodyPr wrap="square" lIns="151200" tIns="75600" rIns="151200" bIns="7560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lang="ko-KR" altLang="en-US" sz="1800" b="1" dirty="0">
                  <a:solidFill>
                    <a:srgbClr val="1F4E79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Criterion</a:t>
              </a:r>
            </a:p>
          </p:txBody>
        </p:sp>
        <p:sp>
          <p:nvSpPr>
            <p:cNvPr id="5036" name="속성"/>
            <p:cNvSpPr/>
            <p:nvPr/>
          </p:nvSpPr>
          <p:spPr>
            <a:xfrm>
              <a:off x="8788515" y="35267364"/>
              <a:ext cx="4320000" cy="1123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151200" tIns="75600" rIns="151200" bIns="75600" anchor="t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lang="ko-KR" altLang="en-US" sz="1600" b="0" dirty="0">
                  <a:solidFill>
                    <a:srgbClr val="222222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criterionType</a:t>
              </a:r>
            </a:p>
            <a:p>
              <a:pPr algn="l">
                <a:lnSpc>
                  <a:spcPct val="100000"/>
                </a:lnSpc>
              </a:pPr>
              <a:r>
                <a:rPr lang="ko-KR" altLang="en-US" sz="1600" b="0" dirty="0">
                  <a:solidFill>
                    <a:srgbClr val="222222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criterionValue</a:t>
              </a:r>
            </a:p>
            <a:p>
              <a:pPr algn="l">
                <a:lnSpc>
                  <a:spcPct val="100000"/>
                </a:lnSpc>
              </a:pPr>
              <a:r>
                <a:rPr lang="ko-KR" altLang="en-US" sz="1600" b="0" dirty="0">
                  <a:solidFill>
                    <a:srgbClr val="222222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unit</a:t>
              </a:r>
            </a:p>
          </p:txBody>
        </p:sp>
        <p:sp>
          <p:nvSpPr>
            <p:cNvPr id="5037" name="도형"/>
            <p:cNvSpPr/>
            <p:nvPr/>
          </p:nvSpPr>
          <p:spPr>
            <a:xfrm>
              <a:off x="2254515" y="36995364"/>
              <a:ext cx="4320000" cy="1317600"/>
            </a:xfrm>
            <a:prstGeom prst="rect">
              <a:avLst/>
            </a:prstGeom>
            <a:solidFill>
              <a:srgbClr val="FFFFFF"/>
            </a:solidFill>
            <a:ln w="22225">
              <a:solidFill>
                <a:srgbClr val="262626"/>
              </a:solidFill>
            </a:ln>
          </p:spPr>
          <p:txBody>
            <a:bodyPr wrap="square" lIns="86400" tIns="43200" rIns="86400" bIns="43200" anchor="ctr">
              <a:noAutofit/>
            </a:bodyPr>
            <a:lstStyle/>
            <a:p>
              <a:endParaRPr lang="ko-KR"/>
            </a:p>
          </p:txBody>
        </p:sp>
        <p:sp>
          <p:nvSpPr>
            <p:cNvPr id="5038" name="도형"/>
            <p:cNvSpPr/>
            <p:nvPr/>
          </p:nvSpPr>
          <p:spPr>
            <a:xfrm>
              <a:off x="2254515" y="36995364"/>
              <a:ext cx="4320000" cy="475200"/>
            </a:xfrm>
            <a:prstGeom prst="rect">
              <a:avLst/>
            </a:prstGeom>
            <a:solidFill>
              <a:srgbClr val="E9EEF5"/>
            </a:solidFill>
            <a:ln w="22225">
              <a:solidFill>
                <a:srgbClr val="262626"/>
              </a:solidFill>
            </a:ln>
          </p:spPr>
          <p:txBody>
            <a:bodyPr wrap="square" lIns="151200" tIns="75600" rIns="151200" bIns="7560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lang="ko-KR" altLang="en-US" sz="1800" b="1" dirty="0">
                  <a:solidFill>
                    <a:srgbClr val="1F4E79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Operation</a:t>
              </a:r>
            </a:p>
          </p:txBody>
        </p:sp>
        <p:sp>
          <p:nvSpPr>
            <p:cNvPr id="5039" name="속성"/>
            <p:cNvSpPr/>
            <p:nvPr/>
          </p:nvSpPr>
          <p:spPr>
            <a:xfrm>
              <a:off x="2254515" y="37492164"/>
              <a:ext cx="4320000" cy="8208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151200" tIns="75600" rIns="151200" bIns="75600" anchor="t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lang="ko-KR" altLang="en-US" sz="1600" b="0" dirty="0">
                  <a:solidFill>
                    <a:srgbClr val="222222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operationType</a:t>
              </a:r>
            </a:p>
            <a:p>
              <a:pPr algn="l">
                <a:lnSpc>
                  <a:spcPct val="100000"/>
                </a:lnSpc>
              </a:pPr>
              <a:r>
                <a:rPr lang="ko-KR" altLang="en-US" sz="1600" b="0" dirty="0">
                  <a:solidFill>
                    <a:srgbClr val="222222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operationTime</a:t>
              </a:r>
            </a:p>
          </p:txBody>
        </p:sp>
        <p:sp>
          <p:nvSpPr>
            <p:cNvPr id="5040" name="도형"/>
            <p:cNvSpPr/>
            <p:nvPr/>
          </p:nvSpPr>
          <p:spPr>
            <a:xfrm>
              <a:off x="8788515" y="36995364"/>
              <a:ext cx="4320000" cy="1317600"/>
            </a:xfrm>
            <a:prstGeom prst="rect">
              <a:avLst/>
            </a:prstGeom>
            <a:solidFill>
              <a:srgbClr val="FFFFFF"/>
            </a:solidFill>
            <a:ln w="22225">
              <a:solidFill>
                <a:srgbClr val="262626"/>
              </a:solidFill>
            </a:ln>
          </p:spPr>
          <p:txBody>
            <a:bodyPr wrap="square" lIns="86400" tIns="43200" rIns="86400" bIns="43200" anchor="ctr">
              <a:noAutofit/>
            </a:bodyPr>
            <a:lstStyle/>
            <a:p>
              <a:endParaRPr lang="ko-KR"/>
            </a:p>
          </p:txBody>
        </p:sp>
        <p:sp>
          <p:nvSpPr>
            <p:cNvPr id="5041" name="도형"/>
            <p:cNvSpPr/>
            <p:nvPr/>
          </p:nvSpPr>
          <p:spPr>
            <a:xfrm>
              <a:off x="8788515" y="36995364"/>
              <a:ext cx="4320000" cy="475200"/>
            </a:xfrm>
            <a:prstGeom prst="rect">
              <a:avLst/>
            </a:prstGeom>
            <a:solidFill>
              <a:srgbClr val="E9EEF5"/>
            </a:solidFill>
            <a:ln w="22225">
              <a:solidFill>
                <a:srgbClr val="262626"/>
              </a:solidFill>
            </a:ln>
          </p:spPr>
          <p:txBody>
            <a:bodyPr wrap="square" lIns="151200" tIns="75600" rIns="151200" bIns="7560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lang="ko-KR" altLang="en-US" sz="1800" b="1" dirty="0">
                  <a:solidFill>
                    <a:srgbClr val="1F4E79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Dam</a:t>
              </a:r>
            </a:p>
          </p:txBody>
        </p:sp>
        <p:sp>
          <p:nvSpPr>
            <p:cNvPr id="5042" name="속성"/>
            <p:cNvSpPr/>
            <p:nvPr/>
          </p:nvSpPr>
          <p:spPr>
            <a:xfrm>
              <a:off x="8788515" y="37492164"/>
              <a:ext cx="4320000" cy="8208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151200" tIns="75600" rIns="151200" bIns="75600" anchor="t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lang="ko-KR" altLang="en-US" sz="1600" b="0" dirty="0">
                  <a:solidFill>
                    <a:srgbClr val="222222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damName</a:t>
              </a:r>
            </a:p>
            <a:p>
              <a:pPr algn="l">
                <a:lnSpc>
                  <a:spcPct val="100000"/>
                </a:lnSpc>
              </a:pPr>
              <a:r>
                <a:rPr lang="ko-KR" altLang="en-US" sz="1600" b="0" dirty="0">
                  <a:solidFill>
                    <a:srgbClr val="222222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damType</a:t>
              </a:r>
            </a:p>
          </p:txBody>
        </p:sp>
        <p:sp>
          <p:nvSpPr>
            <p:cNvPr id="5043" name="도형"/>
            <p:cNvSpPr/>
            <p:nvPr/>
          </p:nvSpPr>
          <p:spPr>
            <a:xfrm>
              <a:off x="2254515" y="38917764"/>
              <a:ext cx="4320000" cy="1620000"/>
            </a:xfrm>
            <a:prstGeom prst="rect">
              <a:avLst/>
            </a:prstGeom>
            <a:solidFill>
              <a:srgbClr val="FFFFFF"/>
            </a:solidFill>
            <a:ln w="22225">
              <a:solidFill>
                <a:srgbClr val="262626"/>
              </a:solidFill>
            </a:ln>
          </p:spPr>
          <p:txBody>
            <a:bodyPr wrap="square" lIns="86400" tIns="43200" rIns="86400" bIns="43200" anchor="ctr">
              <a:noAutofit/>
            </a:bodyPr>
            <a:lstStyle/>
            <a:p>
              <a:endParaRPr lang="ko-KR"/>
            </a:p>
          </p:txBody>
        </p:sp>
        <p:sp>
          <p:nvSpPr>
            <p:cNvPr id="5044" name="도형"/>
            <p:cNvSpPr/>
            <p:nvPr/>
          </p:nvSpPr>
          <p:spPr>
            <a:xfrm>
              <a:off x="2254515" y="38917764"/>
              <a:ext cx="4320000" cy="475200"/>
            </a:xfrm>
            <a:prstGeom prst="rect">
              <a:avLst/>
            </a:prstGeom>
            <a:solidFill>
              <a:srgbClr val="E9EEF5"/>
            </a:solidFill>
            <a:ln w="22225">
              <a:solidFill>
                <a:srgbClr val="262626"/>
              </a:solidFill>
            </a:ln>
          </p:spPr>
          <p:txBody>
            <a:bodyPr wrap="square" lIns="151200" tIns="75600" rIns="151200" bIns="7560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lang="ko-KR" altLang="en-US" sz="1800" b="1" dirty="0">
                  <a:solidFill>
                    <a:srgbClr val="1F4E79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EvidenceSource</a:t>
              </a:r>
            </a:p>
          </p:txBody>
        </p:sp>
        <p:sp>
          <p:nvSpPr>
            <p:cNvPr id="5045" name="속성"/>
            <p:cNvSpPr/>
            <p:nvPr/>
          </p:nvSpPr>
          <p:spPr>
            <a:xfrm>
              <a:off x="2254515" y="39414564"/>
              <a:ext cx="4320000" cy="1123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151200" tIns="75600" rIns="151200" bIns="75600" anchor="t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lang="ko-KR" altLang="en-US" sz="1600" b="0" dirty="0">
                  <a:solidFill>
                    <a:srgbClr val="222222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sourceTitle</a:t>
              </a:r>
            </a:p>
            <a:p>
              <a:pPr algn="l">
                <a:lnSpc>
                  <a:spcPct val="100000"/>
                </a:lnSpc>
              </a:pPr>
              <a:r>
                <a:rPr lang="ko-KR" altLang="en-US" sz="1600" b="0" dirty="0">
                  <a:solidFill>
                    <a:srgbClr val="222222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sourceType</a:t>
              </a:r>
            </a:p>
            <a:p>
              <a:pPr algn="l">
                <a:lnSpc>
                  <a:spcPct val="100000"/>
                </a:lnSpc>
              </a:pPr>
              <a:r>
                <a:rPr lang="ko-KR" altLang="en-US" sz="1600" b="0" dirty="0">
                  <a:solidFill>
                    <a:srgbClr val="222222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sourceLocator</a:t>
              </a:r>
            </a:p>
          </p:txBody>
        </p:sp>
        <p:sp>
          <p:nvSpPr>
            <p:cNvPr id="5046" name="도형"/>
            <p:cNvSpPr/>
            <p:nvPr/>
          </p:nvSpPr>
          <p:spPr>
            <a:xfrm>
              <a:off x="8788515" y="38917764"/>
              <a:ext cx="4320000" cy="1317600"/>
            </a:xfrm>
            <a:prstGeom prst="rect">
              <a:avLst/>
            </a:prstGeom>
            <a:solidFill>
              <a:srgbClr val="FFFFFF"/>
            </a:solidFill>
            <a:ln w="22225">
              <a:solidFill>
                <a:srgbClr val="262626"/>
              </a:solidFill>
            </a:ln>
          </p:spPr>
          <p:txBody>
            <a:bodyPr wrap="square" lIns="86400" tIns="43200" rIns="86400" bIns="43200" anchor="ctr">
              <a:noAutofit/>
            </a:bodyPr>
            <a:lstStyle/>
            <a:p>
              <a:endParaRPr lang="ko-KR"/>
            </a:p>
          </p:txBody>
        </p:sp>
        <p:sp>
          <p:nvSpPr>
            <p:cNvPr id="5047" name="도형"/>
            <p:cNvSpPr/>
            <p:nvPr/>
          </p:nvSpPr>
          <p:spPr>
            <a:xfrm>
              <a:off x="8788515" y="38917764"/>
              <a:ext cx="4320000" cy="475200"/>
            </a:xfrm>
            <a:prstGeom prst="rect">
              <a:avLst/>
            </a:prstGeom>
            <a:solidFill>
              <a:srgbClr val="E9EEF5"/>
            </a:solidFill>
            <a:ln w="22225">
              <a:solidFill>
                <a:srgbClr val="262626"/>
              </a:solidFill>
            </a:ln>
          </p:spPr>
          <p:txBody>
            <a:bodyPr wrap="square" lIns="151200" tIns="75600" rIns="151200" bIns="7560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lang="ko-KR" altLang="en-US" sz="1800" b="1" dirty="0">
                  <a:solidFill>
                    <a:srgbClr val="1F4E79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HydrometeorologicalState</a:t>
              </a:r>
            </a:p>
          </p:txBody>
        </p:sp>
        <p:sp>
          <p:nvSpPr>
            <p:cNvPr id="5048" name="속성"/>
            <p:cNvSpPr/>
            <p:nvPr/>
          </p:nvSpPr>
          <p:spPr>
            <a:xfrm>
              <a:off x="8788515" y="39414564"/>
              <a:ext cx="4320000" cy="8208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151200" tIns="75600" rIns="151200" bIns="75600" anchor="t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lang="ko-KR" altLang="en-US" sz="1600" b="0" dirty="0">
                  <a:solidFill>
                    <a:srgbClr val="222222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variableType</a:t>
              </a:r>
            </a:p>
            <a:p>
              <a:pPr algn="l">
                <a:lnSpc>
                  <a:spcPct val="100000"/>
                </a:lnSpc>
              </a:pPr>
              <a:r>
                <a:rPr lang="ko-KR" altLang="en-US" sz="1600" b="0" dirty="0">
                  <a:solidFill>
                    <a:srgbClr val="222222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stationCode</a:t>
              </a:r>
            </a:p>
          </p:txBody>
        </p:sp>
        <p:cxnSp>
          <p:nvCxnSpPr>
            <p:cNvPr id="5049" name="선"/>
            <p:cNvCxnSpPr/>
            <p:nvPr/>
          </p:nvCxnSpPr>
          <p:spPr>
            <a:xfrm>
              <a:off x="4630515" y="36109764"/>
              <a:ext cx="0" cy="864000"/>
            </a:xfrm>
            <a:prstGeom prst="line">
              <a:avLst/>
            </a:prstGeom>
            <a:ln w="31750">
              <a:solidFill>
                <a:srgbClr val="3B4A63"/>
              </a:solidFill>
              <a:tailEnd type="triangle" w="med" len="med"/>
            </a:ln>
          </p:spPr>
        </p:cxnSp>
        <p:sp>
          <p:nvSpPr>
            <p:cNvPr id="5050" name="글상자"/>
            <p:cNvSpPr/>
            <p:nvPr/>
          </p:nvSpPr>
          <p:spPr>
            <a:xfrm>
              <a:off x="4885395" y="36314964"/>
              <a:ext cx="1218240" cy="3024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wrap="square" lIns="21600" tIns="10800" rIns="21600" bIns="1080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lang="ko-KR" altLang="en-US" sz="1600" b="0" dirty="0">
                  <a:solidFill>
                    <a:srgbClr val="222222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authorizes</a:t>
              </a:r>
            </a:p>
          </p:txBody>
        </p:sp>
        <p:cxnSp>
          <p:nvCxnSpPr>
            <p:cNvPr id="5051" name="선"/>
            <p:cNvCxnSpPr/>
            <p:nvPr/>
          </p:nvCxnSpPr>
          <p:spPr>
            <a:xfrm>
              <a:off x="6596115" y="35742564"/>
              <a:ext cx="2170800" cy="1684800"/>
            </a:xfrm>
            <a:prstGeom prst="line">
              <a:avLst/>
            </a:prstGeom>
            <a:ln w="31750">
              <a:solidFill>
                <a:srgbClr val="3B4A63"/>
              </a:solidFill>
              <a:tailEnd type="triangle" w="med" len="med"/>
            </a:ln>
          </p:spPr>
        </p:cxnSp>
        <p:sp>
          <p:nvSpPr>
            <p:cNvPr id="5052" name="글상자"/>
            <p:cNvSpPr/>
            <p:nvPr/>
          </p:nvSpPr>
          <p:spPr>
            <a:xfrm>
              <a:off x="7089783" y="36239364"/>
              <a:ext cx="1345464" cy="3024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wrap="square" lIns="21600" tIns="10800" rIns="21600" bIns="1080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lang="ko-KR" altLang="en-US" sz="1600" b="0" dirty="0">
                  <a:solidFill>
                    <a:srgbClr val="222222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concernsDam</a:t>
              </a:r>
            </a:p>
          </p:txBody>
        </p:sp>
        <p:cxnSp>
          <p:nvCxnSpPr>
            <p:cNvPr id="5053" name="선"/>
            <p:cNvCxnSpPr/>
            <p:nvPr/>
          </p:nvCxnSpPr>
          <p:spPr>
            <a:xfrm>
              <a:off x="6596115" y="37967364"/>
              <a:ext cx="2170800" cy="0"/>
            </a:xfrm>
            <a:prstGeom prst="line">
              <a:avLst/>
            </a:prstGeom>
            <a:ln w="31750">
              <a:solidFill>
                <a:srgbClr val="3B4A63"/>
              </a:solidFill>
              <a:tailEnd type="triangle" w="med" len="med"/>
            </a:ln>
          </p:spPr>
        </p:cxnSp>
        <p:sp>
          <p:nvSpPr>
            <p:cNvPr id="5054" name="글상자"/>
            <p:cNvSpPr/>
            <p:nvPr/>
          </p:nvSpPr>
          <p:spPr>
            <a:xfrm>
              <a:off x="6729225" y="37596976"/>
              <a:ext cx="1896537" cy="205199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wrap="square" lIns="21600" tIns="10800" rIns="21600" bIns="1080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lang="ko-KR" altLang="en-US" sz="1600" b="0" dirty="0">
                  <a:solidFill>
                    <a:srgbClr val="222222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performedOnDam</a:t>
              </a:r>
            </a:p>
          </p:txBody>
        </p:sp>
        <p:cxnSp>
          <p:nvCxnSpPr>
            <p:cNvPr id="5055" name="선"/>
            <p:cNvCxnSpPr/>
            <p:nvPr/>
          </p:nvCxnSpPr>
          <p:spPr>
            <a:xfrm>
              <a:off x="11164515" y="36412164"/>
              <a:ext cx="0" cy="561600"/>
            </a:xfrm>
            <a:prstGeom prst="line">
              <a:avLst/>
            </a:prstGeom>
            <a:ln w="31750">
              <a:solidFill>
                <a:srgbClr val="3B4A63"/>
              </a:solidFill>
              <a:tailEnd type="triangle" w="med" len="med"/>
            </a:ln>
          </p:spPr>
        </p:cxnSp>
        <p:sp>
          <p:nvSpPr>
            <p:cNvPr id="5056" name="글상자"/>
            <p:cNvSpPr/>
            <p:nvPr/>
          </p:nvSpPr>
          <p:spPr>
            <a:xfrm>
              <a:off x="11346171" y="36617364"/>
              <a:ext cx="1472688" cy="3024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wrap="square" lIns="21600" tIns="10800" rIns="21600" bIns="1080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lang="ko-KR" altLang="en-US" sz="1600" b="0" dirty="0">
                  <a:solidFill>
                    <a:srgbClr val="222222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appliesToDam</a:t>
              </a:r>
            </a:p>
          </p:txBody>
        </p:sp>
        <p:cxnSp>
          <p:nvCxnSpPr>
            <p:cNvPr id="5057" name="선"/>
            <p:cNvCxnSpPr/>
            <p:nvPr/>
          </p:nvCxnSpPr>
          <p:spPr>
            <a:xfrm>
              <a:off x="11164515" y="38334564"/>
              <a:ext cx="0" cy="561600"/>
            </a:xfrm>
            <a:prstGeom prst="line">
              <a:avLst/>
            </a:prstGeom>
            <a:ln w="31750">
              <a:solidFill>
                <a:srgbClr val="3B4A63"/>
              </a:solidFill>
              <a:tailEnd type="triangle" w="med" len="med"/>
            </a:ln>
          </p:spPr>
        </p:cxnSp>
        <p:sp>
          <p:nvSpPr>
            <p:cNvPr id="5058" name="글상자"/>
            <p:cNvSpPr/>
            <p:nvPr/>
          </p:nvSpPr>
          <p:spPr>
            <a:xfrm>
              <a:off x="8547891" y="38539764"/>
              <a:ext cx="3073248" cy="3024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wrap="square" lIns="21600" tIns="10800" rIns="21600" bIns="1080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lang="ko-KR" altLang="en-US" sz="1600" b="0" dirty="0">
                  <a:solidFill>
                    <a:srgbClr val="222222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hasHydrometeorologicalState</a:t>
              </a:r>
            </a:p>
          </p:txBody>
        </p:sp>
        <p:cxnSp>
          <p:nvCxnSpPr>
            <p:cNvPr id="5059" name="선"/>
            <p:cNvCxnSpPr/>
            <p:nvPr/>
          </p:nvCxnSpPr>
          <p:spPr>
            <a:xfrm>
              <a:off x="4630515" y="38334564"/>
              <a:ext cx="0" cy="561600"/>
            </a:xfrm>
            <a:prstGeom prst="line">
              <a:avLst/>
            </a:prstGeom>
            <a:ln w="31750">
              <a:solidFill>
                <a:srgbClr val="3B4A63"/>
              </a:solidFill>
              <a:tailEnd type="triangle" w="med" len="med"/>
            </a:ln>
          </p:spPr>
        </p:cxnSp>
        <p:sp>
          <p:nvSpPr>
            <p:cNvPr id="5060" name="글상자"/>
            <p:cNvSpPr/>
            <p:nvPr/>
          </p:nvSpPr>
          <p:spPr>
            <a:xfrm>
              <a:off x="4713783" y="38539764"/>
              <a:ext cx="1345464" cy="3024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wrap="square" lIns="21600" tIns="10800" rIns="21600" bIns="1080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lang="ko-KR" altLang="en-US" sz="1600" b="0" dirty="0">
                  <a:solidFill>
                    <a:srgbClr val="222222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supportedBy</a:t>
              </a:r>
            </a:p>
          </p:txBody>
        </p:sp>
        <p:cxnSp>
          <p:nvCxnSpPr>
            <p:cNvPr id="5061" name="선"/>
            <p:cNvCxnSpPr/>
            <p:nvPr/>
          </p:nvCxnSpPr>
          <p:spPr>
            <a:xfrm flipH="1">
              <a:off x="6596115" y="39889764"/>
              <a:ext cx="2170800" cy="0"/>
            </a:xfrm>
            <a:prstGeom prst="line">
              <a:avLst/>
            </a:prstGeom>
            <a:ln w="31750">
              <a:solidFill>
                <a:srgbClr val="3B4A63"/>
              </a:solidFill>
              <a:tailEnd type="triangle" w="med" len="med"/>
            </a:ln>
          </p:spPr>
        </p:cxnSp>
        <p:sp>
          <p:nvSpPr>
            <p:cNvPr id="5062" name="글상자"/>
            <p:cNvSpPr/>
            <p:nvPr/>
          </p:nvSpPr>
          <p:spPr>
            <a:xfrm>
              <a:off x="6981783" y="39479364"/>
              <a:ext cx="1345464" cy="3024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wrap="square" lIns="21600" tIns="10800" rIns="21600" bIns="1080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lang="ko-KR" altLang="en-US" sz="1600" b="0" dirty="0">
                  <a:solidFill>
                    <a:srgbClr val="222222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supportedBy</a:t>
              </a:r>
            </a:p>
          </p:txBody>
        </p:sp>
        <p:cxnSp>
          <p:nvCxnSpPr>
            <p:cNvPr id="5063" name="선"/>
            <p:cNvCxnSpPr/>
            <p:nvPr/>
          </p:nvCxnSpPr>
          <p:spPr>
            <a:xfrm flipH="1">
              <a:off x="1962915" y="35526564"/>
              <a:ext cx="291600" cy="0"/>
            </a:xfrm>
            <a:prstGeom prst="line">
              <a:avLst/>
            </a:prstGeom>
            <a:ln w="31750">
              <a:solidFill>
                <a:srgbClr val="3B4A63"/>
              </a:solidFill>
            </a:ln>
          </p:spPr>
        </p:cxnSp>
        <p:cxnSp>
          <p:nvCxnSpPr>
            <p:cNvPr id="5064" name="선"/>
            <p:cNvCxnSpPr/>
            <p:nvPr/>
          </p:nvCxnSpPr>
          <p:spPr>
            <a:xfrm>
              <a:off x="1962915" y="35526564"/>
              <a:ext cx="0" cy="4687200"/>
            </a:xfrm>
            <a:prstGeom prst="line">
              <a:avLst/>
            </a:prstGeom>
            <a:ln w="31750">
              <a:solidFill>
                <a:srgbClr val="3B4A63"/>
              </a:solidFill>
            </a:ln>
          </p:spPr>
        </p:cxnSp>
        <p:cxnSp>
          <p:nvCxnSpPr>
            <p:cNvPr id="5065" name="선"/>
            <p:cNvCxnSpPr/>
            <p:nvPr/>
          </p:nvCxnSpPr>
          <p:spPr>
            <a:xfrm>
              <a:off x="1962915" y="40213764"/>
              <a:ext cx="270000" cy="0"/>
            </a:xfrm>
            <a:prstGeom prst="line">
              <a:avLst/>
            </a:prstGeom>
            <a:ln w="31750">
              <a:solidFill>
                <a:srgbClr val="3B4A63"/>
              </a:solidFill>
              <a:tailEnd type="triangle" w="med" len="med"/>
            </a:ln>
          </p:spPr>
        </p:cxnSp>
        <p:cxnSp>
          <p:nvCxnSpPr>
            <p:cNvPr id="5066" name="선"/>
            <p:cNvCxnSpPr/>
            <p:nvPr/>
          </p:nvCxnSpPr>
          <p:spPr>
            <a:xfrm>
              <a:off x="13108515" y="35526564"/>
              <a:ext cx="216000" cy="0"/>
            </a:xfrm>
            <a:prstGeom prst="line">
              <a:avLst/>
            </a:prstGeom>
            <a:ln w="31750">
              <a:solidFill>
                <a:srgbClr val="3B4A63"/>
              </a:solidFill>
            </a:ln>
          </p:spPr>
        </p:cxnSp>
        <p:cxnSp>
          <p:nvCxnSpPr>
            <p:cNvPr id="5067" name="선"/>
            <p:cNvCxnSpPr/>
            <p:nvPr/>
          </p:nvCxnSpPr>
          <p:spPr>
            <a:xfrm>
              <a:off x="13324515" y="35526564"/>
              <a:ext cx="0" cy="5313600"/>
            </a:xfrm>
            <a:prstGeom prst="line">
              <a:avLst/>
            </a:prstGeom>
            <a:ln w="31750">
              <a:solidFill>
                <a:srgbClr val="3B4A63"/>
              </a:solidFill>
            </a:ln>
          </p:spPr>
        </p:cxnSp>
        <p:cxnSp>
          <p:nvCxnSpPr>
            <p:cNvPr id="5068" name="선"/>
            <p:cNvCxnSpPr/>
            <p:nvPr/>
          </p:nvCxnSpPr>
          <p:spPr>
            <a:xfrm flipH="1">
              <a:off x="5494515" y="40840164"/>
              <a:ext cx="7830000" cy="0"/>
            </a:xfrm>
            <a:prstGeom prst="line">
              <a:avLst/>
            </a:prstGeom>
            <a:ln w="31750">
              <a:solidFill>
                <a:srgbClr val="3B4A63"/>
              </a:solidFill>
            </a:ln>
          </p:spPr>
        </p:cxnSp>
        <p:cxnSp>
          <p:nvCxnSpPr>
            <p:cNvPr id="5069" name="선"/>
            <p:cNvCxnSpPr/>
            <p:nvPr/>
          </p:nvCxnSpPr>
          <p:spPr>
            <a:xfrm flipV="1">
              <a:off x="5494515" y="40559364"/>
              <a:ext cx="0" cy="280800"/>
            </a:xfrm>
            <a:prstGeom prst="line">
              <a:avLst/>
            </a:prstGeom>
            <a:ln w="31750">
              <a:solidFill>
                <a:srgbClr val="3B4A63"/>
              </a:solidFill>
              <a:tailEnd type="triangle" w="med" len="med"/>
            </a:ln>
          </p:spPr>
        </p:cxnSp>
      </p:grpSp>
      <p:sp>
        <p:nvSpPr>
          <p:cNvPr id="1018" name="본문"/>
          <p:cNvSpPr txBox="1"/>
          <p:nvPr/>
        </p:nvSpPr>
        <p:spPr>
          <a:xfrm>
            <a:off x="597946" y="41267364"/>
            <a:ext cx="14113138" cy="520000"/>
          </a:xfrm>
          <a:prstGeom prst="rect">
            <a:avLst/>
          </a:prstGeom>
          <a:noFill/>
          <a:ln>
            <a:noFill/>
          </a:ln>
        </p:spPr>
        <p:txBody>
          <a:bodyPr wrap="square" lIns="66158" tIns="33079" rIns="66158" bIns="33079" anchor="t">
            <a:noAutofit/>
          </a:bodyPr>
          <a:lstStyle/>
          <a:p>
            <a:pPr marL="0" indent="0" algn="ctr">
              <a:lnSpc>
                <a:spcPct val="118000"/>
              </a:lnSpc>
              <a:spcAft>
                <a:spcPts val="600"/>
              </a:spcAft>
              <a:buNone/>
            </a:pPr>
            <a:r>
              <a:rPr lang="ko-KR" altLang="en-US" sz="22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그림 2. Ontology: Class 6개, 관계 9개, Class별 Data Property</a:t>
            </a:r>
          </a:p>
        </p:txBody>
      </p:sp>
      <p:sp>
        <p:nvSpPr>
          <p:cNvPr id="1019" name="직사각형 1"/>
          <p:cNvSpPr/>
          <p:nvPr/>
        </p:nvSpPr>
        <p:spPr>
          <a:xfrm>
            <a:off x="15691431" y="6350000"/>
            <a:ext cx="13943667" cy="1023024"/>
          </a:xfrm>
          <a:prstGeom prst="rect">
            <a:avLst/>
          </a:prstGeom>
          <a:solidFill>
            <a:schemeClr val="accent1">
              <a:lumMod val="75000"/>
            </a:schemeClr>
          </a:solidFill>
          <a:ln w="9525">
            <a:noFill/>
            <a:miter lim="800000"/>
            <a:headEnd/>
            <a:tailEnd/>
          </a:ln>
        </p:spPr>
        <p:txBody>
          <a:bodyPr wrap="square" lIns="222728" tIns="111366" rIns="222728" bIns="111366" anchor="ctr"/>
          <a:lstStyle/>
          <a:p>
            <a:pPr defTabSz="2048653"/>
            <a:r>
              <a:rPr lang="ko-KR" altLang="en-US" sz="4800" b="1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고딕 ExtraBold" panose="020D0904000000000000" pitchFamily="50" charset="-127"/>
                <a:ea typeface="나눔고딕 ExtraBold" panose="020D0904000000000000" pitchFamily="50" charset="-127"/>
                <a:cs typeface="Arial Unicode MS" panose="020B0604020202020204" pitchFamily="50" charset="-127"/>
              </a:rPr>
              <a:t>단계 2. KG 구축</a:t>
            </a:r>
          </a:p>
        </p:txBody>
      </p:sp>
      <p:sp>
        <p:nvSpPr>
          <p:cNvPr id="1020" name="본문"/>
          <p:cNvSpPr txBox="1"/>
          <p:nvPr/>
        </p:nvSpPr>
        <p:spPr>
          <a:xfrm>
            <a:off x="15570184" y="7493024"/>
            <a:ext cx="14113138" cy="1045785"/>
          </a:xfrm>
          <a:prstGeom prst="rect">
            <a:avLst/>
          </a:prstGeom>
          <a:noFill/>
          <a:ln>
            <a:noFill/>
          </a:ln>
        </p:spPr>
        <p:txBody>
          <a:bodyPr wrap="square" lIns="66158" tIns="33079" rIns="66158" bIns="33079" anchor="t">
            <a:noAutofit/>
          </a:bodyPr>
          <a:lstStyle/>
          <a:p>
            <a:pPr marL="334726" indent="-334726">
              <a:lnSpc>
                <a:spcPct val="118000"/>
              </a:lnSpc>
              <a:spcAft>
                <a:spcPts val="600"/>
              </a:spcAft>
              <a:buBlip>
                <a:blip r:embed="rId4"/>
              </a:buBlip>
            </a:pPr>
            <a:r>
              <a:rPr lang="ko-KR" altLang="en-US" sz="23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자료의 형태에 맞게 </a:t>
            </a:r>
            <a:r>
              <a:rPr lang="ko-KR" altLang="en-US" sz="2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6단계</a:t>
            </a:r>
            <a:r>
              <a:rPr lang="ko-KR" altLang="en-US" sz="23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로 처리하여 Ontology에 맞는 개체와 관계로 구축함</a:t>
            </a:r>
          </a:p>
          <a:p>
            <a:pPr marL="334726" indent="-334726">
              <a:lnSpc>
                <a:spcPct val="118000"/>
              </a:lnSpc>
              <a:spcAft>
                <a:spcPts val="600"/>
              </a:spcAft>
              <a:buBlip>
                <a:blip r:embed="rId4"/>
              </a:buBlip>
            </a:pPr>
            <a:r>
              <a:rPr lang="ko-KR" altLang="en-US" sz="23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측정값 전체와 규정 원문은 KG 밖 저장소에 두고, KG에는 </a:t>
            </a:r>
            <a:r>
              <a:rPr lang="ko-KR" altLang="en-US" sz="2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찾아가는 키</a:t>
            </a:r>
            <a:r>
              <a:rPr lang="ko-KR" altLang="en-US" sz="23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만 저장함</a:t>
            </a:r>
          </a:p>
        </p:txBody>
      </p:sp>
      <p:grpSp>
        <p:nvGrpSpPr>
          <p:cNvPr id="5085" name="그림 KG 구축 6단계"/>
          <p:cNvGrpSpPr/>
          <p:nvPr/>
        </p:nvGrpSpPr>
        <p:grpSpPr>
          <a:xfrm>
            <a:off x="17226753" y="8538809"/>
            <a:ext cx="10800000" cy="3240000"/>
            <a:chOff x="17226753" y="8538809"/>
            <a:chExt cx="10800000" cy="3240000"/>
          </a:xfrm>
        </p:grpSpPr>
        <p:sp>
          <p:nvSpPr>
            <p:cNvPr id="5072" name="도형"/>
            <p:cNvSpPr/>
            <p:nvPr/>
          </p:nvSpPr>
          <p:spPr>
            <a:xfrm>
              <a:off x="17226753" y="8538809"/>
              <a:ext cx="3240000" cy="1350000"/>
            </a:xfrm>
            <a:prstGeom prst="roundRect">
              <a:avLst>
                <a:gd name="adj" fmla="val 6000"/>
              </a:avLst>
            </a:prstGeom>
            <a:solidFill>
              <a:srgbClr val="E9EEF5"/>
            </a:solidFill>
            <a:ln w="22225">
              <a:solidFill>
                <a:srgbClr val="262626"/>
              </a:solidFill>
            </a:ln>
          </p:spPr>
          <p:txBody>
            <a:bodyPr wrap="square" lIns="86400" tIns="43200" rIns="86400" bIns="4320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lang="ko-KR" altLang="en-US" sz="1800" b="1" dirty="0">
                  <a:solidFill>
                    <a:srgbClr val="1F3A5F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1 전처리</a:t>
              </a:r>
            </a:p>
            <a:p>
              <a:pPr algn="ctr">
                <a:lnSpc>
                  <a:spcPct val="100000"/>
                </a:lnSpc>
              </a:pPr>
              <a:r>
                <a:rPr lang="ko-KR" altLang="en-US" sz="1600" b="0" dirty="0">
                  <a:solidFill>
                    <a:srgbClr val="222222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중복·표기 정리, 대상 댐 선택</a:t>
              </a:r>
            </a:p>
          </p:txBody>
        </p:sp>
        <p:sp>
          <p:nvSpPr>
            <p:cNvPr id="5073" name="도형"/>
            <p:cNvSpPr/>
            <p:nvPr/>
          </p:nvSpPr>
          <p:spPr>
            <a:xfrm>
              <a:off x="21006753" y="8538809"/>
              <a:ext cx="3240000" cy="1350000"/>
            </a:xfrm>
            <a:prstGeom prst="roundRect">
              <a:avLst>
                <a:gd name="adj" fmla="val 6000"/>
              </a:avLst>
            </a:prstGeom>
            <a:solidFill>
              <a:srgbClr val="E9EEF5"/>
            </a:solidFill>
            <a:ln w="22225">
              <a:solidFill>
                <a:srgbClr val="262626"/>
              </a:solidFill>
            </a:ln>
          </p:spPr>
          <p:txBody>
            <a:bodyPr wrap="square" lIns="86400" tIns="43200" rIns="86400" bIns="4320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lang="ko-KR" altLang="en-US" sz="1800" b="1" dirty="0">
                  <a:solidFill>
                    <a:srgbClr val="1F3A5F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2 구조화 자료 매핑</a:t>
              </a:r>
            </a:p>
            <a:p>
              <a:pPr algn="ctr">
                <a:lnSpc>
                  <a:spcPct val="100000"/>
                </a:lnSpc>
              </a:pPr>
              <a:r>
                <a:rPr lang="ko-KR" altLang="en-US" sz="1600" b="0" dirty="0">
                  <a:solidFill>
                    <a:srgbClr val="222222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표의 열·행을 속성·개체로 옮김</a:t>
              </a:r>
            </a:p>
          </p:txBody>
        </p:sp>
        <p:sp>
          <p:nvSpPr>
            <p:cNvPr id="5074" name="도형"/>
            <p:cNvSpPr/>
            <p:nvPr/>
          </p:nvSpPr>
          <p:spPr>
            <a:xfrm>
              <a:off x="24786753" y="8538809"/>
              <a:ext cx="3240000" cy="1350000"/>
            </a:xfrm>
            <a:prstGeom prst="roundRect">
              <a:avLst>
                <a:gd name="adj" fmla="val 6000"/>
              </a:avLst>
            </a:prstGeom>
            <a:solidFill>
              <a:srgbClr val="E9EEF5"/>
            </a:solidFill>
            <a:ln w="22225">
              <a:solidFill>
                <a:srgbClr val="262626"/>
              </a:solidFill>
            </a:ln>
          </p:spPr>
          <p:txBody>
            <a:bodyPr wrap="square" lIns="86400" tIns="43200" rIns="86400" bIns="4320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lang="ko-KR" altLang="en-US" sz="1800" b="1" dirty="0">
                  <a:solidFill>
                    <a:srgbClr val="1F3A5F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3 문서 자료 추출</a:t>
              </a:r>
            </a:p>
            <a:p>
              <a:pPr algn="ctr">
                <a:lnSpc>
                  <a:spcPct val="100000"/>
                </a:lnSpc>
              </a:pPr>
              <a:r>
                <a:rPr lang="ko-KR" altLang="en-US" sz="1600" b="0" dirty="0">
                  <a:solidFill>
                    <a:srgbClr val="222222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글 속의 값을 규칙으로 추출</a:t>
              </a:r>
            </a:p>
          </p:txBody>
        </p:sp>
        <p:sp>
          <p:nvSpPr>
            <p:cNvPr id="5075" name="도형"/>
            <p:cNvSpPr/>
            <p:nvPr/>
          </p:nvSpPr>
          <p:spPr>
            <a:xfrm>
              <a:off x="17226753" y="10428809"/>
              <a:ext cx="3240000" cy="1350000"/>
            </a:xfrm>
            <a:prstGeom prst="roundRect">
              <a:avLst>
                <a:gd name="adj" fmla="val 6000"/>
              </a:avLst>
            </a:prstGeom>
            <a:solidFill>
              <a:srgbClr val="E9EEF5"/>
            </a:solidFill>
            <a:ln w="22225">
              <a:solidFill>
                <a:srgbClr val="262626"/>
              </a:solidFill>
            </a:ln>
          </p:spPr>
          <p:txBody>
            <a:bodyPr wrap="square" lIns="86400" tIns="43200" rIns="86400" bIns="4320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lang="ko-KR" altLang="en-US" sz="1800" b="1" dirty="0">
                  <a:solidFill>
                    <a:srgbClr val="1F3A5F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4 관계 연결</a:t>
              </a:r>
            </a:p>
            <a:p>
              <a:pPr algn="ctr">
                <a:lnSpc>
                  <a:spcPct val="100000"/>
                </a:lnSpc>
              </a:pPr>
              <a:r>
                <a:rPr lang="ko-KR" altLang="en-US" sz="1600" b="0" dirty="0">
                  <a:solidFill>
                    <a:srgbClr val="222222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값이 일치하는 개체 쌍에 관계 생성</a:t>
              </a:r>
            </a:p>
          </p:txBody>
        </p:sp>
        <p:sp>
          <p:nvSpPr>
            <p:cNvPr id="5076" name="도형"/>
            <p:cNvSpPr/>
            <p:nvPr/>
          </p:nvSpPr>
          <p:spPr>
            <a:xfrm>
              <a:off x="21006753" y="10428809"/>
              <a:ext cx="3240000" cy="1350000"/>
            </a:xfrm>
            <a:prstGeom prst="roundRect">
              <a:avLst>
                <a:gd name="adj" fmla="val 6000"/>
              </a:avLst>
            </a:prstGeom>
            <a:solidFill>
              <a:srgbClr val="E9EEF5"/>
            </a:solidFill>
            <a:ln w="22225">
              <a:solidFill>
                <a:srgbClr val="262626"/>
              </a:solidFill>
            </a:ln>
          </p:spPr>
          <p:txBody>
            <a:bodyPr wrap="square" lIns="86400" tIns="43200" rIns="86400" bIns="4320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lang="ko-KR" altLang="en-US" sz="1800" b="1" dirty="0">
                  <a:solidFill>
                    <a:srgbClr val="1F3A5F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5 검증</a:t>
              </a:r>
            </a:p>
            <a:p>
              <a:pPr algn="ctr">
                <a:lnSpc>
                  <a:spcPct val="100000"/>
                </a:lnSpc>
              </a:pPr>
              <a:r>
                <a:rPr lang="ko-KR" altLang="en-US" sz="1600" b="0" dirty="0">
                  <a:solidFill>
                    <a:srgbClr val="222222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허용 규칙으로 점검, </a:t>
              </a:r>
              <a:endParaRPr lang="en-US" altLang="ko-KR" sz="1600" b="0" dirty="0">
                <a:solidFill>
                  <a:srgbClr val="222222"/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endParaRPr>
            </a:p>
            <a:p>
              <a:pPr algn="ctr">
                <a:lnSpc>
                  <a:spcPct val="100000"/>
                </a:lnSpc>
              </a:pPr>
              <a:r>
                <a:rPr lang="ko-KR" altLang="en-US" sz="1600" b="0" dirty="0" err="1">
                  <a:solidFill>
                    <a:srgbClr val="222222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시드</a:t>
              </a:r>
              <a:r>
                <a:rPr lang="ko-KR" altLang="en-US" sz="1600" b="0" dirty="0">
                  <a:solidFill>
                    <a:srgbClr val="222222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 보완</a:t>
              </a:r>
            </a:p>
          </p:txBody>
        </p:sp>
        <p:sp>
          <p:nvSpPr>
            <p:cNvPr id="5077" name="도형"/>
            <p:cNvSpPr/>
            <p:nvPr/>
          </p:nvSpPr>
          <p:spPr>
            <a:xfrm>
              <a:off x="24786753" y="10428809"/>
              <a:ext cx="3240000" cy="1350000"/>
            </a:xfrm>
            <a:prstGeom prst="roundRect">
              <a:avLst>
                <a:gd name="adj" fmla="val 6000"/>
              </a:avLst>
            </a:prstGeom>
            <a:solidFill>
              <a:srgbClr val="E9EEF5"/>
            </a:solidFill>
            <a:ln w="22225">
              <a:solidFill>
                <a:srgbClr val="262626"/>
              </a:solidFill>
            </a:ln>
          </p:spPr>
          <p:txBody>
            <a:bodyPr wrap="square" lIns="86400" tIns="43200" rIns="86400" bIns="4320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lang="ko-KR" altLang="en-US" sz="1800" b="1" dirty="0">
                  <a:solidFill>
                    <a:srgbClr val="1F3A5F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6 저장</a:t>
              </a:r>
            </a:p>
            <a:p>
              <a:pPr algn="ctr">
                <a:lnSpc>
                  <a:spcPct val="100000"/>
                </a:lnSpc>
              </a:pPr>
              <a:r>
                <a:rPr lang="ko-KR" altLang="en-US" sz="1600" b="0" dirty="0">
                  <a:solidFill>
                    <a:srgbClr val="222222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KG는 Neo4j, 측정값·원문은 저장소</a:t>
              </a:r>
            </a:p>
          </p:txBody>
        </p:sp>
        <p:cxnSp>
          <p:nvCxnSpPr>
            <p:cNvPr id="5078" name="선"/>
            <p:cNvCxnSpPr/>
            <p:nvPr/>
          </p:nvCxnSpPr>
          <p:spPr>
            <a:xfrm>
              <a:off x="20488353" y="9208409"/>
              <a:ext cx="496800" cy="0"/>
            </a:xfrm>
            <a:prstGeom prst="line">
              <a:avLst/>
            </a:prstGeom>
            <a:ln w="31750">
              <a:solidFill>
                <a:srgbClr val="3B4A63"/>
              </a:solidFill>
              <a:tailEnd type="triangle" w="med" len="med"/>
            </a:ln>
          </p:spPr>
        </p:cxnSp>
        <p:cxnSp>
          <p:nvCxnSpPr>
            <p:cNvPr id="5079" name="선"/>
            <p:cNvCxnSpPr/>
            <p:nvPr/>
          </p:nvCxnSpPr>
          <p:spPr>
            <a:xfrm>
              <a:off x="24268353" y="9208409"/>
              <a:ext cx="496800" cy="0"/>
            </a:xfrm>
            <a:prstGeom prst="line">
              <a:avLst/>
            </a:prstGeom>
            <a:ln w="31750">
              <a:solidFill>
                <a:srgbClr val="3B4A63"/>
              </a:solidFill>
              <a:tailEnd type="triangle" w="med" len="med"/>
            </a:ln>
          </p:spPr>
        </p:cxnSp>
        <p:cxnSp>
          <p:nvCxnSpPr>
            <p:cNvPr id="5080" name="선"/>
            <p:cNvCxnSpPr/>
            <p:nvPr/>
          </p:nvCxnSpPr>
          <p:spPr>
            <a:xfrm>
              <a:off x="26406753" y="9910409"/>
              <a:ext cx="0" cy="248400"/>
            </a:xfrm>
            <a:prstGeom prst="line">
              <a:avLst/>
            </a:prstGeom>
            <a:ln w="31750">
              <a:solidFill>
                <a:srgbClr val="3B4A63"/>
              </a:solidFill>
            </a:ln>
          </p:spPr>
        </p:cxnSp>
        <p:cxnSp>
          <p:nvCxnSpPr>
            <p:cNvPr id="5081" name="선"/>
            <p:cNvCxnSpPr/>
            <p:nvPr/>
          </p:nvCxnSpPr>
          <p:spPr>
            <a:xfrm flipH="1">
              <a:off x="18846753" y="10158809"/>
              <a:ext cx="7560000" cy="0"/>
            </a:xfrm>
            <a:prstGeom prst="line">
              <a:avLst/>
            </a:prstGeom>
            <a:ln w="31750">
              <a:solidFill>
                <a:srgbClr val="3B4A63"/>
              </a:solidFill>
            </a:ln>
          </p:spPr>
        </p:cxnSp>
        <p:cxnSp>
          <p:nvCxnSpPr>
            <p:cNvPr id="5082" name="선"/>
            <p:cNvCxnSpPr/>
            <p:nvPr/>
          </p:nvCxnSpPr>
          <p:spPr>
            <a:xfrm>
              <a:off x="18846753" y="10158809"/>
              <a:ext cx="0" cy="248400"/>
            </a:xfrm>
            <a:prstGeom prst="line">
              <a:avLst/>
            </a:prstGeom>
            <a:ln w="31750">
              <a:solidFill>
                <a:srgbClr val="3B4A63"/>
              </a:solidFill>
              <a:tailEnd type="triangle" w="med" len="med"/>
            </a:ln>
          </p:spPr>
        </p:cxnSp>
        <p:cxnSp>
          <p:nvCxnSpPr>
            <p:cNvPr id="5083" name="선"/>
            <p:cNvCxnSpPr/>
            <p:nvPr/>
          </p:nvCxnSpPr>
          <p:spPr>
            <a:xfrm>
              <a:off x="20488353" y="11098409"/>
              <a:ext cx="496800" cy="0"/>
            </a:xfrm>
            <a:prstGeom prst="line">
              <a:avLst/>
            </a:prstGeom>
            <a:ln w="31750">
              <a:solidFill>
                <a:srgbClr val="3B4A63"/>
              </a:solidFill>
              <a:tailEnd type="triangle" w="med" len="med"/>
            </a:ln>
          </p:spPr>
        </p:cxnSp>
        <p:cxnSp>
          <p:nvCxnSpPr>
            <p:cNvPr id="5084" name="선"/>
            <p:cNvCxnSpPr/>
            <p:nvPr/>
          </p:nvCxnSpPr>
          <p:spPr>
            <a:xfrm>
              <a:off x="24268353" y="11098409"/>
              <a:ext cx="496800" cy="0"/>
            </a:xfrm>
            <a:prstGeom prst="line">
              <a:avLst/>
            </a:prstGeom>
            <a:ln w="31750">
              <a:solidFill>
                <a:srgbClr val="3B4A63"/>
              </a:solidFill>
              <a:tailEnd type="triangle" w="med" len="med"/>
            </a:ln>
          </p:spPr>
        </p:cxnSp>
      </p:grpSp>
      <p:sp>
        <p:nvSpPr>
          <p:cNvPr id="1021" name="본문"/>
          <p:cNvSpPr txBox="1"/>
          <p:nvPr/>
        </p:nvSpPr>
        <p:spPr>
          <a:xfrm>
            <a:off x="15570184" y="11838809"/>
            <a:ext cx="14113138" cy="520000"/>
          </a:xfrm>
          <a:prstGeom prst="rect">
            <a:avLst/>
          </a:prstGeom>
          <a:noFill/>
          <a:ln>
            <a:noFill/>
          </a:ln>
        </p:spPr>
        <p:txBody>
          <a:bodyPr wrap="square" lIns="66158" tIns="33079" rIns="66158" bIns="33079" anchor="t">
            <a:noAutofit/>
          </a:bodyPr>
          <a:lstStyle/>
          <a:p>
            <a:pPr marL="0" indent="0" algn="ctr">
              <a:lnSpc>
                <a:spcPct val="118000"/>
              </a:lnSpc>
              <a:spcAft>
                <a:spcPts val="600"/>
              </a:spcAft>
              <a:buNone/>
            </a:pPr>
            <a:r>
              <a:rPr lang="ko-KR" altLang="en-US" sz="22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그림 3. KG 구축 6단계</a:t>
            </a:r>
          </a:p>
        </p:txBody>
      </p:sp>
      <p:grpSp>
        <p:nvGrpSpPr>
          <p:cNvPr id="5126" name="그림2 KG 예시"/>
          <p:cNvGrpSpPr/>
          <p:nvPr/>
        </p:nvGrpSpPr>
        <p:grpSpPr>
          <a:xfrm>
            <a:off x="16740753" y="12358809"/>
            <a:ext cx="11772000" cy="7408800"/>
            <a:chOff x="16740753" y="12358809"/>
            <a:chExt cx="11772000" cy="7408800"/>
          </a:xfrm>
        </p:grpSpPr>
        <p:sp>
          <p:nvSpPr>
            <p:cNvPr id="5086" name="도형"/>
            <p:cNvSpPr/>
            <p:nvPr/>
          </p:nvSpPr>
          <p:spPr>
            <a:xfrm>
              <a:off x="17226753" y="12358809"/>
              <a:ext cx="4320000" cy="1620000"/>
            </a:xfrm>
            <a:prstGeom prst="rect">
              <a:avLst/>
            </a:prstGeom>
            <a:solidFill>
              <a:srgbClr val="FFFFFF"/>
            </a:solidFill>
            <a:ln w="22225">
              <a:solidFill>
                <a:srgbClr val="262626"/>
              </a:solidFill>
            </a:ln>
          </p:spPr>
          <p:txBody>
            <a:bodyPr wrap="square" lIns="86400" tIns="43200" rIns="86400" bIns="43200" anchor="ctr">
              <a:noAutofit/>
            </a:bodyPr>
            <a:lstStyle/>
            <a:p>
              <a:endParaRPr lang="ko-KR"/>
            </a:p>
          </p:txBody>
        </p:sp>
        <p:sp>
          <p:nvSpPr>
            <p:cNvPr id="5087" name="도형"/>
            <p:cNvSpPr/>
            <p:nvPr/>
          </p:nvSpPr>
          <p:spPr>
            <a:xfrm>
              <a:off x="17226753" y="12358809"/>
              <a:ext cx="4320000" cy="475200"/>
            </a:xfrm>
            <a:prstGeom prst="rect">
              <a:avLst/>
            </a:prstGeom>
            <a:solidFill>
              <a:srgbClr val="E9EEF5"/>
            </a:solidFill>
            <a:ln w="22225">
              <a:solidFill>
                <a:srgbClr val="262626"/>
              </a:solidFill>
            </a:ln>
          </p:spPr>
          <p:txBody>
            <a:bodyPr wrap="square" lIns="151200" tIns="75600" rIns="151200" bIns="7560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lang="ko-KR" altLang="en-US" sz="1800" b="1" dirty="0">
                  <a:solidFill>
                    <a:srgbClr val="1F4E79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Approval</a:t>
              </a:r>
            </a:p>
          </p:txBody>
        </p:sp>
        <p:sp>
          <p:nvSpPr>
            <p:cNvPr id="5088" name="속성"/>
            <p:cNvSpPr/>
            <p:nvPr/>
          </p:nvSpPr>
          <p:spPr>
            <a:xfrm>
              <a:off x="17226753" y="12855609"/>
              <a:ext cx="4320000" cy="1123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151200" tIns="75600" rIns="151200" bIns="75600" anchor="t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lang="ko-KR" altLang="en-US" sz="1600" b="1" dirty="0">
                  <a:solidFill>
                    <a:srgbClr val="222222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APR:1368</a:t>
              </a:r>
            </a:p>
            <a:p>
              <a:pPr algn="l">
                <a:lnSpc>
                  <a:spcPct val="100000"/>
                </a:lnSpc>
              </a:pPr>
              <a:r>
                <a:rPr lang="ko-KR" altLang="en-US" sz="1600" b="0" dirty="0">
                  <a:solidFill>
                    <a:srgbClr val="222222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approvalTime = 2012-08-24</a:t>
              </a:r>
            </a:p>
            <a:p>
              <a:pPr algn="l">
                <a:lnSpc>
                  <a:spcPct val="100000"/>
                </a:lnSpc>
              </a:pPr>
              <a:r>
                <a:rPr lang="ko-KR" altLang="en-US" sz="1600" b="0" dirty="0">
                  <a:solidFill>
                    <a:srgbClr val="222222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approvalContent = “방류시작 15:00; 2000”</a:t>
              </a:r>
            </a:p>
          </p:txBody>
        </p:sp>
        <p:sp>
          <p:nvSpPr>
            <p:cNvPr id="5089" name="도형"/>
            <p:cNvSpPr/>
            <p:nvPr/>
          </p:nvSpPr>
          <p:spPr>
            <a:xfrm>
              <a:off x="23760753" y="12358809"/>
              <a:ext cx="4320000" cy="1922400"/>
            </a:xfrm>
            <a:prstGeom prst="rect">
              <a:avLst/>
            </a:prstGeom>
            <a:solidFill>
              <a:srgbClr val="FFFFFF"/>
            </a:solidFill>
            <a:ln w="22225">
              <a:solidFill>
                <a:srgbClr val="262626"/>
              </a:solidFill>
            </a:ln>
          </p:spPr>
          <p:txBody>
            <a:bodyPr wrap="square" lIns="86400" tIns="43200" rIns="86400" bIns="43200" anchor="ctr">
              <a:noAutofit/>
            </a:bodyPr>
            <a:lstStyle/>
            <a:p>
              <a:endParaRPr lang="ko-KR"/>
            </a:p>
          </p:txBody>
        </p:sp>
        <p:sp>
          <p:nvSpPr>
            <p:cNvPr id="5090" name="도형"/>
            <p:cNvSpPr/>
            <p:nvPr/>
          </p:nvSpPr>
          <p:spPr>
            <a:xfrm>
              <a:off x="23760753" y="12358809"/>
              <a:ext cx="4320000" cy="475200"/>
            </a:xfrm>
            <a:prstGeom prst="rect">
              <a:avLst/>
            </a:prstGeom>
            <a:solidFill>
              <a:srgbClr val="E9EEF5"/>
            </a:solidFill>
            <a:ln w="22225">
              <a:solidFill>
                <a:srgbClr val="262626"/>
              </a:solidFill>
            </a:ln>
          </p:spPr>
          <p:txBody>
            <a:bodyPr wrap="square" lIns="151200" tIns="75600" rIns="151200" bIns="7560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lang="ko-KR" altLang="en-US" sz="1800" b="1" dirty="0">
                  <a:solidFill>
                    <a:srgbClr val="1F4E79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Criterion</a:t>
              </a:r>
            </a:p>
          </p:txBody>
        </p:sp>
        <p:sp>
          <p:nvSpPr>
            <p:cNvPr id="5091" name="속성"/>
            <p:cNvSpPr/>
            <p:nvPr/>
          </p:nvSpPr>
          <p:spPr>
            <a:xfrm>
              <a:off x="23760753" y="12855609"/>
              <a:ext cx="4320000" cy="14256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151200" tIns="75600" rIns="151200" bIns="75600" anchor="t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lang="ko-KR" altLang="en-US" sz="1600" b="1" dirty="0">
                  <a:solidFill>
                    <a:srgbClr val="222222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CRI:CR-02</a:t>
              </a:r>
            </a:p>
            <a:p>
              <a:pPr algn="l">
                <a:lnSpc>
                  <a:spcPct val="100000"/>
                </a:lnSpc>
              </a:pPr>
              <a:r>
                <a:rPr lang="ko-KR" altLang="en-US" sz="1600" b="0" dirty="0">
                  <a:solidFill>
                    <a:srgbClr val="222222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criterionType = 홍수기 제한수위</a:t>
              </a:r>
            </a:p>
            <a:p>
              <a:pPr algn="l">
                <a:lnSpc>
                  <a:spcPct val="100000"/>
                </a:lnSpc>
              </a:pPr>
              <a:r>
                <a:rPr lang="ko-KR" altLang="en-US" sz="1600" b="0" dirty="0">
                  <a:solidFill>
                    <a:srgbClr val="222222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criterionValue = 138.0</a:t>
              </a:r>
            </a:p>
            <a:p>
              <a:pPr algn="l">
                <a:lnSpc>
                  <a:spcPct val="100000"/>
                </a:lnSpc>
              </a:pPr>
              <a:r>
                <a:rPr lang="ko-KR" altLang="en-US" sz="1600" b="0" dirty="0">
                  <a:solidFill>
                    <a:srgbClr val="222222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unit = EL.m</a:t>
              </a:r>
            </a:p>
          </p:txBody>
        </p:sp>
        <p:sp>
          <p:nvSpPr>
            <p:cNvPr id="5092" name="도형"/>
            <p:cNvSpPr/>
            <p:nvPr/>
          </p:nvSpPr>
          <p:spPr>
            <a:xfrm>
              <a:off x="17226753" y="14886009"/>
              <a:ext cx="4320000" cy="1620000"/>
            </a:xfrm>
            <a:prstGeom prst="rect">
              <a:avLst/>
            </a:prstGeom>
            <a:solidFill>
              <a:srgbClr val="FFFFFF"/>
            </a:solidFill>
            <a:ln w="22225">
              <a:solidFill>
                <a:srgbClr val="262626"/>
              </a:solidFill>
            </a:ln>
          </p:spPr>
          <p:txBody>
            <a:bodyPr wrap="square" lIns="86400" tIns="43200" rIns="86400" bIns="43200" anchor="ctr">
              <a:noAutofit/>
            </a:bodyPr>
            <a:lstStyle/>
            <a:p>
              <a:endParaRPr lang="ko-KR"/>
            </a:p>
          </p:txBody>
        </p:sp>
        <p:sp>
          <p:nvSpPr>
            <p:cNvPr id="5093" name="도형"/>
            <p:cNvSpPr/>
            <p:nvPr/>
          </p:nvSpPr>
          <p:spPr>
            <a:xfrm>
              <a:off x="17226753" y="14886009"/>
              <a:ext cx="4320000" cy="475200"/>
            </a:xfrm>
            <a:prstGeom prst="rect">
              <a:avLst/>
            </a:prstGeom>
            <a:solidFill>
              <a:srgbClr val="E9EEF5"/>
            </a:solidFill>
            <a:ln w="22225">
              <a:solidFill>
                <a:srgbClr val="262626"/>
              </a:solidFill>
            </a:ln>
          </p:spPr>
          <p:txBody>
            <a:bodyPr wrap="square" lIns="151200" tIns="75600" rIns="151200" bIns="7560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lang="ko-KR" altLang="en-US" sz="1800" b="1" dirty="0">
                  <a:solidFill>
                    <a:srgbClr val="1F4E79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Operation</a:t>
              </a:r>
            </a:p>
          </p:txBody>
        </p:sp>
        <p:sp>
          <p:nvSpPr>
            <p:cNvPr id="5094" name="속성"/>
            <p:cNvSpPr/>
            <p:nvPr/>
          </p:nvSpPr>
          <p:spPr>
            <a:xfrm>
              <a:off x="17226753" y="15382809"/>
              <a:ext cx="4320000" cy="1123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151200" tIns="75600" rIns="151200" bIns="75600" anchor="t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lang="ko-KR" altLang="en-US" sz="1600" b="1" dirty="0">
                  <a:solidFill>
                    <a:srgbClr val="222222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OPR:1368:1</a:t>
              </a:r>
            </a:p>
            <a:p>
              <a:pPr algn="l">
                <a:lnSpc>
                  <a:spcPct val="100000"/>
                </a:lnSpc>
              </a:pPr>
              <a:r>
                <a:rPr lang="ko-KR" altLang="en-US" sz="1600" b="0" dirty="0">
                  <a:solidFill>
                    <a:srgbClr val="222222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operationType = 탄력적 방류</a:t>
              </a:r>
            </a:p>
            <a:p>
              <a:pPr algn="l">
                <a:lnSpc>
                  <a:spcPct val="100000"/>
                </a:lnSpc>
              </a:pPr>
              <a:r>
                <a:rPr lang="ko-KR" altLang="en-US" sz="1600" b="0" dirty="0">
                  <a:solidFill>
                    <a:srgbClr val="222222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operationTime = 2012-08-24T15:00</a:t>
              </a:r>
            </a:p>
          </p:txBody>
        </p:sp>
        <p:sp>
          <p:nvSpPr>
            <p:cNvPr id="5095" name="도형"/>
            <p:cNvSpPr/>
            <p:nvPr/>
          </p:nvSpPr>
          <p:spPr>
            <a:xfrm>
              <a:off x="23760753" y="14886009"/>
              <a:ext cx="4320000" cy="1620000"/>
            </a:xfrm>
            <a:prstGeom prst="rect">
              <a:avLst/>
            </a:prstGeom>
            <a:solidFill>
              <a:srgbClr val="FFFFFF"/>
            </a:solidFill>
            <a:ln w="22225">
              <a:solidFill>
                <a:srgbClr val="262626"/>
              </a:solidFill>
            </a:ln>
          </p:spPr>
          <p:txBody>
            <a:bodyPr wrap="square" lIns="86400" tIns="43200" rIns="86400" bIns="43200" anchor="ctr">
              <a:noAutofit/>
            </a:bodyPr>
            <a:lstStyle/>
            <a:p>
              <a:endParaRPr lang="ko-KR"/>
            </a:p>
          </p:txBody>
        </p:sp>
        <p:sp>
          <p:nvSpPr>
            <p:cNvPr id="5096" name="도형"/>
            <p:cNvSpPr/>
            <p:nvPr/>
          </p:nvSpPr>
          <p:spPr>
            <a:xfrm>
              <a:off x="23760753" y="14886009"/>
              <a:ext cx="4320000" cy="475200"/>
            </a:xfrm>
            <a:prstGeom prst="rect">
              <a:avLst/>
            </a:prstGeom>
            <a:solidFill>
              <a:srgbClr val="E9EEF5"/>
            </a:solidFill>
            <a:ln w="22225">
              <a:solidFill>
                <a:srgbClr val="262626"/>
              </a:solidFill>
            </a:ln>
          </p:spPr>
          <p:txBody>
            <a:bodyPr wrap="square" lIns="151200" tIns="75600" rIns="151200" bIns="7560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lang="ko-KR" altLang="en-US" sz="1800" b="1" dirty="0">
                  <a:solidFill>
                    <a:srgbClr val="1F4E79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Dam</a:t>
              </a:r>
            </a:p>
          </p:txBody>
        </p:sp>
        <p:sp>
          <p:nvSpPr>
            <p:cNvPr id="5097" name="속성"/>
            <p:cNvSpPr/>
            <p:nvPr/>
          </p:nvSpPr>
          <p:spPr>
            <a:xfrm>
              <a:off x="23760753" y="15382809"/>
              <a:ext cx="4320000" cy="1123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151200" tIns="75600" rIns="151200" bIns="75600" anchor="t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lang="ko-KR" altLang="en-US" sz="1600" b="1" dirty="0">
                  <a:solidFill>
                    <a:srgbClr val="222222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DAM:1003110</a:t>
              </a:r>
            </a:p>
            <a:p>
              <a:pPr algn="l">
                <a:lnSpc>
                  <a:spcPct val="100000"/>
                </a:lnSpc>
              </a:pPr>
              <a:r>
                <a:rPr lang="ko-KR" altLang="en-US" sz="1600" b="0" dirty="0">
                  <a:solidFill>
                    <a:srgbClr val="222222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damName = 충주댐</a:t>
              </a:r>
            </a:p>
            <a:p>
              <a:pPr algn="l">
                <a:lnSpc>
                  <a:spcPct val="100000"/>
                </a:lnSpc>
              </a:pPr>
              <a:r>
                <a:rPr lang="ko-KR" altLang="en-US" sz="1600" b="0" dirty="0">
                  <a:solidFill>
                    <a:srgbClr val="222222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damType = 다목적댐</a:t>
              </a:r>
            </a:p>
          </p:txBody>
        </p:sp>
        <p:sp>
          <p:nvSpPr>
            <p:cNvPr id="5098" name="도형"/>
            <p:cNvSpPr/>
            <p:nvPr/>
          </p:nvSpPr>
          <p:spPr>
            <a:xfrm>
              <a:off x="17226753" y="17110809"/>
              <a:ext cx="4320000" cy="1922400"/>
            </a:xfrm>
            <a:prstGeom prst="rect">
              <a:avLst/>
            </a:prstGeom>
            <a:solidFill>
              <a:srgbClr val="FFFFFF"/>
            </a:solidFill>
            <a:ln w="22225">
              <a:solidFill>
                <a:srgbClr val="262626"/>
              </a:solidFill>
            </a:ln>
          </p:spPr>
          <p:txBody>
            <a:bodyPr wrap="square" lIns="86400" tIns="43200" rIns="86400" bIns="43200" anchor="ctr">
              <a:noAutofit/>
            </a:bodyPr>
            <a:lstStyle/>
            <a:p>
              <a:endParaRPr lang="ko-KR"/>
            </a:p>
          </p:txBody>
        </p:sp>
        <p:sp>
          <p:nvSpPr>
            <p:cNvPr id="5099" name="도형"/>
            <p:cNvSpPr/>
            <p:nvPr/>
          </p:nvSpPr>
          <p:spPr>
            <a:xfrm>
              <a:off x="17226753" y="17110809"/>
              <a:ext cx="4320000" cy="475200"/>
            </a:xfrm>
            <a:prstGeom prst="rect">
              <a:avLst/>
            </a:prstGeom>
            <a:solidFill>
              <a:srgbClr val="E9EEF5"/>
            </a:solidFill>
            <a:ln w="22225">
              <a:solidFill>
                <a:srgbClr val="262626"/>
              </a:solidFill>
            </a:ln>
          </p:spPr>
          <p:txBody>
            <a:bodyPr wrap="square" lIns="151200" tIns="75600" rIns="151200" bIns="7560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lang="ko-KR" altLang="en-US" sz="1800" b="1" dirty="0">
                  <a:solidFill>
                    <a:srgbClr val="1F4E79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EvidenceSource</a:t>
              </a:r>
            </a:p>
          </p:txBody>
        </p:sp>
        <p:sp>
          <p:nvSpPr>
            <p:cNvPr id="5100" name="속성"/>
            <p:cNvSpPr/>
            <p:nvPr/>
          </p:nvSpPr>
          <p:spPr>
            <a:xfrm>
              <a:off x="17226753" y="17607609"/>
              <a:ext cx="4320000" cy="14256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151200" tIns="75600" rIns="151200" bIns="75600" anchor="t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lang="ko-KR" altLang="en-US" sz="1600" b="1" dirty="0">
                  <a:solidFill>
                    <a:srgbClr val="222222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EVI:AP:1368</a:t>
              </a:r>
            </a:p>
            <a:p>
              <a:pPr algn="l">
                <a:lnSpc>
                  <a:spcPct val="100000"/>
                </a:lnSpc>
              </a:pPr>
              <a:r>
                <a:rPr lang="ko-KR" altLang="en-US" sz="1600" b="0" dirty="0">
                  <a:solidFill>
                    <a:srgbClr val="222222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sourceTitle = 홍수예보 댐방류승인</a:t>
              </a:r>
            </a:p>
            <a:p>
              <a:pPr algn="l">
                <a:lnSpc>
                  <a:spcPct val="100000"/>
                </a:lnSpc>
              </a:pPr>
              <a:r>
                <a:rPr lang="ko-KR" altLang="en-US" sz="1600" b="0" dirty="0">
                  <a:solidFill>
                    <a:srgbClr val="222222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sourceType = 승인자료</a:t>
              </a:r>
            </a:p>
            <a:p>
              <a:pPr algn="l">
                <a:lnSpc>
                  <a:spcPct val="100000"/>
                </a:lnSpc>
              </a:pPr>
              <a:r>
                <a:rPr lang="ko-KR" altLang="en-US" sz="1600" b="0" dirty="0">
                  <a:solidFill>
                    <a:srgbClr val="222222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sourceLocator = 순차번호 1368</a:t>
              </a:r>
            </a:p>
          </p:txBody>
        </p:sp>
        <p:sp>
          <p:nvSpPr>
            <p:cNvPr id="5101" name="도형"/>
            <p:cNvSpPr/>
            <p:nvPr/>
          </p:nvSpPr>
          <p:spPr>
            <a:xfrm>
              <a:off x="23760753" y="17110809"/>
              <a:ext cx="4320000" cy="1620000"/>
            </a:xfrm>
            <a:prstGeom prst="rect">
              <a:avLst/>
            </a:prstGeom>
            <a:solidFill>
              <a:srgbClr val="FFFFFF"/>
            </a:solidFill>
            <a:ln w="22225">
              <a:solidFill>
                <a:srgbClr val="262626"/>
              </a:solidFill>
            </a:ln>
          </p:spPr>
          <p:txBody>
            <a:bodyPr wrap="square" lIns="86400" tIns="43200" rIns="86400" bIns="43200" anchor="ctr">
              <a:noAutofit/>
            </a:bodyPr>
            <a:lstStyle/>
            <a:p>
              <a:endParaRPr lang="ko-KR"/>
            </a:p>
          </p:txBody>
        </p:sp>
        <p:sp>
          <p:nvSpPr>
            <p:cNvPr id="5102" name="도형"/>
            <p:cNvSpPr/>
            <p:nvPr/>
          </p:nvSpPr>
          <p:spPr>
            <a:xfrm>
              <a:off x="23760753" y="17110809"/>
              <a:ext cx="4320000" cy="475200"/>
            </a:xfrm>
            <a:prstGeom prst="rect">
              <a:avLst/>
            </a:prstGeom>
            <a:solidFill>
              <a:srgbClr val="E9EEF5"/>
            </a:solidFill>
            <a:ln w="22225">
              <a:solidFill>
                <a:srgbClr val="262626"/>
              </a:solidFill>
            </a:ln>
          </p:spPr>
          <p:txBody>
            <a:bodyPr wrap="square" lIns="151200" tIns="75600" rIns="151200" bIns="7560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lang="ko-KR" altLang="en-US" sz="1800" b="1" dirty="0">
                  <a:solidFill>
                    <a:srgbClr val="1F4E79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HydrometeorologicalState</a:t>
              </a:r>
            </a:p>
          </p:txBody>
        </p:sp>
        <p:sp>
          <p:nvSpPr>
            <p:cNvPr id="5103" name="속성"/>
            <p:cNvSpPr/>
            <p:nvPr/>
          </p:nvSpPr>
          <p:spPr>
            <a:xfrm>
              <a:off x="23760753" y="17607609"/>
              <a:ext cx="4320000" cy="1123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151200" tIns="75600" rIns="151200" bIns="75600" anchor="t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lang="ko-KR" altLang="en-US" sz="1600" b="1" dirty="0">
                  <a:solidFill>
                    <a:srgbClr val="222222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HMS:1003110:수위</a:t>
              </a:r>
            </a:p>
            <a:p>
              <a:pPr algn="l">
                <a:lnSpc>
                  <a:spcPct val="100000"/>
                </a:lnSpc>
              </a:pPr>
              <a:r>
                <a:rPr lang="ko-KR" altLang="en-US" sz="1600" b="0" dirty="0">
                  <a:solidFill>
                    <a:srgbClr val="222222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variableType = 수위</a:t>
              </a:r>
            </a:p>
            <a:p>
              <a:pPr algn="l">
                <a:lnSpc>
                  <a:spcPct val="100000"/>
                </a:lnSpc>
              </a:pPr>
              <a:r>
                <a:rPr lang="ko-KR" altLang="en-US" sz="1600" b="0" dirty="0">
                  <a:solidFill>
                    <a:srgbClr val="222222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stationCode = 1003110</a:t>
              </a:r>
            </a:p>
          </p:txBody>
        </p:sp>
        <p:cxnSp>
          <p:nvCxnSpPr>
            <p:cNvPr id="5104" name="선"/>
            <p:cNvCxnSpPr/>
            <p:nvPr/>
          </p:nvCxnSpPr>
          <p:spPr>
            <a:xfrm>
              <a:off x="19602753" y="14000409"/>
              <a:ext cx="0" cy="864000"/>
            </a:xfrm>
            <a:prstGeom prst="line">
              <a:avLst/>
            </a:prstGeom>
            <a:ln w="31750">
              <a:solidFill>
                <a:srgbClr val="3B4A63"/>
              </a:solidFill>
              <a:tailEnd type="triangle" w="med" len="med"/>
            </a:ln>
          </p:spPr>
        </p:cxnSp>
        <p:sp>
          <p:nvSpPr>
            <p:cNvPr id="5105" name="글상자"/>
            <p:cNvSpPr/>
            <p:nvPr/>
          </p:nvSpPr>
          <p:spPr>
            <a:xfrm>
              <a:off x="19857633" y="14205609"/>
              <a:ext cx="1218240" cy="3024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wrap="square" lIns="21600" tIns="10800" rIns="21600" bIns="1080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lang="ko-KR" altLang="en-US" sz="1600" b="0" dirty="0">
                  <a:solidFill>
                    <a:srgbClr val="222222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authorizes</a:t>
              </a:r>
            </a:p>
          </p:txBody>
        </p:sp>
        <p:cxnSp>
          <p:nvCxnSpPr>
            <p:cNvPr id="5106" name="선"/>
            <p:cNvCxnSpPr/>
            <p:nvPr/>
          </p:nvCxnSpPr>
          <p:spPr>
            <a:xfrm>
              <a:off x="21568353" y="13330809"/>
              <a:ext cx="2170800" cy="1987200"/>
            </a:xfrm>
            <a:prstGeom prst="line">
              <a:avLst/>
            </a:prstGeom>
            <a:ln w="31750">
              <a:solidFill>
                <a:srgbClr val="3B4A63"/>
              </a:solidFill>
              <a:tailEnd type="triangle" w="med" len="med"/>
            </a:ln>
          </p:spPr>
        </p:cxnSp>
        <p:sp>
          <p:nvSpPr>
            <p:cNvPr id="5107" name="글상자"/>
            <p:cNvSpPr/>
            <p:nvPr/>
          </p:nvSpPr>
          <p:spPr>
            <a:xfrm>
              <a:off x="22062021" y="13827609"/>
              <a:ext cx="1345464" cy="3024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wrap="square" lIns="21600" tIns="10800" rIns="21600" bIns="1080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lang="ko-KR" altLang="en-US" sz="1600" b="0" dirty="0">
                  <a:solidFill>
                    <a:srgbClr val="222222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concernsDam</a:t>
              </a:r>
            </a:p>
          </p:txBody>
        </p:sp>
        <p:cxnSp>
          <p:nvCxnSpPr>
            <p:cNvPr id="5108" name="선"/>
            <p:cNvCxnSpPr/>
            <p:nvPr/>
          </p:nvCxnSpPr>
          <p:spPr>
            <a:xfrm>
              <a:off x="21568353" y="15858009"/>
              <a:ext cx="2170800" cy="0"/>
            </a:xfrm>
            <a:prstGeom prst="line">
              <a:avLst/>
            </a:prstGeom>
            <a:ln w="31750">
              <a:solidFill>
                <a:srgbClr val="3B4A63"/>
              </a:solidFill>
              <a:tailEnd type="triangle" w="med" len="med"/>
            </a:ln>
          </p:spPr>
        </p:cxnSp>
        <p:sp>
          <p:nvSpPr>
            <p:cNvPr id="5109" name="글상자"/>
            <p:cNvSpPr/>
            <p:nvPr/>
          </p:nvSpPr>
          <p:spPr>
            <a:xfrm>
              <a:off x="21671483" y="15447608"/>
              <a:ext cx="1901449" cy="230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wrap="square" lIns="21600" tIns="10800" rIns="21600" bIns="1080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lang="ko-KR" altLang="en-US" sz="1600" b="0" dirty="0">
                  <a:solidFill>
                    <a:srgbClr val="222222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performedOnDam</a:t>
              </a:r>
            </a:p>
          </p:txBody>
        </p:sp>
        <p:cxnSp>
          <p:nvCxnSpPr>
            <p:cNvPr id="5110" name="선"/>
            <p:cNvCxnSpPr/>
            <p:nvPr/>
          </p:nvCxnSpPr>
          <p:spPr>
            <a:xfrm>
              <a:off x="26136753" y="14302809"/>
              <a:ext cx="0" cy="561600"/>
            </a:xfrm>
            <a:prstGeom prst="line">
              <a:avLst/>
            </a:prstGeom>
            <a:ln w="31750">
              <a:solidFill>
                <a:srgbClr val="3B4A63"/>
              </a:solidFill>
              <a:tailEnd type="triangle" w="med" len="med"/>
            </a:ln>
          </p:spPr>
        </p:cxnSp>
        <p:sp>
          <p:nvSpPr>
            <p:cNvPr id="5111" name="글상자"/>
            <p:cNvSpPr/>
            <p:nvPr/>
          </p:nvSpPr>
          <p:spPr>
            <a:xfrm>
              <a:off x="26318409" y="14508009"/>
              <a:ext cx="1472688" cy="3024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wrap="square" lIns="21600" tIns="10800" rIns="21600" bIns="1080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lang="ko-KR" altLang="en-US" sz="1600" b="0" dirty="0">
                  <a:solidFill>
                    <a:srgbClr val="222222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appliesToDam</a:t>
              </a:r>
            </a:p>
          </p:txBody>
        </p:sp>
        <p:cxnSp>
          <p:nvCxnSpPr>
            <p:cNvPr id="5112" name="선"/>
            <p:cNvCxnSpPr/>
            <p:nvPr/>
          </p:nvCxnSpPr>
          <p:spPr>
            <a:xfrm>
              <a:off x="26136753" y="16527609"/>
              <a:ext cx="0" cy="561600"/>
            </a:xfrm>
            <a:prstGeom prst="line">
              <a:avLst/>
            </a:prstGeom>
            <a:ln w="31750">
              <a:solidFill>
                <a:srgbClr val="3B4A63"/>
              </a:solidFill>
              <a:tailEnd type="triangle" w="med" len="med"/>
            </a:ln>
          </p:spPr>
        </p:cxnSp>
        <p:sp>
          <p:nvSpPr>
            <p:cNvPr id="5113" name="글상자"/>
            <p:cNvSpPr/>
            <p:nvPr/>
          </p:nvSpPr>
          <p:spPr>
            <a:xfrm>
              <a:off x="23520129" y="16732809"/>
              <a:ext cx="3073248" cy="3024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wrap="square" lIns="21600" tIns="10800" rIns="21600" bIns="1080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lang="ko-KR" altLang="en-US" sz="1600" b="0" dirty="0">
                  <a:solidFill>
                    <a:srgbClr val="222222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hasHydrometeorologicalState</a:t>
              </a:r>
            </a:p>
          </p:txBody>
        </p:sp>
        <p:cxnSp>
          <p:nvCxnSpPr>
            <p:cNvPr id="5114" name="선"/>
            <p:cNvCxnSpPr/>
            <p:nvPr/>
          </p:nvCxnSpPr>
          <p:spPr>
            <a:xfrm>
              <a:off x="19602753" y="16527609"/>
              <a:ext cx="0" cy="561600"/>
            </a:xfrm>
            <a:prstGeom prst="line">
              <a:avLst/>
            </a:prstGeom>
            <a:ln w="31750">
              <a:solidFill>
                <a:srgbClr val="3B4A63"/>
              </a:solidFill>
              <a:tailEnd type="triangle" w="med" len="med"/>
            </a:ln>
          </p:spPr>
        </p:cxnSp>
        <p:sp>
          <p:nvSpPr>
            <p:cNvPr id="5115" name="글상자"/>
            <p:cNvSpPr/>
            <p:nvPr/>
          </p:nvSpPr>
          <p:spPr>
            <a:xfrm>
              <a:off x="19686021" y="16732809"/>
              <a:ext cx="1345464" cy="3024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wrap="square" lIns="21600" tIns="10800" rIns="21600" bIns="1080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lang="ko-KR" altLang="en-US" sz="1600" b="0" dirty="0">
                  <a:solidFill>
                    <a:srgbClr val="222222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supportedBy</a:t>
              </a:r>
            </a:p>
          </p:txBody>
        </p:sp>
        <p:cxnSp>
          <p:nvCxnSpPr>
            <p:cNvPr id="5116" name="선"/>
            <p:cNvCxnSpPr/>
            <p:nvPr/>
          </p:nvCxnSpPr>
          <p:spPr>
            <a:xfrm flipH="1">
              <a:off x="21568353" y="18082809"/>
              <a:ext cx="2170800" cy="0"/>
            </a:xfrm>
            <a:prstGeom prst="line">
              <a:avLst/>
            </a:prstGeom>
            <a:ln w="31750">
              <a:solidFill>
                <a:srgbClr val="3B4A63"/>
              </a:solidFill>
              <a:tailEnd type="triangle" w="med" len="med"/>
            </a:ln>
          </p:spPr>
        </p:cxnSp>
        <p:sp>
          <p:nvSpPr>
            <p:cNvPr id="5117" name="글상자"/>
            <p:cNvSpPr/>
            <p:nvPr/>
          </p:nvSpPr>
          <p:spPr>
            <a:xfrm>
              <a:off x="21954021" y="17672409"/>
              <a:ext cx="1345464" cy="3024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wrap="square" lIns="21600" tIns="10800" rIns="21600" bIns="1080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lang="ko-KR" altLang="en-US" sz="1600" b="0" dirty="0">
                  <a:solidFill>
                    <a:srgbClr val="222222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supportedBy</a:t>
              </a:r>
            </a:p>
          </p:txBody>
        </p:sp>
        <p:cxnSp>
          <p:nvCxnSpPr>
            <p:cNvPr id="5118" name="선"/>
            <p:cNvCxnSpPr/>
            <p:nvPr/>
          </p:nvCxnSpPr>
          <p:spPr>
            <a:xfrm flipH="1">
              <a:off x="16935153" y="13114809"/>
              <a:ext cx="291600" cy="0"/>
            </a:xfrm>
            <a:prstGeom prst="line">
              <a:avLst/>
            </a:prstGeom>
            <a:ln w="31750">
              <a:solidFill>
                <a:srgbClr val="3B4A63"/>
              </a:solidFill>
            </a:ln>
          </p:spPr>
        </p:cxnSp>
        <p:cxnSp>
          <p:nvCxnSpPr>
            <p:cNvPr id="5119" name="선"/>
            <p:cNvCxnSpPr/>
            <p:nvPr/>
          </p:nvCxnSpPr>
          <p:spPr>
            <a:xfrm>
              <a:off x="16935153" y="13114809"/>
              <a:ext cx="0" cy="5292000"/>
            </a:xfrm>
            <a:prstGeom prst="line">
              <a:avLst/>
            </a:prstGeom>
            <a:ln w="31750">
              <a:solidFill>
                <a:srgbClr val="3B4A63"/>
              </a:solidFill>
            </a:ln>
          </p:spPr>
        </p:cxnSp>
        <p:cxnSp>
          <p:nvCxnSpPr>
            <p:cNvPr id="5120" name="선"/>
            <p:cNvCxnSpPr/>
            <p:nvPr/>
          </p:nvCxnSpPr>
          <p:spPr>
            <a:xfrm>
              <a:off x="16935153" y="18406809"/>
              <a:ext cx="270000" cy="0"/>
            </a:xfrm>
            <a:prstGeom prst="line">
              <a:avLst/>
            </a:prstGeom>
            <a:ln w="31750">
              <a:solidFill>
                <a:srgbClr val="3B4A63"/>
              </a:solidFill>
              <a:tailEnd type="triangle" w="med" len="med"/>
            </a:ln>
          </p:spPr>
        </p:cxnSp>
        <p:cxnSp>
          <p:nvCxnSpPr>
            <p:cNvPr id="5121" name="선"/>
            <p:cNvCxnSpPr/>
            <p:nvPr/>
          </p:nvCxnSpPr>
          <p:spPr>
            <a:xfrm>
              <a:off x="28080753" y="13114809"/>
              <a:ext cx="216000" cy="0"/>
            </a:xfrm>
            <a:prstGeom prst="line">
              <a:avLst/>
            </a:prstGeom>
            <a:ln w="31750">
              <a:solidFill>
                <a:srgbClr val="3B4A63"/>
              </a:solidFill>
            </a:ln>
          </p:spPr>
        </p:cxnSp>
        <p:cxnSp>
          <p:nvCxnSpPr>
            <p:cNvPr id="5122" name="선"/>
            <p:cNvCxnSpPr/>
            <p:nvPr/>
          </p:nvCxnSpPr>
          <p:spPr>
            <a:xfrm>
              <a:off x="28296753" y="13114809"/>
              <a:ext cx="0" cy="6220800"/>
            </a:xfrm>
            <a:prstGeom prst="line">
              <a:avLst/>
            </a:prstGeom>
            <a:ln w="31750">
              <a:solidFill>
                <a:srgbClr val="3B4A63"/>
              </a:solidFill>
            </a:ln>
          </p:spPr>
        </p:cxnSp>
        <p:cxnSp>
          <p:nvCxnSpPr>
            <p:cNvPr id="5123" name="선"/>
            <p:cNvCxnSpPr/>
            <p:nvPr/>
          </p:nvCxnSpPr>
          <p:spPr>
            <a:xfrm flipH="1">
              <a:off x="20466753" y="19335609"/>
              <a:ext cx="7830000" cy="0"/>
            </a:xfrm>
            <a:prstGeom prst="line">
              <a:avLst/>
            </a:prstGeom>
            <a:ln w="31750">
              <a:solidFill>
                <a:srgbClr val="3B4A63"/>
              </a:solidFill>
            </a:ln>
          </p:spPr>
        </p:cxnSp>
        <p:cxnSp>
          <p:nvCxnSpPr>
            <p:cNvPr id="5124" name="선"/>
            <p:cNvCxnSpPr/>
            <p:nvPr/>
          </p:nvCxnSpPr>
          <p:spPr>
            <a:xfrm flipV="1">
              <a:off x="20466753" y="19054809"/>
              <a:ext cx="0" cy="280800"/>
            </a:xfrm>
            <a:prstGeom prst="line">
              <a:avLst/>
            </a:prstGeom>
            <a:ln w="31750">
              <a:solidFill>
                <a:srgbClr val="3B4A63"/>
              </a:solidFill>
              <a:tailEnd type="triangle" w="med" len="med"/>
            </a:ln>
          </p:spPr>
        </p:cxnSp>
        <p:sp>
          <p:nvSpPr>
            <p:cNvPr id="5125" name="글상자"/>
            <p:cNvSpPr/>
            <p:nvPr/>
          </p:nvSpPr>
          <p:spPr>
            <a:xfrm>
              <a:off x="16740753" y="19465209"/>
              <a:ext cx="11772000" cy="3024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21600" tIns="10800" rIns="21600" bIns="1080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lang="ko-KR" altLang="en-US" sz="1600" b="0" dirty="0">
                  <a:solidFill>
                    <a:srgbClr val="444444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카드: Class 이름, 개체(Entity) ID, Data Property = 값.   화살표: 관계(Relation) 9종류</a:t>
              </a:r>
            </a:p>
          </p:txBody>
        </p:sp>
      </p:grpSp>
      <p:sp>
        <p:nvSpPr>
          <p:cNvPr id="1022" name="본문"/>
          <p:cNvSpPr txBox="1"/>
          <p:nvPr/>
        </p:nvSpPr>
        <p:spPr>
          <a:xfrm>
            <a:off x="15570184" y="19762809"/>
            <a:ext cx="14113138" cy="520000"/>
          </a:xfrm>
          <a:prstGeom prst="rect">
            <a:avLst/>
          </a:prstGeom>
          <a:noFill/>
          <a:ln>
            <a:noFill/>
          </a:ln>
        </p:spPr>
        <p:txBody>
          <a:bodyPr wrap="square" lIns="66158" tIns="33079" rIns="66158" bIns="33079" anchor="t">
            <a:noAutofit/>
          </a:bodyPr>
          <a:lstStyle/>
          <a:p>
            <a:pPr marL="0" indent="0" algn="ctr">
              <a:lnSpc>
                <a:spcPct val="118000"/>
              </a:lnSpc>
              <a:spcAft>
                <a:spcPts val="600"/>
              </a:spcAft>
              <a:buNone/>
            </a:pPr>
            <a:r>
              <a:rPr lang="ko-KR" altLang="en-US" sz="22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그림 4. 구축된 KG의 일부 (충주댐 승인 1368번)</a:t>
            </a:r>
          </a:p>
        </p:txBody>
      </p:sp>
      <p:sp>
        <p:nvSpPr>
          <p:cNvPr id="1023" name="본문"/>
          <p:cNvSpPr txBox="1"/>
          <p:nvPr/>
        </p:nvSpPr>
        <p:spPr>
          <a:xfrm>
            <a:off x="15570184" y="20282809"/>
            <a:ext cx="14113138" cy="969585"/>
          </a:xfrm>
          <a:prstGeom prst="rect">
            <a:avLst/>
          </a:prstGeom>
          <a:noFill/>
          <a:ln>
            <a:noFill/>
          </a:ln>
        </p:spPr>
        <p:txBody>
          <a:bodyPr wrap="square" lIns="66158" tIns="33079" rIns="66158" bIns="33079" anchor="t">
            <a:noAutofit/>
          </a:bodyPr>
          <a:lstStyle/>
          <a:p>
            <a:pPr marL="334726" indent="-334726">
              <a:lnSpc>
                <a:spcPct val="118000"/>
              </a:lnSpc>
              <a:spcAft>
                <a:spcPts val="600"/>
              </a:spcAft>
              <a:buBlip>
                <a:blip r:embed="rId4"/>
              </a:buBlip>
            </a:pPr>
            <a:r>
              <a:rPr lang="ko-KR" altLang="en-US" sz="23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구축된 KG의 예시: 자료의 한 건이 Class에 맞는 </a:t>
            </a:r>
            <a:r>
              <a:rPr lang="ko-KR" altLang="en-US" sz="2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개체</a:t>
            </a:r>
            <a:r>
              <a:rPr lang="ko-KR" altLang="en-US" sz="23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(Approval, Operation, Criterion 등)와 근거자료로 만들어지고, 값이 일치하는 개체끼리 </a:t>
            </a:r>
            <a:r>
              <a:rPr lang="ko-KR" altLang="en-US" sz="2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관계</a:t>
            </a:r>
            <a:r>
              <a:rPr lang="ko-KR" altLang="en-US" sz="23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로 연결됨</a:t>
            </a:r>
          </a:p>
        </p:txBody>
      </p:sp>
      <p:sp>
        <p:nvSpPr>
          <p:cNvPr id="1024" name="직사각형 1"/>
          <p:cNvSpPr/>
          <p:nvPr/>
        </p:nvSpPr>
        <p:spPr>
          <a:xfrm>
            <a:off x="15691431" y="21452394"/>
            <a:ext cx="13943667" cy="1023024"/>
          </a:xfrm>
          <a:prstGeom prst="rect">
            <a:avLst/>
          </a:prstGeom>
          <a:solidFill>
            <a:schemeClr val="accent1">
              <a:lumMod val="75000"/>
            </a:schemeClr>
          </a:solidFill>
          <a:ln w="9525">
            <a:noFill/>
            <a:miter lim="800000"/>
            <a:headEnd/>
            <a:tailEnd/>
          </a:ln>
        </p:spPr>
        <p:txBody>
          <a:bodyPr wrap="square" lIns="222728" tIns="111366" rIns="222728" bIns="111366" anchor="ctr"/>
          <a:lstStyle/>
          <a:p>
            <a:pPr defTabSz="2048653"/>
            <a:r>
              <a:rPr lang="ko-KR" altLang="en-US" sz="4800" b="1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고딕 ExtraBold" panose="020D0904000000000000" pitchFamily="50" charset="-127"/>
                <a:ea typeface="나눔고딕 ExtraBold" panose="020D0904000000000000" pitchFamily="50" charset="-127"/>
                <a:cs typeface="Arial Unicode MS" panose="020B0604020202020204" pitchFamily="50" charset="-127"/>
              </a:rPr>
              <a:t>단계 3. 근거 기반 질의응답</a:t>
            </a:r>
          </a:p>
        </p:txBody>
      </p:sp>
      <p:sp>
        <p:nvSpPr>
          <p:cNvPr id="1025" name="본문"/>
          <p:cNvSpPr txBox="1"/>
          <p:nvPr/>
        </p:nvSpPr>
        <p:spPr>
          <a:xfrm>
            <a:off x="15570184" y="22595418"/>
            <a:ext cx="14113138" cy="1459398"/>
          </a:xfrm>
          <a:prstGeom prst="rect">
            <a:avLst/>
          </a:prstGeom>
          <a:noFill/>
          <a:ln>
            <a:noFill/>
          </a:ln>
        </p:spPr>
        <p:txBody>
          <a:bodyPr wrap="square" lIns="66158" tIns="33079" rIns="66158" bIns="33079" anchor="t">
            <a:noAutofit/>
          </a:bodyPr>
          <a:lstStyle/>
          <a:p>
            <a:pPr marL="334726" indent="-334726">
              <a:lnSpc>
                <a:spcPct val="118000"/>
              </a:lnSpc>
              <a:spcAft>
                <a:spcPts val="600"/>
              </a:spcAft>
              <a:buBlip>
                <a:blip r:embed="rId4"/>
              </a:buBlip>
            </a:pPr>
            <a:r>
              <a:rPr lang="ko-KR" altLang="en-US" sz="23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질문에서 </a:t>
            </a:r>
            <a:r>
              <a:rPr lang="ko-KR" altLang="en-US" sz="2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의도(CQ, 복수 가능)</a:t>
            </a:r>
            <a:r>
              <a:rPr lang="ko-KR" altLang="en-US" sz="23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 와 대상(댐·시점)을 뽑고, 의도에 따라 KG와 저장소에서 근거를 찾아 </a:t>
            </a:r>
            <a:r>
              <a:rPr lang="ko-KR" altLang="en-US" sz="2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출처 번호가 붙은 근거 묶음</a:t>
            </a:r>
            <a:r>
              <a:rPr lang="ko-KR" altLang="en-US" sz="23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으로 정리함</a:t>
            </a:r>
          </a:p>
          <a:p>
            <a:pPr marL="334726" indent="-334726">
              <a:lnSpc>
                <a:spcPct val="118000"/>
              </a:lnSpc>
              <a:spcAft>
                <a:spcPts val="600"/>
              </a:spcAft>
              <a:buBlip>
                <a:blip r:embed="rId4"/>
              </a:buBlip>
            </a:pPr>
            <a:r>
              <a:rPr lang="ko-KR" altLang="en-US" sz="23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근거 묶음을 바탕으로 답변하며, </a:t>
            </a:r>
            <a:r>
              <a:rPr lang="ko-KR" altLang="en-US" sz="2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근거와 판단을 나누어</a:t>
            </a:r>
            <a:r>
              <a:rPr lang="ko-KR" altLang="en-US" sz="23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 표시함</a:t>
            </a:r>
          </a:p>
        </p:txBody>
      </p:sp>
      <p:grpSp>
        <p:nvGrpSpPr>
          <p:cNvPr id="5145" name="그림 질의응답 흐름"/>
          <p:cNvGrpSpPr/>
          <p:nvPr/>
        </p:nvGrpSpPr>
        <p:grpSpPr>
          <a:xfrm>
            <a:off x="17226753" y="24054816"/>
            <a:ext cx="10800000" cy="5886000"/>
            <a:chOff x="17226753" y="24054816"/>
            <a:chExt cx="10800000" cy="5886000"/>
          </a:xfrm>
        </p:grpSpPr>
        <p:sp>
          <p:nvSpPr>
            <p:cNvPr id="5127" name="도형"/>
            <p:cNvSpPr/>
            <p:nvPr/>
          </p:nvSpPr>
          <p:spPr>
            <a:xfrm>
              <a:off x="17226753" y="24054816"/>
              <a:ext cx="3240000" cy="691200"/>
            </a:xfrm>
            <a:prstGeom prst="roundRect">
              <a:avLst>
                <a:gd name="adj" fmla="val 6000"/>
              </a:avLst>
            </a:prstGeom>
            <a:solidFill>
              <a:srgbClr val="E9EEF5"/>
            </a:solidFill>
            <a:ln w="22225">
              <a:solidFill>
                <a:srgbClr val="262626"/>
              </a:solidFill>
            </a:ln>
          </p:spPr>
          <p:txBody>
            <a:bodyPr wrap="square" lIns="151200" tIns="75600" rIns="151200" bIns="7560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lang="ko-KR" altLang="en-US" sz="1800" b="1" dirty="0">
                  <a:solidFill>
                    <a:srgbClr val="1F3A5F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질문 해석</a:t>
              </a:r>
            </a:p>
          </p:txBody>
        </p:sp>
        <p:cxnSp>
          <p:nvCxnSpPr>
            <p:cNvPr id="5128" name="선"/>
            <p:cNvCxnSpPr/>
            <p:nvPr/>
          </p:nvCxnSpPr>
          <p:spPr>
            <a:xfrm>
              <a:off x="20509953" y="24400416"/>
              <a:ext cx="388800" cy="0"/>
            </a:xfrm>
            <a:prstGeom prst="line">
              <a:avLst/>
            </a:prstGeom>
            <a:ln w="31750">
              <a:solidFill>
                <a:srgbClr val="3B4A63"/>
              </a:solidFill>
              <a:tailEnd type="triangle" w="med" len="med"/>
            </a:ln>
          </p:spPr>
        </p:cxnSp>
        <p:sp>
          <p:nvSpPr>
            <p:cNvPr id="5129" name="도형"/>
            <p:cNvSpPr/>
            <p:nvPr/>
          </p:nvSpPr>
          <p:spPr>
            <a:xfrm>
              <a:off x="20941953" y="24054816"/>
              <a:ext cx="7084800" cy="691200"/>
            </a:xfrm>
            <a:prstGeom prst="rect">
              <a:avLst/>
            </a:prstGeom>
            <a:solidFill>
              <a:srgbClr val="FFFFFF"/>
            </a:solidFill>
            <a:ln w="22225">
              <a:solidFill>
                <a:srgbClr val="262626"/>
              </a:solidFill>
            </a:ln>
          </p:spPr>
          <p:txBody>
            <a:bodyPr wrap="square" lIns="151200" tIns="75600" rIns="151200" bIns="7560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lang="ko-KR" altLang="en-US" sz="1600" b="0" dirty="0">
                  <a:solidFill>
                    <a:srgbClr val="222222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질문에서 의도(CQ, 복수 가능)와 대상(댐·시점)을 뽑음</a:t>
              </a:r>
            </a:p>
          </p:txBody>
        </p:sp>
        <p:sp>
          <p:nvSpPr>
            <p:cNvPr id="5130" name="도형"/>
            <p:cNvSpPr/>
            <p:nvPr/>
          </p:nvSpPr>
          <p:spPr>
            <a:xfrm>
              <a:off x="17226753" y="24875616"/>
              <a:ext cx="3240000" cy="926208"/>
            </a:xfrm>
            <a:prstGeom prst="roundRect">
              <a:avLst>
                <a:gd name="adj" fmla="val 6000"/>
              </a:avLst>
            </a:prstGeom>
            <a:solidFill>
              <a:srgbClr val="E9EEF5"/>
            </a:solidFill>
            <a:ln w="22225">
              <a:solidFill>
                <a:srgbClr val="262626"/>
              </a:solidFill>
            </a:ln>
          </p:spPr>
          <p:txBody>
            <a:bodyPr wrap="square" lIns="151200" tIns="75600" rIns="151200" bIns="7560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lang="ko-KR" altLang="en-US" sz="1800" b="1" dirty="0">
                  <a:solidFill>
                    <a:srgbClr val="1F3A5F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1 입력 확인</a:t>
              </a:r>
            </a:p>
          </p:txBody>
        </p:sp>
        <p:cxnSp>
          <p:nvCxnSpPr>
            <p:cNvPr id="5131" name="선"/>
            <p:cNvCxnSpPr/>
            <p:nvPr/>
          </p:nvCxnSpPr>
          <p:spPr>
            <a:xfrm>
              <a:off x="20509953" y="25338720"/>
              <a:ext cx="388800" cy="0"/>
            </a:xfrm>
            <a:prstGeom prst="line">
              <a:avLst/>
            </a:prstGeom>
            <a:ln w="31750">
              <a:solidFill>
                <a:srgbClr val="3B4A63"/>
              </a:solidFill>
              <a:tailEnd type="triangle" w="med" len="med"/>
            </a:ln>
          </p:spPr>
        </p:cxnSp>
        <p:sp>
          <p:nvSpPr>
            <p:cNvPr id="5132" name="도형"/>
            <p:cNvSpPr/>
            <p:nvPr/>
          </p:nvSpPr>
          <p:spPr>
            <a:xfrm>
              <a:off x="20941953" y="24875616"/>
              <a:ext cx="7084800" cy="926208"/>
            </a:xfrm>
            <a:prstGeom prst="rect">
              <a:avLst/>
            </a:prstGeom>
            <a:solidFill>
              <a:srgbClr val="FFFFFF"/>
            </a:solidFill>
            <a:ln w="22225">
              <a:solidFill>
                <a:srgbClr val="262626"/>
              </a:solidFill>
            </a:ln>
          </p:spPr>
          <p:txBody>
            <a:bodyPr wrap="square" lIns="151200" tIns="75600" rIns="151200" bIns="7560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lang="ko-KR" altLang="en-US" sz="1600" b="0" dirty="0">
                  <a:solidFill>
                    <a:srgbClr val="222222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의도·대상이 허용 범위인지 확인하고 표기를 맞춤 (범위 밖이면 조회하지 않음)</a:t>
              </a:r>
            </a:p>
          </p:txBody>
        </p:sp>
        <p:sp>
          <p:nvSpPr>
            <p:cNvPr id="5133" name="도형"/>
            <p:cNvSpPr/>
            <p:nvPr/>
          </p:nvSpPr>
          <p:spPr>
            <a:xfrm>
              <a:off x="17226753" y="25931424"/>
              <a:ext cx="3240000" cy="691200"/>
            </a:xfrm>
            <a:prstGeom prst="roundRect">
              <a:avLst>
                <a:gd name="adj" fmla="val 6000"/>
              </a:avLst>
            </a:prstGeom>
            <a:solidFill>
              <a:srgbClr val="E9EEF5"/>
            </a:solidFill>
            <a:ln w="22225">
              <a:solidFill>
                <a:srgbClr val="262626"/>
              </a:solidFill>
            </a:ln>
          </p:spPr>
          <p:txBody>
            <a:bodyPr wrap="square" lIns="151200" tIns="75600" rIns="151200" bIns="7560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lang="ko-KR" altLang="en-US" sz="1800" b="1" dirty="0">
                  <a:solidFill>
                    <a:srgbClr val="1F3A5F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2 KG 조회</a:t>
              </a:r>
            </a:p>
          </p:txBody>
        </p:sp>
        <p:cxnSp>
          <p:nvCxnSpPr>
            <p:cNvPr id="5134" name="선"/>
            <p:cNvCxnSpPr/>
            <p:nvPr/>
          </p:nvCxnSpPr>
          <p:spPr>
            <a:xfrm>
              <a:off x="20509953" y="26277024"/>
              <a:ext cx="388800" cy="0"/>
            </a:xfrm>
            <a:prstGeom prst="line">
              <a:avLst/>
            </a:prstGeom>
            <a:ln w="31750">
              <a:solidFill>
                <a:srgbClr val="3B4A63"/>
              </a:solidFill>
              <a:tailEnd type="triangle" w="med" len="med"/>
            </a:ln>
          </p:spPr>
        </p:cxnSp>
        <p:sp>
          <p:nvSpPr>
            <p:cNvPr id="5135" name="도형"/>
            <p:cNvSpPr/>
            <p:nvPr/>
          </p:nvSpPr>
          <p:spPr>
            <a:xfrm>
              <a:off x="20941953" y="25931424"/>
              <a:ext cx="7084800" cy="691200"/>
            </a:xfrm>
            <a:prstGeom prst="rect">
              <a:avLst/>
            </a:prstGeom>
            <a:solidFill>
              <a:srgbClr val="FFFFFF"/>
            </a:solidFill>
            <a:ln w="22225">
              <a:solidFill>
                <a:srgbClr val="262626"/>
              </a:solidFill>
            </a:ln>
          </p:spPr>
          <p:txBody>
            <a:bodyPr wrap="square" lIns="151200" tIns="75600" rIns="151200" bIns="7560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lang="ko-KR" altLang="en-US" sz="1600" b="0" dirty="0">
                  <a:solidFill>
                    <a:srgbClr val="222222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의도별 Cypher 질의 틀로 관계를 따라 개체와 찾아가는 키를 가져옴</a:t>
              </a:r>
            </a:p>
          </p:txBody>
        </p:sp>
        <p:sp>
          <p:nvSpPr>
            <p:cNvPr id="5136" name="도형"/>
            <p:cNvSpPr/>
            <p:nvPr/>
          </p:nvSpPr>
          <p:spPr>
            <a:xfrm>
              <a:off x="17226753" y="26752224"/>
              <a:ext cx="3240000" cy="691200"/>
            </a:xfrm>
            <a:prstGeom prst="roundRect">
              <a:avLst>
                <a:gd name="adj" fmla="val 6000"/>
              </a:avLst>
            </a:prstGeom>
            <a:solidFill>
              <a:srgbClr val="E9EEF5"/>
            </a:solidFill>
            <a:ln w="22225">
              <a:solidFill>
                <a:srgbClr val="262626"/>
              </a:solidFill>
            </a:ln>
          </p:spPr>
          <p:txBody>
            <a:bodyPr wrap="square" lIns="151200" tIns="75600" rIns="151200" bIns="7560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lang="ko-KR" altLang="en-US" sz="1800" b="1" dirty="0">
                  <a:solidFill>
                    <a:srgbClr val="1F3A5F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3 저장소 조회</a:t>
              </a:r>
            </a:p>
          </p:txBody>
        </p:sp>
        <p:cxnSp>
          <p:nvCxnSpPr>
            <p:cNvPr id="5137" name="선"/>
            <p:cNvCxnSpPr/>
            <p:nvPr/>
          </p:nvCxnSpPr>
          <p:spPr>
            <a:xfrm>
              <a:off x="20509953" y="27097824"/>
              <a:ext cx="388800" cy="0"/>
            </a:xfrm>
            <a:prstGeom prst="line">
              <a:avLst/>
            </a:prstGeom>
            <a:ln w="31750">
              <a:solidFill>
                <a:srgbClr val="3B4A63"/>
              </a:solidFill>
              <a:tailEnd type="triangle" w="med" len="med"/>
            </a:ln>
          </p:spPr>
        </p:cxnSp>
        <p:sp>
          <p:nvSpPr>
            <p:cNvPr id="5138" name="도형"/>
            <p:cNvSpPr/>
            <p:nvPr/>
          </p:nvSpPr>
          <p:spPr>
            <a:xfrm>
              <a:off x="20941953" y="26752224"/>
              <a:ext cx="7084800" cy="691200"/>
            </a:xfrm>
            <a:prstGeom prst="rect">
              <a:avLst/>
            </a:prstGeom>
            <a:solidFill>
              <a:srgbClr val="FFFFFF"/>
            </a:solidFill>
            <a:ln w="22225">
              <a:solidFill>
                <a:srgbClr val="262626"/>
              </a:solidFill>
            </a:ln>
          </p:spPr>
          <p:txBody>
            <a:bodyPr wrap="square" lIns="151200" tIns="75600" rIns="151200" bIns="7560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lang="ko-KR" altLang="en-US" sz="1600" b="0" dirty="0">
                  <a:solidFill>
                    <a:srgbClr val="222222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키로 측정값·규정 원문을 읽음 (값은 원값 그대로)</a:t>
              </a:r>
            </a:p>
          </p:txBody>
        </p:sp>
        <p:sp>
          <p:nvSpPr>
            <p:cNvPr id="5139" name="도형"/>
            <p:cNvSpPr/>
            <p:nvPr/>
          </p:nvSpPr>
          <p:spPr>
            <a:xfrm>
              <a:off x="17226753" y="27573024"/>
              <a:ext cx="3240000" cy="691200"/>
            </a:xfrm>
            <a:prstGeom prst="roundRect">
              <a:avLst>
                <a:gd name="adj" fmla="val 6000"/>
              </a:avLst>
            </a:prstGeom>
            <a:solidFill>
              <a:srgbClr val="E9EEF5"/>
            </a:solidFill>
            <a:ln w="22225">
              <a:solidFill>
                <a:srgbClr val="262626"/>
              </a:solidFill>
            </a:ln>
          </p:spPr>
          <p:txBody>
            <a:bodyPr wrap="square" lIns="151200" tIns="75600" rIns="151200" bIns="7560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lang="ko-KR" altLang="en-US" sz="1800" b="1" dirty="0">
                  <a:solidFill>
                    <a:srgbClr val="1F3A5F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4 근거 묶음 구성</a:t>
              </a:r>
            </a:p>
          </p:txBody>
        </p:sp>
        <p:cxnSp>
          <p:nvCxnSpPr>
            <p:cNvPr id="5140" name="선"/>
            <p:cNvCxnSpPr/>
            <p:nvPr/>
          </p:nvCxnSpPr>
          <p:spPr>
            <a:xfrm>
              <a:off x="20509953" y="27918624"/>
              <a:ext cx="388800" cy="0"/>
            </a:xfrm>
            <a:prstGeom prst="line">
              <a:avLst/>
            </a:prstGeom>
            <a:ln w="31750">
              <a:solidFill>
                <a:srgbClr val="3B4A63"/>
              </a:solidFill>
              <a:tailEnd type="triangle" w="med" len="med"/>
            </a:ln>
          </p:spPr>
        </p:cxnSp>
        <p:sp>
          <p:nvSpPr>
            <p:cNvPr id="5141" name="도형"/>
            <p:cNvSpPr/>
            <p:nvPr/>
          </p:nvSpPr>
          <p:spPr>
            <a:xfrm>
              <a:off x="20941953" y="27573024"/>
              <a:ext cx="7084800" cy="691200"/>
            </a:xfrm>
            <a:prstGeom prst="rect">
              <a:avLst/>
            </a:prstGeom>
            <a:solidFill>
              <a:srgbClr val="FFFFFF"/>
            </a:solidFill>
            <a:ln w="22225">
              <a:solidFill>
                <a:srgbClr val="262626"/>
              </a:solidFill>
            </a:ln>
          </p:spPr>
          <p:txBody>
            <a:bodyPr wrap="square" lIns="151200" tIns="75600" rIns="151200" bIns="7560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lang="ko-KR" altLang="en-US" sz="1600" b="0" dirty="0">
                  <a:solidFill>
                    <a:srgbClr val="222222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의도별 구역으로 모으고 항목마다 출처 번호를 붙임</a:t>
              </a:r>
            </a:p>
          </p:txBody>
        </p:sp>
        <p:sp>
          <p:nvSpPr>
            <p:cNvPr id="5142" name="도형"/>
            <p:cNvSpPr/>
            <p:nvPr/>
          </p:nvSpPr>
          <p:spPr>
            <a:xfrm>
              <a:off x="17226753" y="28393824"/>
              <a:ext cx="3240000" cy="1506816"/>
            </a:xfrm>
            <a:prstGeom prst="roundRect">
              <a:avLst>
                <a:gd name="adj" fmla="val 6000"/>
              </a:avLst>
            </a:prstGeom>
            <a:solidFill>
              <a:srgbClr val="E9EEF5"/>
            </a:solidFill>
            <a:ln w="22225">
              <a:solidFill>
                <a:srgbClr val="262626"/>
              </a:solidFill>
            </a:ln>
          </p:spPr>
          <p:txBody>
            <a:bodyPr wrap="square" lIns="151200" tIns="75600" rIns="151200" bIns="7560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lang="ko-KR" altLang="en-US" sz="1800" b="1" dirty="0">
                  <a:solidFill>
                    <a:srgbClr val="1F3A5F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답변 생성</a:t>
              </a:r>
            </a:p>
          </p:txBody>
        </p:sp>
        <p:cxnSp>
          <p:nvCxnSpPr>
            <p:cNvPr id="5143" name="선"/>
            <p:cNvCxnSpPr/>
            <p:nvPr/>
          </p:nvCxnSpPr>
          <p:spPr>
            <a:xfrm>
              <a:off x="20509953" y="29147232"/>
              <a:ext cx="388800" cy="0"/>
            </a:xfrm>
            <a:prstGeom prst="line">
              <a:avLst/>
            </a:prstGeom>
            <a:ln w="31750">
              <a:solidFill>
                <a:srgbClr val="3B4A63"/>
              </a:solidFill>
              <a:tailEnd type="triangle" w="med" len="med"/>
            </a:ln>
          </p:spPr>
        </p:cxnSp>
        <p:sp>
          <p:nvSpPr>
            <p:cNvPr id="5144" name="도형"/>
            <p:cNvSpPr/>
            <p:nvPr/>
          </p:nvSpPr>
          <p:spPr>
            <a:xfrm>
              <a:off x="20941953" y="28393824"/>
              <a:ext cx="7084800" cy="1506816"/>
            </a:xfrm>
            <a:prstGeom prst="rect">
              <a:avLst/>
            </a:prstGeom>
            <a:solidFill>
              <a:srgbClr val="FFFFFF"/>
            </a:solidFill>
            <a:ln w="22225">
              <a:solidFill>
                <a:srgbClr val="262626"/>
              </a:solidFill>
            </a:ln>
          </p:spPr>
          <p:txBody>
            <a:bodyPr wrap="square" lIns="151200" tIns="75600" rIns="151200" bIns="7560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lang="ko-KR" altLang="en-US" sz="1600" b="0" dirty="0">
                  <a:solidFill>
                    <a:srgbClr val="222222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근거 묶음과 근거 사용 원칙(근거만 사실로, 출처 번호 표기)을 받아 답변</a:t>
              </a:r>
            </a:p>
            <a:p>
              <a:pPr algn="l">
                <a:lnSpc>
                  <a:spcPct val="100000"/>
                </a:lnSpc>
              </a:pPr>
              <a:r>
                <a:rPr lang="ko-KR" altLang="en-US" sz="1600" b="0" dirty="0">
                  <a:solidFill>
                    <a:srgbClr val="222222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근거: 사실과 출처 번호  /  판단: 판단임을 밝히고 근거 표시  /  없는 내용: “자료에 없음”</a:t>
              </a:r>
            </a:p>
          </p:txBody>
        </p:sp>
      </p:grpSp>
      <p:sp>
        <p:nvSpPr>
          <p:cNvPr id="1026" name="본문"/>
          <p:cNvSpPr txBox="1"/>
          <p:nvPr/>
        </p:nvSpPr>
        <p:spPr>
          <a:xfrm>
            <a:off x="15570184" y="30000816"/>
            <a:ext cx="14113138" cy="520000"/>
          </a:xfrm>
          <a:prstGeom prst="rect">
            <a:avLst/>
          </a:prstGeom>
          <a:noFill/>
          <a:ln>
            <a:noFill/>
          </a:ln>
        </p:spPr>
        <p:txBody>
          <a:bodyPr wrap="square" lIns="66158" tIns="33079" rIns="66158" bIns="33079" anchor="t">
            <a:noAutofit/>
          </a:bodyPr>
          <a:lstStyle/>
          <a:p>
            <a:pPr marL="0" indent="0" algn="ctr">
              <a:lnSpc>
                <a:spcPct val="118000"/>
              </a:lnSpc>
              <a:spcAft>
                <a:spcPts val="600"/>
              </a:spcAft>
              <a:buNone/>
            </a:pPr>
            <a:r>
              <a:rPr lang="ko-KR" altLang="en-US" sz="22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그림 5. 질의응답의 처리 단계</a:t>
            </a:r>
          </a:p>
        </p:txBody>
      </p:sp>
      <p:grpSp>
        <p:nvGrpSpPr>
          <p:cNvPr id="5164" name="그림 근거 묶음과 답변"/>
          <p:cNvGrpSpPr/>
          <p:nvPr/>
        </p:nvGrpSpPr>
        <p:grpSpPr>
          <a:xfrm>
            <a:off x="17226753" y="30520816"/>
            <a:ext cx="10800000" cy="4266000"/>
            <a:chOff x="17226753" y="30520816"/>
            <a:chExt cx="10800000" cy="4266000"/>
          </a:xfrm>
        </p:grpSpPr>
        <p:sp>
          <p:nvSpPr>
            <p:cNvPr id="5146" name="글상자"/>
            <p:cNvSpPr/>
            <p:nvPr/>
          </p:nvSpPr>
          <p:spPr>
            <a:xfrm>
              <a:off x="17226753" y="30520816"/>
              <a:ext cx="5076000" cy="3888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21600" tIns="10800" rIns="21600" bIns="1080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lang="ko-KR" altLang="en-US" sz="1800" b="1" dirty="0">
                  <a:solidFill>
                    <a:srgbClr val="1F3A5F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근거 묶음 (구역 / 출처 번호)</a:t>
              </a:r>
            </a:p>
          </p:txBody>
        </p:sp>
        <p:sp>
          <p:nvSpPr>
            <p:cNvPr id="5147" name="도형"/>
            <p:cNvSpPr/>
            <p:nvPr/>
          </p:nvSpPr>
          <p:spPr>
            <a:xfrm>
              <a:off x="17226753" y="30974416"/>
              <a:ext cx="2700000" cy="540000"/>
            </a:xfrm>
            <a:prstGeom prst="rect">
              <a:avLst/>
            </a:prstGeom>
            <a:solidFill>
              <a:srgbClr val="E9EEF5"/>
            </a:solidFill>
            <a:ln w="22225">
              <a:solidFill>
                <a:srgbClr val="262626"/>
              </a:solidFill>
            </a:ln>
          </p:spPr>
          <p:txBody>
            <a:bodyPr wrap="square" lIns="86400" tIns="43200" rIns="86400" bIns="4320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lang="ko-KR" altLang="en-US" sz="1600" b="0" dirty="0">
                  <a:solidFill>
                    <a:srgbClr val="222222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[MEA:관측소코드:시각]</a:t>
              </a:r>
            </a:p>
          </p:txBody>
        </p:sp>
        <p:sp>
          <p:nvSpPr>
            <p:cNvPr id="5148" name="도형"/>
            <p:cNvSpPr/>
            <p:nvPr/>
          </p:nvSpPr>
          <p:spPr>
            <a:xfrm>
              <a:off x="19926753" y="30974416"/>
              <a:ext cx="2376000" cy="540000"/>
            </a:xfrm>
            <a:prstGeom prst="rect">
              <a:avLst/>
            </a:prstGeom>
            <a:solidFill>
              <a:srgbClr val="FFFFFF"/>
            </a:solidFill>
            <a:ln w="22225">
              <a:solidFill>
                <a:srgbClr val="262626"/>
              </a:solidFill>
            </a:ln>
          </p:spPr>
          <p:txBody>
            <a:bodyPr wrap="square" lIns="129600" tIns="64800" rIns="129600" bIns="6480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lang="ko-KR" altLang="en-US" sz="1600" b="0" dirty="0">
                  <a:solidFill>
                    <a:srgbClr val="222222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현재 상태 (CQ1)</a:t>
              </a:r>
            </a:p>
          </p:txBody>
        </p:sp>
        <p:sp>
          <p:nvSpPr>
            <p:cNvPr id="5149" name="도형"/>
            <p:cNvSpPr/>
            <p:nvPr/>
          </p:nvSpPr>
          <p:spPr>
            <a:xfrm>
              <a:off x="17226753" y="31600816"/>
              <a:ext cx="2700000" cy="540000"/>
            </a:xfrm>
            <a:prstGeom prst="rect">
              <a:avLst/>
            </a:prstGeom>
            <a:solidFill>
              <a:srgbClr val="E9EEF5"/>
            </a:solidFill>
            <a:ln w="22225">
              <a:solidFill>
                <a:srgbClr val="262626"/>
              </a:solidFill>
            </a:ln>
          </p:spPr>
          <p:txBody>
            <a:bodyPr wrap="square" lIns="86400" tIns="43200" rIns="86400" bIns="4320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lang="ko-KR" altLang="en-US" sz="1600" b="0" dirty="0">
                  <a:solidFill>
                    <a:srgbClr val="222222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[MEA:관측소코드:시각]</a:t>
              </a:r>
            </a:p>
          </p:txBody>
        </p:sp>
        <p:sp>
          <p:nvSpPr>
            <p:cNvPr id="5150" name="도형"/>
            <p:cNvSpPr/>
            <p:nvPr/>
          </p:nvSpPr>
          <p:spPr>
            <a:xfrm>
              <a:off x="19926753" y="31600816"/>
              <a:ext cx="2376000" cy="540000"/>
            </a:xfrm>
            <a:prstGeom prst="rect">
              <a:avLst/>
            </a:prstGeom>
            <a:solidFill>
              <a:srgbClr val="FFFFFF"/>
            </a:solidFill>
            <a:ln w="22225">
              <a:solidFill>
                <a:srgbClr val="262626"/>
              </a:solidFill>
            </a:ln>
          </p:spPr>
          <p:txBody>
            <a:bodyPr wrap="square" lIns="129600" tIns="64800" rIns="129600" bIns="6480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lang="ko-KR" altLang="en-US" sz="1600" b="0" dirty="0">
                  <a:solidFill>
                    <a:srgbClr val="222222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운영 시각 상태 (CQ2)</a:t>
              </a:r>
            </a:p>
          </p:txBody>
        </p:sp>
        <p:sp>
          <p:nvSpPr>
            <p:cNvPr id="5151" name="도형"/>
            <p:cNvSpPr/>
            <p:nvPr/>
          </p:nvSpPr>
          <p:spPr>
            <a:xfrm>
              <a:off x="17226753" y="32227216"/>
              <a:ext cx="2700000" cy="540000"/>
            </a:xfrm>
            <a:prstGeom prst="rect">
              <a:avLst/>
            </a:prstGeom>
            <a:solidFill>
              <a:srgbClr val="E9EEF5"/>
            </a:solidFill>
            <a:ln w="22225">
              <a:solidFill>
                <a:srgbClr val="262626"/>
              </a:solidFill>
            </a:ln>
          </p:spPr>
          <p:txBody>
            <a:bodyPr wrap="square" lIns="86400" tIns="43200" rIns="86400" bIns="4320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lang="ko-KR" altLang="en-US" sz="1600" b="0" dirty="0">
                  <a:solidFill>
                    <a:srgbClr val="222222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[OPR] ← [APR]</a:t>
              </a:r>
            </a:p>
          </p:txBody>
        </p:sp>
        <p:sp>
          <p:nvSpPr>
            <p:cNvPr id="5152" name="도형"/>
            <p:cNvSpPr/>
            <p:nvPr/>
          </p:nvSpPr>
          <p:spPr>
            <a:xfrm>
              <a:off x="19926753" y="32227216"/>
              <a:ext cx="2376000" cy="540000"/>
            </a:xfrm>
            <a:prstGeom prst="rect">
              <a:avLst/>
            </a:prstGeom>
            <a:solidFill>
              <a:srgbClr val="FFFFFF"/>
            </a:solidFill>
            <a:ln w="22225">
              <a:solidFill>
                <a:srgbClr val="262626"/>
              </a:solidFill>
            </a:ln>
          </p:spPr>
          <p:txBody>
            <a:bodyPr wrap="square" lIns="129600" tIns="64800" rIns="129600" bIns="6480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lang="ko-KR" altLang="en-US" sz="1600" b="0" dirty="0">
                  <a:solidFill>
                    <a:srgbClr val="222222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운영행위·승인 (CQ3)</a:t>
              </a:r>
            </a:p>
          </p:txBody>
        </p:sp>
        <p:sp>
          <p:nvSpPr>
            <p:cNvPr id="5153" name="도형"/>
            <p:cNvSpPr/>
            <p:nvPr/>
          </p:nvSpPr>
          <p:spPr>
            <a:xfrm>
              <a:off x="17226753" y="32853616"/>
              <a:ext cx="2700000" cy="540000"/>
            </a:xfrm>
            <a:prstGeom prst="rect">
              <a:avLst/>
            </a:prstGeom>
            <a:solidFill>
              <a:srgbClr val="E9EEF5"/>
            </a:solidFill>
            <a:ln w="22225">
              <a:solidFill>
                <a:srgbClr val="262626"/>
              </a:solidFill>
            </a:ln>
          </p:spPr>
          <p:txBody>
            <a:bodyPr wrap="square" lIns="86400" tIns="43200" rIns="86400" bIns="4320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lang="ko-KR" altLang="en-US" sz="1600" b="0" dirty="0">
                  <a:solidFill>
                    <a:srgbClr val="222222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[APR:번호]</a:t>
              </a:r>
            </a:p>
          </p:txBody>
        </p:sp>
        <p:sp>
          <p:nvSpPr>
            <p:cNvPr id="5154" name="도형"/>
            <p:cNvSpPr/>
            <p:nvPr/>
          </p:nvSpPr>
          <p:spPr>
            <a:xfrm>
              <a:off x="19926753" y="32853616"/>
              <a:ext cx="2376000" cy="540000"/>
            </a:xfrm>
            <a:prstGeom prst="rect">
              <a:avLst/>
            </a:prstGeom>
            <a:solidFill>
              <a:srgbClr val="FFFFFF"/>
            </a:solidFill>
            <a:ln w="22225">
              <a:solidFill>
                <a:srgbClr val="262626"/>
              </a:solidFill>
            </a:ln>
          </p:spPr>
          <p:txBody>
            <a:bodyPr wrap="square" lIns="129600" tIns="64800" rIns="129600" bIns="6480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lang="ko-KR" altLang="en-US" sz="1600" b="0" dirty="0">
                  <a:solidFill>
                    <a:srgbClr val="222222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방류 승인 (CQ4)</a:t>
              </a:r>
            </a:p>
          </p:txBody>
        </p:sp>
        <p:sp>
          <p:nvSpPr>
            <p:cNvPr id="5155" name="도형"/>
            <p:cNvSpPr/>
            <p:nvPr/>
          </p:nvSpPr>
          <p:spPr>
            <a:xfrm>
              <a:off x="17226753" y="33480016"/>
              <a:ext cx="2700000" cy="540000"/>
            </a:xfrm>
            <a:prstGeom prst="rect">
              <a:avLst/>
            </a:prstGeom>
            <a:solidFill>
              <a:srgbClr val="E9EEF5"/>
            </a:solidFill>
            <a:ln w="22225">
              <a:solidFill>
                <a:srgbClr val="262626"/>
              </a:solidFill>
            </a:ln>
          </p:spPr>
          <p:txBody>
            <a:bodyPr wrap="square" lIns="86400" tIns="43200" rIns="86400" bIns="4320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lang="ko-KR" altLang="en-US" sz="1600" b="0" dirty="0">
                  <a:solidFill>
                    <a:srgbClr val="222222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[CRI:번호]</a:t>
              </a:r>
            </a:p>
          </p:txBody>
        </p:sp>
        <p:sp>
          <p:nvSpPr>
            <p:cNvPr id="5156" name="도형"/>
            <p:cNvSpPr/>
            <p:nvPr/>
          </p:nvSpPr>
          <p:spPr>
            <a:xfrm>
              <a:off x="19926753" y="33480016"/>
              <a:ext cx="2376000" cy="540000"/>
            </a:xfrm>
            <a:prstGeom prst="rect">
              <a:avLst/>
            </a:prstGeom>
            <a:solidFill>
              <a:srgbClr val="FFFFFF"/>
            </a:solidFill>
            <a:ln w="22225">
              <a:solidFill>
                <a:srgbClr val="262626"/>
              </a:solidFill>
            </a:ln>
          </p:spPr>
          <p:txBody>
            <a:bodyPr wrap="square" lIns="129600" tIns="64800" rIns="129600" bIns="6480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lang="ko-KR" altLang="en-US" sz="1600" b="0" dirty="0">
                  <a:solidFill>
                    <a:srgbClr val="222222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운영기준 (CQ5)</a:t>
              </a:r>
            </a:p>
          </p:txBody>
        </p:sp>
        <p:sp>
          <p:nvSpPr>
            <p:cNvPr id="5157" name="도형"/>
            <p:cNvSpPr/>
            <p:nvPr/>
          </p:nvSpPr>
          <p:spPr>
            <a:xfrm>
              <a:off x="17226753" y="34106416"/>
              <a:ext cx="2700000" cy="540000"/>
            </a:xfrm>
            <a:prstGeom prst="rect">
              <a:avLst/>
            </a:prstGeom>
            <a:solidFill>
              <a:srgbClr val="E9EEF5"/>
            </a:solidFill>
            <a:ln w="22225">
              <a:solidFill>
                <a:srgbClr val="262626"/>
              </a:solidFill>
            </a:ln>
          </p:spPr>
          <p:txBody>
            <a:bodyPr wrap="square" lIns="86400" tIns="43200" rIns="86400" bIns="4320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lang="ko-KR" altLang="en-US" sz="1600" b="0" dirty="0">
                  <a:solidFill>
                    <a:srgbClr val="222222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[EVI:…]</a:t>
              </a:r>
            </a:p>
          </p:txBody>
        </p:sp>
        <p:sp>
          <p:nvSpPr>
            <p:cNvPr id="5158" name="도형"/>
            <p:cNvSpPr/>
            <p:nvPr/>
          </p:nvSpPr>
          <p:spPr>
            <a:xfrm>
              <a:off x="19926753" y="34106416"/>
              <a:ext cx="2376000" cy="540000"/>
            </a:xfrm>
            <a:prstGeom prst="rect">
              <a:avLst/>
            </a:prstGeom>
            <a:solidFill>
              <a:srgbClr val="FFFFFF"/>
            </a:solidFill>
            <a:ln w="22225">
              <a:solidFill>
                <a:srgbClr val="262626"/>
              </a:solidFill>
            </a:ln>
          </p:spPr>
          <p:txBody>
            <a:bodyPr wrap="square" lIns="129600" tIns="64800" rIns="129600" bIns="6480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lang="ko-KR" altLang="en-US" sz="1600" b="0" dirty="0">
                  <a:solidFill>
                    <a:srgbClr val="222222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출처 (CQ6)</a:t>
              </a:r>
            </a:p>
          </p:txBody>
        </p:sp>
        <p:cxnSp>
          <p:nvCxnSpPr>
            <p:cNvPr id="5159" name="선"/>
            <p:cNvCxnSpPr/>
            <p:nvPr/>
          </p:nvCxnSpPr>
          <p:spPr>
            <a:xfrm>
              <a:off x="22410753" y="32572816"/>
              <a:ext cx="648000" cy="0"/>
            </a:xfrm>
            <a:prstGeom prst="line">
              <a:avLst/>
            </a:prstGeom>
            <a:ln w="44450">
              <a:solidFill>
                <a:srgbClr val="3B4A63"/>
              </a:solidFill>
              <a:tailEnd type="triangle" w="med" len="med"/>
            </a:ln>
          </p:spPr>
        </p:cxnSp>
        <p:sp>
          <p:nvSpPr>
            <p:cNvPr id="5160" name="글상자"/>
            <p:cNvSpPr/>
            <p:nvPr/>
          </p:nvSpPr>
          <p:spPr>
            <a:xfrm>
              <a:off x="23166753" y="30520816"/>
              <a:ext cx="4860000" cy="3888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21600" tIns="10800" rIns="21600" bIns="1080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lang="ko-KR" altLang="en-US" sz="1800" b="1" dirty="0">
                  <a:solidFill>
                    <a:srgbClr val="1F3A5F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답변 (근거 사용 원칙에 따라 작성)</a:t>
              </a:r>
            </a:p>
          </p:txBody>
        </p:sp>
        <p:sp>
          <p:nvSpPr>
            <p:cNvPr id="5161" name="도형"/>
            <p:cNvSpPr/>
            <p:nvPr/>
          </p:nvSpPr>
          <p:spPr>
            <a:xfrm>
              <a:off x="23166753" y="30974416"/>
              <a:ext cx="4860000" cy="1080000"/>
            </a:xfrm>
            <a:prstGeom prst="rect">
              <a:avLst/>
            </a:prstGeom>
            <a:solidFill>
              <a:srgbClr val="E9EEF5"/>
            </a:solidFill>
            <a:ln w="22225">
              <a:solidFill>
                <a:srgbClr val="262626"/>
              </a:solidFill>
            </a:ln>
          </p:spPr>
          <p:txBody>
            <a:bodyPr wrap="square" lIns="151200" tIns="75600" rIns="151200" bIns="7560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lang="ko-KR" altLang="en-US" sz="1800" b="1" dirty="0">
                  <a:solidFill>
                    <a:srgbClr val="1F3A5F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근거</a:t>
              </a:r>
            </a:p>
            <a:p>
              <a:pPr algn="l">
                <a:lnSpc>
                  <a:spcPct val="100000"/>
                </a:lnSpc>
              </a:pPr>
              <a:r>
                <a:rPr lang="ko-KR" altLang="en-US" sz="1600" b="0" dirty="0">
                  <a:solidFill>
                    <a:srgbClr val="222222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사실에 단위·시각과 출처 번호 표기</a:t>
              </a:r>
            </a:p>
          </p:txBody>
        </p:sp>
        <p:sp>
          <p:nvSpPr>
            <p:cNvPr id="5162" name="도형"/>
            <p:cNvSpPr/>
            <p:nvPr/>
          </p:nvSpPr>
          <p:spPr>
            <a:xfrm>
              <a:off x="23166753" y="32140816"/>
              <a:ext cx="4860000" cy="1080000"/>
            </a:xfrm>
            <a:prstGeom prst="rect">
              <a:avLst/>
            </a:prstGeom>
            <a:solidFill>
              <a:srgbClr val="FFFFFF"/>
            </a:solidFill>
            <a:ln w="22225">
              <a:solidFill>
                <a:srgbClr val="262626"/>
              </a:solidFill>
            </a:ln>
          </p:spPr>
          <p:txBody>
            <a:bodyPr wrap="square" lIns="151200" tIns="75600" rIns="151200" bIns="7560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lang="ko-KR" altLang="en-US" sz="1800" b="1" dirty="0">
                  <a:solidFill>
                    <a:srgbClr val="1F3A5F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판단</a:t>
              </a:r>
            </a:p>
            <a:p>
              <a:pPr algn="l">
                <a:lnSpc>
                  <a:spcPct val="100000"/>
                </a:lnSpc>
              </a:pPr>
              <a:r>
                <a:rPr lang="ko-KR" altLang="en-US" sz="1600" b="0" dirty="0">
                  <a:solidFill>
                    <a:srgbClr val="222222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판단임을 밝히고, 근거 번호를 함께 적음</a:t>
              </a:r>
            </a:p>
          </p:txBody>
        </p:sp>
        <p:sp>
          <p:nvSpPr>
            <p:cNvPr id="5163" name="도형"/>
            <p:cNvSpPr/>
            <p:nvPr/>
          </p:nvSpPr>
          <p:spPr>
            <a:xfrm>
              <a:off x="23166753" y="33307216"/>
              <a:ext cx="4860000" cy="1080000"/>
            </a:xfrm>
            <a:prstGeom prst="rect">
              <a:avLst/>
            </a:prstGeom>
            <a:solidFill>
              <a:srgbClr val="F4F4F4"/>
            </a:solidFill>
            <a:ln w="22225">
              <a:solidFill>
                <a:srgbClr val="262626"/>
              </a:solidFill>
            </a:ln>
          </p:spPr>
          <p:txBody>
            <a:bodyPr wrap="square" lIns="151200" tIns="75600" rIns="151200" bIns="7560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lang="ko-KR" altLang="en-US" sz="1800" b="1" dirty="0">
                  <a:solidFill>
                    <a:srgbClr val="1F3A5F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자료에 없음</a:t>
              </a:r>
            </a:p>
            <a:p>
              <a:pPr algn="l">
                <a:lnSpc>
                  <a:spcPct val="100000"/>
                </a:lnSpc>
              </a:pPr>
              <a:r>
                <a:rPr lang="ko-KR" altLang="en-US" sz="1600" b="0" dirty="0">
                  <a:solidFill>
                    <a:srgbClr val="222222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근거 묶음에 없는 내용은 단정하지 않음</a:t>
              </a:r>
            </a:p>
          </p:txBody>
        </p:sp>
      </p:grpSp>
      <p:sp>
        <p:nvSpPr>
          <p:cNvPr id="1027" name="본문"/>
          <p:cNvSpPr txBox="1"/>
          <p:nvPr/>
        </p:nvSpPr>
        <p:spPr>
          <a:xfrm>
            <a:off x="15570184" y="34846816"/>
            <a:ext cx="14113138" cy="520000"/>
          </a:xfrm>
          <a:prstGeom prst="rect">
            <a:avLst/>
          </a:prstGeom>
          <a:noFill/>
          <a:ln>
            <a:noFill/>
          </a:ln>
        </p:spPr>
        <p:txBody>
          <a:bodyPr wrap="square" lIns="66158" tIns="33079" rIns="66158" bIns="33079" anchor="t">
            <a:noAutofit/>
          </a:bodyPr>
          <a:lstStyle/>
          <a:p>
            <a:pPr marL="0" indent="0" algn="ctr">
              <a:lnSpc>
                <a:spcPct val="118000"/>
              </a:lnSpc>
              <a:spcAft>
                <a:spcPts val="600"/>
              </a:spcAft>
              <a:buNone/>
            </a:pPr>
            <a:r>
              <a:rPr lang="ko-KR" altLang="en-US" sz="22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그림 6. 근거 묶음과 답변의 구성</a:t>
            </a:r>
          </a:p>
        </p:txBody>
      </p:sp>
      <p:sp>
        <p:nvSpPr>
          <p:cNvPr id="1028" name="직사각형 1"/>
          <p:cNvSpPr/>
          <p:nvPr/>
        </p:nvSpPr>
        <p:spPr>
          <a:xfrm>
            <a:off x="15691431" y="35566816"/>
            <a:ext cx="13943667" cy="1023024"/>
          </a:xfrm>
          <a:prstGeom prst="rect">
            <a:avLst/>
          </a:prstGeom>
          <a:solidFill>
            <a:schemeClr val="accent1">
              <a:lumMod val="75000"/>
            </a:schemeClr>
          </a:solidFill>
          <a:ln w="9525">
            <a:noFill/>
            <a:miter lim="800000"/>
            <a:headEnd/>
            <a:tailEnd/>
          </a:ln>
        </p:spPr>
        <p:txBody>
          <a:bodyPr wrap="square" lIns="222728" tIns="111366" rIns="222728" bIns="111366" anchor="ctr"/>
          <a:lstStyle/>
          <a:p>
            <a:pPr defTabSz="2048653"/>
            <a:r>
              <a:rPr lang="ko-KR" altLang="en-US" sz="4800" b="1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고딕 ExtraBold" panose="020D0904000000000000" pitchFamily="50" charset="-127"/>
                <a:ea typeface="나눔고딕 ExtraBold" panose="020D0904000000000000" pitchFamily="50" charset="-127"/>
                <a:cs typeface="Arial Unicode MS" panose="020B0604020202020204" pitchFamily="50" charset="-127"/>
              </a:rPr>
              <a:t>결론</a:t>
            </a:r>
          </a:p>
        </p:txBody>
      </p:sp>
      <p:sp>
        <p:nvSpPr>
          <p:cNvPr id="1029" name="본문"/>
          <p:cNvSpPr txBox="1"/>
          <p:nvPr/>
        </p:nvSpPr>
        <p:spPr>
          <a:xfrm>
            <a:off x="15570184" y="36709840"/>
            <a:ext cx="14113138" cy="2852639"/>
          </a:xfrm>
          <a:prstGeom prst="rect">
            <a:avLst/>
          </a:prstGeom>
          <a:noFill/>
          <a:ln>
            <a:noFill/>
          </a:ln>
        </p:spPr>
        <p:txBody>
          <a:bodyPr wrap="square" lIns="66158" tIns="33079" rIns="66158" bIns="33079" anchor="t">
            <a:noAutofit/>
          </a:bodyPr>
          <a:lstStyle/>
          <a:p>
            <a:pPr marL="334726" indent="-334726">
              <a:lnSpc>
                <a:spcPct val="118000"/>
              </a:lnSpc>
              <a:spcAft>
                <a:spcPts val="600"/>
              </a:spcAft>
              <a:buBlip>
                <a:blip r:embed="rId4"/>
              </a:buBlip>
            </a:pPr>
            <a:r>
              <a:rPr lang="ko-KR" altLang="en-US" sz="23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운영 자료를 </a:t>
            </a:r>
            <a:r>
              <a:rPr lang="ko-KR" altLang="en-US" sz="2300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Ontology 시드</a:t>
            </a:r>
            <a:r>
              <a:rPr lang="ko-KR" altLang="en-US" sz="2300" b="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에</a:t>
            </a:r>
            <a:r>
              <a:rPr lang="ko-KR" altLang="en-US" sz="23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 맞춰 </a:t>
            </a:r>
            <a:r>
              <a:rPr lang="ko-KR" altLang="en-US" sz="2300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KG</a:t>
            </a:r>
            <a:r>
              <a:rPr lang="ko-KR" altLang="en-US" sz="2300" b="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로</a:t>
            </a:r>
            <a:r>
              <a:rPr lang="ko-KR" altLang="en-US" sz="23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 구축하고, 자료 간 관계와 출처를 함께 다룰 수 있게 함</a:t>
            </a:r>
          </a:p>
          <a:p>
            <a:pPr marL="334726" indent="-334726">
              <a:lnSpc>
                <a:spcPct val="118000"/>
              </a:lnSpc>
              <a:spcAft>
                <a:spcPts val="600"/>
              </a:spcAft>
              <a:buBlip>
                <a:blip r:embed="rId4"/>
              </a:buBlip>
            </a:pPr>
            <a:r>
              <a:rPr lang="ko-KR" altLang="en-US" sz="23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의도에 따라 근거를 찾아 </a:t>
            </a:r>
            <a:r>
              <a:rPr lang="ko-KR" altLang="en-US" sz="2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출처 번호가 붙은 근거 묶음</a:t>
            </a:r>
            <a:r>
              <a:rPr lang="ko-KR" altLang="en-US" sz="23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으로 정리하고, </a:t>
            </a:r>
            <a:r>
              <a:rPr lang="ko-KR" altLang="en-US" sz="2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근거와 판단을 나누어</a:t>
            </a:r>
            <a:r>
              <a:rPr lang="ko-KR" altLang="en-US" sz="23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 답하는 </a:t>
            </a:r>
            <a:r>
              <a:rPr lang="ko-KR" altLang="en-US" sz="2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LLM-RAG 프레임워크</a:t>
            </a:r>
            <a:r>
              <a:rPr lang="ko-KR" altLang="en-US" sz="23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를 구축함</a:t>
            </a:r>
          </a:p>
          <a:p>
            <a:pPr marL="334726" indent="-334726">
              <a:lnSpc>
                <a:spcPct val="118000"/>
              </a:lnSpc>
              <a:spcAft>
                <a:spcPts val="600"/>
              </a:spcAft>
              <a:buBlip>
                <a:blip r:embed="rId4"/>
              </a:buBlip>
            </a:pPr>
            <a:r>
              <a:rPr lang="ko-KR" altLang="en-US" sz="23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운영자가 현재 상태, 운영기준, 과거 승인·운영행위를 </a:t>
            </a:r>
            <a:r>
              <a:rPr lang="ko-KR" altLang="en-US" sz="2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근거와 함께</a:t>
            </a:r>
            <a:r>
              <a:rPr lang="ko-KR" altLang="en-US" sz="23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 확인할 수 있어 </a:t>
            </a:r>
            <a:r>
              <a:rPr lang="ko-KR" altLang="en-US" sz="2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실무자의 운영 의사결정 지원에 활용할 수 있음</a:t>
            </a:r>
          </a:p>
          <a:p>
            <a:pPr marL="334726" indent="-334726">
              <a:lnSpc>
                <a:spcPct val="118000"/>
              </a:lnSpc>
              <a:spcAft>
                <a:spcPts val="600"/>
              </a:spcAft>
              <a:buBlip>
                <a:blip r:embed="rId4"/>
              </a:buBlip>
            </a:pPr>
            <a:r>
              <a:rPr lang="ko-KR" altLang="en-US" sz="23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향후 평가 질문 세트로 의도 추출과 답변의 정확도를 검증할 계획임</a:t>
            </a:r>
          </a:p>
        </p:txBody>
      </p:sp>
      <p:sp>
        <p:nvSpPr>
          <p:cNvPr id="1030" name="직사각형 1"/>
          <p:cNvSpPr/>
          <p:nvPr/>
        </p:nvSpPr>
        <p:spPr>
          <a:xfrm>
            <a:off x="15691431" y="39762479"/>
            <a:ext cx="13943667" cy="1023024"/>
          </a:xfrm>
          <a:prstGeom prst="rect">
            <a:avLst/>
          </a:prstGeom>
          <a:solidFill>
            <a:schemeClr val="accent1">
              <a:lumMod val="75000"/>
            </a:schemeClr>
          </a:solidFill>
          <a:ln w="9525">
            <a:noFill/>
            <a:miter lim="800000"/>
            <a:headEnd/>
            <a:tailEnd/>
          </a:ln>
        </p:spPr>
        <p:txBody>
          <a:bodyPr wrap="square" lIns="222728" tIns="111366" rIns="222728" bIns="111366" anchor="ctr"/>
          <a:lstStyle/>
          <a:p>
            <a:pPr defTabSz="2048653"/>
            <a:r>
              <a:rPr lang="ko-KR" altLang="en-US" sz="4800" b="1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고딕 ExtraBold" panose="020D0904000000000000" pitchFamily="50" charset="-127"/>
                <a:ea typeface="나눔고딕 ExtraBold" panose="020D0904000000000000" pitchFamily="50" charset="-127"/>
                <a:cs typeface="Arial Unicode MS" panose="020B0604020202020204" pitchFamily="50" charset="-127"/>
              </a:rPr>
              <a:t>감사의 글</a:t>
            </a:r>
          </a:p>
        </p:txBody>
      </p:sp>
      <p:sp>
        <p:nvSpPr>
          <p:cNvPr id="1031" name="본문"/>
          <p:cNvSpPr txBox="1"/>
          <p:nvPr/>
        </p:nvSpPr>
        <p:spPr>
          <a:xfrm>
            <a:off x="15636862" y="40888617"/>
            <a:ext cx="14113138" cy="717820"/>
          </a:xfrm>
          <a:prstGeom prst="rect">
            <a:avLst/>
          </a:prstGeom>
          <a:noFill/>
          <a:ln>
            <a:noFill/>
          </a:ln>
        </p:spPr>
        <p:txBody>
          <a:bodyPr wrap="square" lIns="66158" tIns="33079" rIns="66158" bIns="33079" anchor="t">
            <a:noAutofit/>
          </a:bodyPr>
          <a:lstStyle/>
          <a:p>
            <a:pPr marL="0" indent="0">
              <a:lnSpc>
                <a:spcPct val="118000"/>
              </a:lnSpc>
              <a:spcAft>
                <a:spcPts val="600"/>
              </a:spcAft>
              <a:buNone/>
            </a:pPr>
            <a:r>
              <a:rPr lang="ko-KR" altLang="en-US" sz="16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본 결과물은 기후에너지환경부의 재원으로 한국환경산업기술원의 기후변화 적응 수재해 관리 기술개발사업(R&amp;D)의 지원을 받아 연구되었습니다(RS-2026-25502939). 본 연구는 기후에너지환경부「기후변화특성화대학원사업」의 지원으로 수행되었습니다.</a:t>
            </a:r>
          </a:p>
        </p:txBody>
      </p:sp>
      <p:pic>
        <p:nvPicPr>
          <p:cNvPr id="200" name="그래픽 199">
            <a:extLst>
              <a:ext uri="{FF2B5EF4-FFF2-40B4-BE49-F238E27FC236}">
                <a16:creationId xmlns:a16="http://schemas.microsoft.com/office/drawing/2014/main" id="{A6F71206-4211-46DF-B395-97488E8BB367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6953365" y="441304"/>
            <a:ext cx="2880000" cy="288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698132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1135</TotalTime>
  <Words>1369</Words>
  <Application>Microsoft Office PowerPoint</Application>
  <PresentationFormat>사용자 지정</PresentationFormat>
  <Paragraphs>224</Paragraphs>
  <Slides>1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7" baseType="lpstr">
      <vt:lpstr>Arial Unicode MS</vt:lpstr>
      <vt:lpstr>나눔고딕</vt:lpstr>
      <vt:lpstr>나눔고딕 ExtraBold</vt:lpstr>
      <vt:lpstr>맑은 고딕</vt:lpstr>
      <vt:lpstr>Arial</vt:lpstr>
      <vt:lpstr>Office 테마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user</dc:creator>
  <cp:lastModifiedBy>mkm11191@naver.com</cp:lastModifiedBy>
  <cp:revision>99</cp:revision>
  <cp:lastPrinted>2022-07-13T05:48:17Z</cp:lastPrinted>
  <dcterms:created xsi:type="dcterms:W3CDTF">2018-10-17T01:18:09Z</dcterms:created>
  <dcterms:modified xsi:type="dcterms:W3CDTF">2026-10-17T09:56:09Z</dcterms:modified>
</cp:coreProperties>
</file>