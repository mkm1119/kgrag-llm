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6118000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대상(Class)과 관계·속성을 정리한 의미 구조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 / 개체(Entity)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Class는 대상의 종류(예: 댐, 승인), 개체는 Class에 속한 실제 대상(예: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그래프(개체는 점, 관계는 선)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 / Cypher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Neo4j는 KG를 저장하는 그래프 데이터베이스, Cypher는 연결 패턴으로 찾는 질의 언어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 / 근거자료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운영기준은 댐에 적용되는 기준(예: 규정 별표3의 홍수기 제한수위), 근거자료는 개체를 확인할 수 있는 출처(승인 기록, 규정 원문 등)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자료는 열·행이 정해진 표, 문서 자료는 글 속에 값이 들어 있는 자료(승인 비고, 규정 별표). 문서 자료의 값은 규칙(키워드, 정규식)으로 추출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 / 키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측정값(측정자료 저장소)과 규정 원문(문서 저장소). KG에는 이를 찾아가는 키만 저장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근거를 의도별로 모아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1908008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0223110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2254515" y="21268895"/>
            <a:ext cx="10800000" cy="6048000"/>
            <a:chOff x="2254515" y="21268895"/>
            <a:chExt cx="10800000" cy="6048000"/>
          </a:xfrm>
        </p:grpSpPr>
        <p:sp>
          <p:nvSpPr>
            <p:cNvPr id="5001" name="도형"/>
            <p:cNvSpPr/>
            <p:nvPr/>
          </p:nvSpPr>
          <p:spPr>
            <a:xfrm>
              <a:off x="2254515" y="21268895"/>
              <a:ext cx="286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362515" y="21333695"/>
              <a:ext cx="264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470515" y="217872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680115" y="22888895"/>
              <a:ext cx="0" cy="237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470515" y="231480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332515" y="21268895"/>
              <a:ext cx="772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440515" y="21333695"/>
              <a:ext cx="750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494515" y="21808895"/>
              <a:ext cx="1728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44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1808895"/>
              <a:ext cx="1836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512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922515" y="21765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922515" y="22629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922515" y="23493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254515" y="24832895"/>
              <a:ext cx="10800000" cy="232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362515" y="24897695"/>
              <a:ext cx="10584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40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56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72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88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04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28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44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60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76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412915" y="24271295"/>
              <a:ext cx="0" cy="3672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4638495"/>
              <a:ext cx="37584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4638495"/>
              <a:ext cx="0" cy="842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70515" y="24703295"/>
              <a:ext cx="3240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597946" y="2737689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809689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29239919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30285704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1021689"/>
          <a:ext cx="13500000" cy="362887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1768515" y="34770564"/>
            <a:ext cx="11772000" cy="6436800"/>
            <a:chOff x="1768515" y="34770564"/>
            <a:chExt cx="11772000" cy="6436800"/>
          </a:xfrm>
        </p:grpSpPr>
        <p:sp>
          <p:nvSpPr>
            <p:cNvPr id="5031" name="도형"/>
            <p:cNvSpPr/>
            <p:nvPr/>
          </p:nvSpPr>
          <p:spPr>
            <a:xfrm>
              <a:off x="2254515" y="347705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2254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2254515" y="352673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788515" y="347705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788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788515" y="352673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2254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2254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2254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788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788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788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2254515" y="389177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2254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2254515" y="394145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788515" y="389177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788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788515" y="394145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630515" y="36109764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4885395" y="36314964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6596115" y="35742564"/>
              <a:ext cx="2170800" cy="1684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089783" y="3623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6596115" y="379673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6811467" y="37556964"/>
              <a:ext cx="1686096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1164515" y="364121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1346171" y="36617364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1164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8547891" y="38539764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630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713783" y="385397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6596115" y="398897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6981783" y="3947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1962915" y="35526564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1962915" y="35526564"/>
              <a:ext cx="0" cy="46872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1962915" y="40213764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3108515" y="35526564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3324515" y="35526564"/>
              <a:ext cx="0" cy="53136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494515" y="40840164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494515" y="40559364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1768515" y="40969764"/>
              <a:ext cx="11772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41267364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226753" y="8538809"/>
            <a:ext cx="10800000" cy="3240000"/>
            <a:chOff x="17226753" y="8538809"/>
            <a:chExt cx="10800000" cy="3240000"/>
          </a:xfrm>
        </p:grpSpPr>
        <p:sp>
          <p:nvSpPr>
            <p:cNvPr id="5072" name="도형"/>
            <p:cNvSpPr/>
            <p:nvPr/>
          </p:nvSpPr>
          <p:spPr>
            <a:xfrm>
              <a:off x="1722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100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78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22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100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78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8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6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06753" y="99104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846753" y="10158809"/>
              <a:ext cx="756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846753" y="101588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8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6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183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6740753" y="12358809"/>
            <a:ext cx="11772000" cy="7344000"/>
            <a:chOff x="16740753" y="12358809"/>
            <a:chExt cx="11772000" cy="7344000"/>
          </a:xfrm>
        </p:grpSpPr>
        <p:sp>
          <p:nvSpPr>
            <p:cNvPr id="5086" name="도형"/>
            <p:cNvSpPr/>
            <p:nvPr/>
          </p:nvSpPr>
          <p:spPr>
            <a:xfrm>
              <a:off x="17226753" y="12358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7226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7226753" y="12855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760753" y="12358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760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760753" y="12855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7226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7226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7226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760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760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760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7226753" y="17110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7226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7226753" y="17607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760753" y="17110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760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760753" y="17607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19602753" y="14000409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19857633" y="14205609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1568353" y="13330809"/>
              <a:ext cx="2170800" cy="1987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062021" y="138276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1568353" y="158580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1783705" y="15447609"/>
              <a:ext cx="1686096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6136753" y="143028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6318409" y="14508009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6136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3520129" y="16732809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19602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19686021" y="167328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1568353" y="180828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1954021" y="176724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6935153" y="13114809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6935153" y="13114809"/>
              <a:ext cx="0" cy="5292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6935153" y="18406809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8080753" y="13114809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8296753" y="13114809"/>
              <a:ext cx="0" cy="62208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466753" y="19335609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466753" y="19054809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6740753" y="19465209"/>
              <a:ext cx="11772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9762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20282809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145239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2595418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7226753" y="24054816"/>
            <a:ext cx="10800000" cy="5886000"/>
            <a:chOff x="17226753" y="24054816"/>
            <a:chExt cx="10800000" cy="5886000"/>
          </a:xfrm>
        </p:grpSpPr>
        <p:sp>
          <p:nvSpPr>
            <p:cNvPr id="5127" name="도형"/>
            <p:cNvSpPr/>
            <p:nvPr/>
          </p:nvSpPr>
          <p:spPr>
            <a:xfrm>
              <a:off x="17226753" y="24054816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509953" y="24400416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941953" y="24054816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7226753" y="24875616"/>
              <a:ext cx="3240000" cy="92620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509953" y="25338720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941953" y="24875616"/>
              <a:ext cx="7084800" cy="92620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7226753" y="259314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509953" y="262770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941953" y="259314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7226753" y="267522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509953" y="270978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941953" y="267522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7226753" y="275730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509953" y="279186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941953" y="275730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7226753" y="28393824"/>
              <a:ext cx="3240000" cy="150681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509953" y="29147232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941953" y="28393824"/>
              <a:ext cx="7084800" cy="150681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30000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grpSp>
        <p:nvGrpSpPr>
          <p:cNvPr id="5164" name="그림 근거 묶음과 답변"/>
          <p:cNvGrpSpPr/>
          <p:nvPr/>
        </p:nvGrpSpPr>
        <p:grpSpPr>
          <a:xfrm>
            <a:off x="17226753" y="30520816"/>
            <a:ext cx="10800000" cy="4266000"/>
            <a:chOff x="17226753" y="30520816"/>
            <a:chExt cx="10800000" cy="4266000"/>
          </a:xfrm>
        </p:grpSpPr>
        <p:sp>
          <p:nvSpPr>
            <p:cNvPr id="5146" name="글상자"/>
            <p:cNvSpPr/>
            <p:nvPr/>
          </p:nvSpPr>
          <p:spPr>
            <a:xfrm>
              <a:off x="17226753" y="30520816"/>
              <a:ext cx="5076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 (구역 / 출처 번호)</a:t>
              </a:r>
            </a:p>
          </p:txBody>
        </p:sp>
        <p:sp>
          <p:nvSpPr>
            <p:cNvPr id="5147" name="도형"/>
            <p:cNvSpPr/>
            <p:nvPr/>
          </p:nvSpPr>
          <p:spPr>
            <a:xfrm>
              <a:off x="17226753" y="30974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48" name="도형"/>
            <p:cNvSpPr/>
            <p:nvPr/>
          </p:nvSpPr>
          <p:spPr>
            <a:xfrm>
              <a:off x="19926753" y="30974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현재 상태 (CQ1)</a:t>
              </a:r>
            </a:p>
          </p:txBody>
        </p:sp>
        <p:sp>
          <p:nvSpPr>
            <p:cNvPr id="5149" name="도형"/>
            <p:cNvSpPr/>
            <p:nvPr/>
          </p:nvSpPr>
          <p:spPr>
            <a:xfrm>
              <a:off x="17226753" y="316008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50" name="도형"/>
            <p:cNvSpPr/>
            <p:nvPr/>
          </p:nvSpPr>
          <p:spPr>
            <a:xfrm>
              <a:off x="19926753" y="316008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 시각 상태 (CQ2)</a:t>
              </a:r>
            </a:p>
          </p:txBody>
        </p:sp>
        <p:sp>
          <p:nvSpPr>
            <p:cNvPr id="5151" name="도형"/>
            <p:cNvSpPr/>
            <p:nvPr/>
          </p:nvSpPr>
          <p:spPr>
            <a:xfrm>
              <a:off x="17226753" y="322272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[OPR] ← [APR]</a:t>
              </a:r>
            </a:p>
          </p:txBody>
        </p:sp>
        <p:sp>
          <p:nvSpPr>
            <p:cNvPr id="5152" name="도형"/>
            <p:cNvSpPr/>
            <p:nvPr/>
          </p:nvSpPr>
          <p:spPr>
            <a:xfrm>
              <a:off x="19926753" y="322272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운영행위·승인 (CQ3)</a:t>
              </a:r>
            </a:p>
          </p:txBody>
        </p:sp>
        <p:sp>
          <p:nvSpPr>
            <p:cNvPr id="5153" name="도형"/>
            <p:cNvSpPr/>
            <p:nvPr/>
          </p:nvSpPr>
          <p:spPr>
            <a:xfrm>
              <a:off x="17226753" y="328536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[APR:번호]</a:t>
              </a:r>
            </a:p>
          </p:txBody>
        </p:sp>
        <p:sp>
          <p:nvSpPr>
            <p:cNvPr id="5154" name="도형"/>
            <p:cNvSpPr/>
            <p:nvPr/>
          </p:nvSpPr>
          <p:spPr>
            <a:xfrm>
              <a:off x="19926753" y="328536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방류 승인 (CQ4)</a:t>
              </a:r>
            </a:p>
          </p:txBody>
        </p:sp>
        <p:sp>
          <p:nvSpPr>
            <p:cNvPr id="5155" name="도형"/>
            <p:cNvSpPr/>
            <p:nvPr/>
          </p:nvSpPr>
          <p:spPr>
            <a:xfrm>
              <a:off x="17226753" y="334800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[CRI:번호]</a:t>
              </a:r>
            </a:p>
          </p:txBody>
        </p:sp>
        <p:sp>
          <p:nvSpPr>
            <p:cNvPr id="5156" name="도형"/>
            <p:cNvSpPr/>
            <p:nvPr/>
          </p:nvSpPr>
          <p:spPr>
            <a:xfrm>
              <a:off x="19926753" y="334800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운영기준 (CQ5)</a:t>
              </a:r>
            </a:p>
          </p:txBody>
        </p:sp>
        <p:sp>
          <p:nvSpPr>
            <p:cNvPr id="5157" name="도형"/>
            <p:cNvSpPr/>
            <p:nvPr/>
          </p:nvSpPr>
          <p:spPr>
            <a:xfrm>
              <a:off x="17226753" y="34106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[EVI:…]</a:t>
              </a:r>
            </a:p>
          </p:txBody>
        </p:sp>
        <p:sp>
          <p:nvSpPr>
            <p:cNvPr id="5158" name="도형"/>
            <p:cNvSpPr/>
            <p:nvPr/>
          </p:nvSpPr>
          <p:spPr>
            <a:xfrm>
              <a:off x="19926753" y="34106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(CQ6)</a:t>
              </a:r>
            </a:p>
          </p:txBody>
        </p:sp>
        <p:cxnSp>
          <p:nvCxnSpPr>
            <p:cNvPr id="5159" name="선"/>
            <p:cNvCxnSpPr/>
            <p:nvPr/>
          </p:nvCxnSpPr>
          <p:spPr>
            <a:xfrm>
              <a:off x="22410753" y="32572816"/>
              <a:ext cx="648000" cy="0"/>
            </a:xfrm>
            <a:prstGeom prst="line">
              <a:avLst/>
            </a:prstGeom>
            <a:ln w="444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60" name="글상자"/>
            <p:cNvSpPr/>
            <p:nvPr/>
          </p:nvSpPr>
          <p:spPr>
            <a:xfrm>
              <a:off x="23166753" y="30520816"/>
              <a:ext cx="4860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(근거 사용 원칙에 따라 작성)</a:t>
              </a:r>
            </a:p>
          </p:txBody>
        </p:sp>
        <p:sp>
          <p:nvSpPr>
            <p:cNvPr id="5161" name="도형"/>
            <p:cNvSpPr/>
            <p:nvPr/>
          </p:nvSpPr>
          <p:spPr>
            <a:xfrm>
              <a:off x="23166753" y="30974416"/>
              <a:ext cx="4860000" cy="108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사실에 단위·시각과 출처 번호 표기</a:t>
              </a:r>
            </a:p>
          </p:txBody>
        </p:sp>
        <p:sp>
          <p:nvSpPr>
            <p:cNvPr id="5162" name="도형"/>
            <p:cNvSpPr/>
            <p:nvPr/>
          </p:nvSpPr>
          <p:spPr>
            <a:xfrm>
              <a:off x="23166753" y="32140816"/>
              <a:ext cx="4860000" cy="108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판단임을 밝히고, 근거 번호를 함께 적음</a:t>
              </a:r>
            </a:p>
          </p:txBody>
        </p:sp>
        <p:sp>
          <p:nvSpPr>
            <p:cNvPr id="5163" name="도형"/>
            <p:cNvSpPr/>
            <p:nvPr/>
          </p:nvSpPr>
          <p:spPr>
            <a:xfrm>
              <a:off x="23166753" y="33307216"/>
              <a:ext cx="4860000" cy="1080000"/>
            </a:xfrm>
            <a:prstGeom prst="rect">
              <a:avLst/>
            </a:prstGeom>
            <a:solidFill>
              <a:srgbClr val="F4F4F4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자료에 없음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묶음에 없는 내용은 단정하지 않음</a:t>
              </a:r>
            </a:p>
          </p:txBody>
        </p:sp>
      </p:grpSp>
      <p:sp>
        <p:nvSpPr>
          <p:cNvPr id="1027" name="본문"/>
          <p:cNvSpPr txBox="1"/>
          <p:nvPr/>
        </p:nvSpPr>
        <p:spPr>
          <a:xfrm>
            <a:off x="15570184" y="34846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6. 근거 묶음과 답변의 구성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3556681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6709840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30" name="직사각형 1"/>
          <p:cNvSpPr/>
          <p:nvPr/>
        </p:nvSpPr>
        <p:spPr>
          <a:xfrm>
            <a:off x="15691431" y="3976247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1" name="본문"/>
          <p:cNvSpPr txBox="1"/>
          <p:nvPr/>
        </p:nvSpPr>
        <p:spPr>
          <a:xfrm>
            <a:off x="15570184" y="40905503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