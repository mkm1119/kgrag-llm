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30275213" cy="42803763"/>
  <p:notesSz cx="9926638" cy="14355763"/>
  <p:defaultTextStyle>
    <a:defPPr>
      <a:defRPr lang="ko-KR"/>
    </a:defPPr>
    <a:lvl1pPr marL="0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1pPr>
    <a:lvl2pPr marL="208679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2pPr>
    <a:lvl3pPr marL="4173583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3pPr>
    <a:lvl4pPr marL="626037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4pPr>
    <a:lvl5pPr marL="834716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5pPr>
    <a:lvl6pPr marL="10433959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6pPr>
    <a:lvl7pPr marL="1252075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7pPr>
    <a:lvl8pPr marL="1460754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8pPr>
    <a:lvl9pPr marL="1669433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063F4"/>
    <a:srgbClr val="3A83B0"/>
    <a:srgbClr val="F6DADA"/>
    <a:srgbClr val="28508C"/>
    <a:srgbClr val="2F5EA3"/>
    <a:srgbClr val="20566E"/>
    <a:srgbClr val="F5A10B"/>
    <a:srgbClr val="EB3D6F"/>
    <a:srgbClr val="7498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1" autoAdjust="0"/>
    <p:restoredTop sz="94142" autoAdjust="0"/>
  </p:normalViewPr>
  <p:slideViewPr>
    <p:cSldViewPr showGuides="1">
      <p:cViewPr>
        <p:scale>
          <a:sx n="33" d="100"/>
          <a:sy n="33" d="100"/>
        </p:scale>
        <p:origin x="2166" y="24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r">
              <a:defRPr sz="1800"/>
            </a:lvl1pPr>
          </a:lstStyle>
          <a:p>
            <a:fld id="{C3975C9C-AA20-4771-875B-11630C0B0EE9}" type="datetimeFigureOut">
              <a:rPr lang="ko-KR" altLang="en-US" smtClean="0"/>
              <a:t>2023-05-25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51200" y="1793875"/>
            <a:ext cx="3424238" cy="4845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751" tIns="69376" rIns="138751" bIns="69376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</p:spPr>
        <p:txBody>
          <a:bodyPr vert="horz" lIns="138751" tIns="69376" rIns="138751" bIns="69376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r">
              <a:defRPr sz="1800"/>
            </a:lvl1pPr>
          </a:lstStyle>
          <a:p>
            <a:fld id="{50A9D8C3-D90B-4640-9792-40BF06B6F7E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4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1pPr>
    <a:lvl2pPr marL="64654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2pPr>
    <a:lvl3pPr marL="1293094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3pPr>
    <a:lvl4pPr marL="193964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4pPr>
    <a:lvl5pPr marL="2586189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5pPr>
    <a:lvl6pPr marL="323273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6pPr>
    <a:lvl7pPr marL="3879283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7pPr>
    <a:lvl8pPr marL="452583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8pPr>
    <a:lvl9pPr marL="5172377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9D8C3-D90B-4640-9792-40BF06B6F7E5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3399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F76B742-CA72-4B76-9A1B-00F13A079611}"/>
              </a:ext>
            </a:extLst>
          </p:cNvPr>
          <p:cNvSpPr/>
          <p:nvPr/>
        </p:nvSpPr>
        <p:spPr>
          <a:xfrm>
            <a:off x="387465" y="6099356"/>
            <a:ext cx="14506964" cy="3618694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algn="ctr"/>
            <a:endParaRPr lang="ko-KR" altLang="en-US" sz="5418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E6F6F2-1EEE-4BAA-B7BB-4B058EAAA213}"/>
              </a:ext>
            </a:extLst>
          </p:cNvPr>
          <p:cNvSpPr/>
          <p:nvPr/>
        </p:nvSpPr>
        <p:spPr>
          <a:xfrm>
            <a:off x="15382036" y="6099358"/>
            <a:ext cx="14505719" cy="36186939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lvl="0" algn="ctr"/>
            <a:endParaRPr lang="ko-KR" altLang="en-US" sz="5418" dirty="0"/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3" y="35249"/>
            <a:ext cx="30275357" cy="579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11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13764" y="1714136"/>
            <a:ext cx="27247692" cy="7133959"/>
          </a:xfrm>
          <a:prstGeom prst="rect">
            <a:avLst/>
          </a:prstGeom>
        </p:spPr>
        <p:txBody>
          <a:bodyPr vert="horz" lIns="431984" tIns="215993" rIns="431984" bIns="215993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764" y="9987549"/>
            <a:ext cx="27247692" cy="28248506"/>
          </a:xfrm>
          <a:prstGeom prst="rect">
            <a:avLst/>
          </a:prstGeom>
        </p:spPr>
        <p:txBody>
          <a:bodyPr vert="horz" lIns="431984" tIns="215993" rIns="431984" bIns="21599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513764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l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D32EA-93D2-422C-9D50-DCDFD5662F59}" type="datetimeFigureOut">
              <a:rPr lang="ko-KR" altLang="en-US" smtClean="0"/>
              <a:t>2023-05-25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344033" y="39672751"/>
            <a:ext cx="9587152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ct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697241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A678E-E807-4BC3-8392-26D7FE55F7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951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4030263" rtl="0" eaLnBrk="1" latinLnBrk="1" hangingPunct="1">
        <a:spcBef>
          <a:spcPct val="0"/>
        </a:spcBef>
        <a:buNone/>
        <a:defRPr sz="1940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1348" indent="-1511348" algn="l" defTabSz="4030263" rtl="0" eaLnBrk="1" latinLnBrk="1" hangingPunct="1">
        <a:spcBef>
          <a:spcPct val="20000"/>
        </a:spcBef>
        <a:buFont typeface="Arial" pitchFamily="34" charset="0"/>
        <a:buChar char="•"/>
        <a:defRPr sz="14087" kern="1200">
          <a:solidFill>
            <a:schemeClr val="tx1"/>
          </a:solidFill>
          <a:latin typeface="+mn-lt"/>
          <a:ea typeface="+mn-ea"/>
          <a:cs typeface="+mn-cs"/>
        </a:defRPr>
      </a:lvl1pPr>
      <a:lvl2pPr marL="3274587" indent="-1259457" algn="l" defTabSz="4030263" rtl="0" eaLnBrk="1" latinLnBrk="1" hangingPunct="1">
        <a:spcBef>
          <a:spcPct val="20000"/>
        </a:spcBef>
        <a:buFont typeface="Arial" pitchFamily="34" charset="0"/>
        <a:buChar char="–"/>
        <a:defRPr sz="12316" kern="1200">
          <a:solidFill>
            <a:schemeClr val="tx1"/>
          </a:solidFill>
          <a:latin typeface="+mn-lt"/>
          <a:ea typeface="+mn-ea"/>
          <a:cs typeface="+mn-cs"/>
        </a:defRPr>
      </a:lvl2pPr>
      <a:lvl3pPr marL="5037827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10636" kern="1200">
          <a:solidFill>
            <a:schemeClr val="tx1"/>
          </a:solidFill>
          <a:latin typeface="+mn-lt"/>
          <a:ea typeface="+mn-ea"/>
          <a:cs typeface="+mn-cs"/>
        </a:defRPr>
      </a:lvl3pPr>
      <a:lvl4pPr marL="7052959" indent="-1007566" algn="l" defTabSz="4030263" rtl="0" eaLnBrk="1" latinLnBrk="1" hangingPunct="1">
        <a:spcBef>
          <a:spcPct val="20000"/>
        </a:spcBef>
        <a:buFont typeface="Arial" pitchFamily="34" charset="0"/>
        <a:buChar char="–"/>
        <a:defRPr sz="8770" kern="1200">
          <a:solidFill>
            <a:schemeClr val="tx1"/>
          </a:solidFill>
          <a:latin typeface="+mn-lt"/>
          <a:ea typeface="+mn-ea"/>
          <a:cs typeface="+mn-cs"/>
        </a:defRPr>
      </a:lvl4pPr>
      <a:lvl5pPr marL="9068089" indent="-1007566" algn="l" defTabSz="4030263" rtl="0" eaLnBrk="1" latinLnBrk="1" hangingPunct="1">
        <a:spcBef>
          <a:spcPct val="20000"/>
        </a:spcBef>
        <a:buFont typeface="Arial" pitchFamily="34" charset="0"/>
        <a:buChar char="»"/>
        <a:defRPr sz="8770" kern="1200">
          <a:solidFill>
            <a:schemeClr val="tx1"/>
          </a:solidFill>
          <a:latin typeface="+mn-lt"/>
          <a:ea typeface="+mn-ea"/>
          <a:cs typeface="+mn-cs"/>
        </a:defRPr>
      </a:lvl5pPr>
      <a:lvl6pPr marL="11083222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6pPr>
      <a:lvl7pPr marL="13098354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7pPr>
      <a:lvl8pPr marL="1511348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8pPr>
      <a:lvl9pPr marL="1712861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1pPr>
      <a:lvl2pPr marL="2015132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2pPr>
      <a:lvl3pPr marL="403026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3pPr>
      <a:lvl4pPr marL="604539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4pPr>
      <a:lvl5pPr marL="8060525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5pPr>
      <a:lvl6pPr marL="10075656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6pPr>
      <a:lvl7pPr marL="12090788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7pPr>
      <a:lvl8pPr marL="14105919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8pPr>
      <a:lvl9pPr marL="1612105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13" Type="http://schemas.openxmlformats.org/officeDocument/2006/relationships/image" Target="../media/poster_rId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>
            <a:grpSpLocks noGrp="1" noUngrp="1" noRot="1" noMove="1" noResize="1"/>
          </p:cNvGrpSpPr>
          <p:nvPr/>
        </p:nvGrpSpPr>
        <p:grpSpPr>
          <a:xfrm>
            <a:off x="375966" y="375545"/>
            <a:ext cx="5141882" cy="1730166"/>
            <a:chOff x="375966" y="375545"/>
            <a:chExt cx="5141882" cy="1730166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E8958C42-464C-487C-8515-D9CD11E802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5966" y="375545"/>
              <a:ext cx="5074637" cy="651765"/>
            </a:xfrm>
            <a:prstGeom prst="rect">
              <a:avLst/>
            </a:prstGeom>
          </p:spPr>
          <p:txBody>
            <a:bodyPr wrap="square" lIns="96819" tIns="48411" rIns="96819" bIns="48411">
              <a:spAutoFit/>
            </a:bodyPr>
            <a:lstStyle/>
            <a:p>
              <a:pPr algn="ctr"/>
              <a:r>
                <a:rPr lang="en-US" altLang="ko-KR" sz="3600" b="1" spc="-300" dirty="0">
                  <a:solidFill>
                    <a:schemeClr val="bg1"/>
                  </a:solidFill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KSCE 2026 CONVENTION</a:t>
              </a:r>
              <a:endParaRPr lang="ko-KR" altLang="en-US" sz="3600" b="1" spc="-300" dirty="0">
                <a:solidFill>
                  <a:schemeClr val="bg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  <p:pic>
          <p:nvPicPr>
            <p:cNvPr id="95" name="Picture 3" descr="D:\02.기타 업무\4.각 행사 및 회의\2022\4. 학술대회\11.포스터세션\로고a.png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209"/>
            <a:stretch/>
          </p:blipFill>
          <p:spPr bwMode="auto">
            <a:xfrm>
              <a:off x="441848" y="985071"/>
              <a:ext cx="5076000" cy="1120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01" name="직사각형 5"/>
          <p:cNvSpPr/>
          <p:nvPr/>
        </p:nvSpPr>
        <p:spPr>
          <a:xfrm>
            <a:off x="5992955" y="300000"/>
            <a:ext cx="20582661" cy="2700000"/>
          </a:xfrm>
          <a:prstGeom prst="rect">
            <a:avLst/>
          </a:prstGeom>
        </p:spPr>
        <p:txBody>
          <a:bodyPr wrap="square" lIns="103612" tIns="51807" rIns="103612" bIns="51807">
            <a:no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5000" b="1" cap="all" spc="-227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온톨로지 기반 지식그래프를 활용한 댐 운영 의사결정 지원 LLM 프레임워크 구축</a:t>
            </a:r>
          </a:p>
          <a:p>
            <a:pPr algn="ctr">
              <a:lnSpc>
                <a:spcPct val="115000"/>
              </a:lnSpc>
            </a:pPr>
            <a:r>
              <a:rPr lang="en-US" altLang="ko-KR" sz="30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Development of an LLM Framework for Dam Operation Decision Support Using an Ontology-based Knowledge Graph</a:t>
            </a:r>
          </a:p>
        </p:txBody>
      </p:sp>
      <p:sp>
        <p:nvSpPr>
          <p:cNvPr id="1002" name="저자"/>
          <p:cNvSpPr txBox="1"/>
          <p:nvPr/>
        </p:nvSpPr>
        <p:spPr>
          <a:xfrm>
            <a:off x="5992958" y="3080000"/>
            <a:ext cx="20582660" cy="140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문경민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신주영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장상범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조수빈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Moon, Kyeungmin ・ Shin, Ju-Young ・ Jang, Sangbeom ・ Cho, Subin</a:t>
            </a:r>
          </a:p>
        </p:txBody>
      </p:sp>
      <p:sp>
        <p:nvSpPr>
          <p:cNvPr id="1003" name="소속"/>
          <p:cNvSpPr txBox="1"/>
          <p:nvPr/>
        </p:nvSpPr>
        <p:spPr>
          <a:xfrm>
            <a:off x="1327064" y="4600000"/>
            <a:ext cx="275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/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교수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</a:t>
            </a:r>
          </a:p>
        </p:txBody>
      </p:sp>
      <p:sp>
        <p:nvSpPr>
          <p:cNvPr id="1004" name="로고 배경"/>
          <p:cNvSpPr/>
          <p:nvPr/>
        </p:nvSpPr>
        <p:spPr>
          <a:xfrm>
            <a:off x="26850000" y="600000"/>
            <a:ext cx="3000000" cy="30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005" name="국민대학교 로고" descr="Kookmin University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50000" y="700000"/>
            <a:ext cx="2800000" cy="2800000"/>
          </a:xfrm>
          <a:prstGeom prst="rect">
            <a:avLst/>
          </a:prstGeom>
          <a:ln w="12700">
            <a:solidFill>
              <a:srgbClr val="BFC5CC"/>
            </a:solidFill>
          </a:ln>
        </p:spPr>
      </p:pic>
      <p:sp>
        <p:nvSpPr>
          <p:cNvPr id="1006" name="직사각형 1"/>
          <p:cNvSpPr/>
          <p:nvPr/>
        </p:nvSpPr>
        <p:spPr>
          <a:xfrm>
            <a:off x="674157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서론</a:t>
            </a:r>
          </a:p>
        </p:txBody>
      </p:sp>
      <p:sp>
        <p:nvSpPr>
          <p:cNvPr id="1007" name="본문"/>
          <p:cNvSpPr txBox="1"/>
          <p:nvPr/>
        </p:nvSpPr>
        <p:spPr>
          <a:xfrm>
            <a:off x="597946" y="7493024"/>
            <a:ext cx="14113138" cy="409348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댐 운영 판단에는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방류 승인 기록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수문·기상 관측 자료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 규정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등 여러 자료를 함께 확인해야 하나, 자료마다 형식과 이름이 달라 사람이 일일이 연결해야 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대규모 언어모델(LLM) 단독 활용은 답변의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근거를 확인하기 어려워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외부 자료를 검색해 답변에 활용하는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검색증강생성(RAG)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이 쓰이나, 자료 간 관계와 출처를 함께 다루려면 구조화된 지식이 필요함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연구는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온톨로지 기반 지식그래프(KG)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를 RAG 기반 검색 및 LLM 답변 생성과 연계하여, 운영자의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기반 의사결정을 지원하는 프레임워크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온톨로지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는 대상(Class)과 관계를 정리한 의미 구조이고,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KG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는 여기에 실제 개체·관계를 채운 그래프이며,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RAG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는 근거를 검색해 LLM에 주고 그 근거로 답하게 하는 방식임</a:t>
            </a:r>
          </a:p>
        </p:txBody>
      </p:sp>
      <p:sp>
        <p:nvSpPr>
          <p:cNvPr id="1008" name="직사각형 1"/>
          <p:cNvSpPr/>
          <p:nvPr/>
        </p:nvSpPr>
        <p:spPr>
          <a:xfrm>
            <a:off x="674157" y="11786504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프레임워크 개요</a:t>
            </a:r>
          </a:p>
        </p:txBody>
      </p:sp>
      <p:sp>
        <p:nvSpPr>
          <p:cNvPr id="1009" name="본문"/>
          <p:cNvSpPr txBox="1"/>
          <p:nvPr/>
        </p:nvSpPr>
        <p:spPr>
          <a:xfrm>
            <a:off x="597946" y="12929528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프레임워크는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세 단계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구성됨: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① Ontology 설계 → ② KG 구축 → ③ 근거 기반 질의응답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각 단계의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방법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을 설명하고, 이해를 돕기 위해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충주댐 승인 기록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을 예시로 따라감</a:t>
            </a:r>
          </a:p>
        </p:txBody>
      </p:sp>
      <p:grpSp>
        <p:nvGrpSpPr>
          <p:cNvPr id="5030" name="그림1 전체 구조"/>
          <p:cNvGrpSpPr/>
          <p:nvPr/>
        </p:nvGrpSpPr>
        <p:grpSpPr>
          <a:xfrm>
            <a:off x="1054515" y="13975313"/>
            <a:ext cx="13200000" cy="7392000"/>
            <a:chOff x="1054515" y="13975313"/>
            <a:chExt cx="13200000" cy="7392000"/>
          </a:xfrm>
        </p:grpSpPr>
        <p:sp>
          <p:nvSpPr>
            <p:cNvPr id="5001" name="도형"/>
            <p:cNvSpPr/>
            <p:nvPr/>
          </p:nvSpPr>
          <p:spPr>
            <a:xfrm>
              <a:off x="1054515" y="13975313"/>
              <a:ext cx="3498000" cy="3828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endParaRPr lang="ko-KR"/>
            </a:p>
          </p:txBody>
        </p:sp>
        <p:sp>
          <p:nvSpPr>
            <p:cNvPr id="5002" name="글상자"/>
            <p:cNvSpPr/>
            <p:nvPr/>
          </p:nvSpPr>
          <p:spPr>
            <a:xfrm>
              <a:off x="1186515" y="14054513"/>
              <a:ext cx="3234000" cy="44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6400" tIns="13200" rIns="26400" bIns="13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87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Ontology 설계</a:t>
              </a:r>
            </a:p>
          </p:txBody>
        </p:sp>
        <p:sp>
          <p:nvSpPr>
            <p:cNvPr id="5003" name="도형"/>
            <p:cNvSpPr/>
            <p:nvPr/>
          </p:nvSpPr>
          <p:spPr>
            <a:xfrm>
              <a:off x="1318515" y="14608913"/>
              <a:ext cx="2970000" cy="132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70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CQ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전체 질문 1개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세부 질문 6개</a:t>
              </a:r>
            </a:p>
          </p:txBody>
        </p:sp>
        <p:cxnSp>
          <p:nvCxnSpPr>
            <p:cNvPr id="5004" name="선"/>
            <p:cNvCxnSpPr/>
            <p:nvPr/>
          </p:nvCxnSpPr>
          <p:spPr>
            <a:xfrm>
              <a:off x="2796915" y="15955313"/>
              <a:ext cx="0" cy="2904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05" name="도형"/>
            <p:cNvSpPr/>
            <p:nvPr/>
          </p:nvSpPr>
          <p:spPr>
            <a:xfrm>
              <a:off x="1318515" y="16272113"/>
              <a:ext cx="2970000" cy="132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70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Class · 관계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Class 6, 관계 9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Data Property</a:t>
              </a:r>
            </a:p>
          </p:txBody>
        </p:sp>
        <p:sp>
          <p:nvSpPr>
            <p:cNvPr id="5006" name="도형"/>
            <p:cNvSpPr/>
            <p:nvPr/>
          </p:nvSpPr>
          <p:spPr>
            <a:xfrm>
              <a:off x="4816515" y="13975313"/>
              <a:ext cx="9438000" cy="3828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endParaRPr lang="ko-KR"/>
            </a:p>
          </p:txBody>
        </p:sp>
        <p:sp>
          <p:nvSpPr>
            <p:cNvPr id="5007" name="글상자"/>
            <p:cNvSpPr/>
            <p:nvPr/>
          </p:nvSpPr>
          <p:spPr>
            <a:xfrm>
              <a:off x="4948515" y="14054513"/>
              <a:ext cx="9174000" cy="44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6400" tIns="13200" rIns="26400" bIns="13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87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KG 구축</a:t>
              </a:r>
            </a:p>
          </p:txBody>
        </p:sp>
        <p:sp>
          <p:nvSpPr>
            <p:cNvPr id="5008" name="도형"/>
            <p:cNvSpPr/>
            <p:nvPr/>
          </p:nvSpPr>
          <p:spPr>
            <a:xfrm>
              <a:off x="5014515" y="14635313"/>
              <a:ext cx="2112000" cy="297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70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원자료 4종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승인 기록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시간 자료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규정 별표3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댐 정보</a:t>
              </a:r>
            </a:p>
          </p:txBody>
        </p:sp>
        <p:cxnSp>
          <p:nvCxnSpPr>
            <p:cNvPr id="5009" name="선"/>
            <p:cNvCxnSpPr/>
            <p:nvPr/>
          </p:nvCxnSpPr>
          <p:spPr>
            <a:xfrm>
              <a:off x="7152915" y="16113713"/>
              <a:ext cx="4752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10" name="도형"/>
            <p:cNvSpPr/>
            <p:nvPr/>
          </p:nvSpPr>
          <p:spPr>
            <a:xfrm>
              <a:off x="7654515" y="14635313"/>
              <a:ext cx="2244000" cy="297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70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6단계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전처리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매핑 · 추출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관계 연결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검증 · 저장</a:t>
              </a:r>
            </a:p>
          </p:txBody>
        </p:sp>
        <p:cxnSp>
          <p:nvCxnSpPr>
            <p:cNvPr id="5011" name="선"/>
            <p:cNvCxnSpPr/>
            <p:nvPr/>
          </p:nvCxnSpPr>
          <p:spPr>
            <a:xfrm>
              <a:off x="9924915" y="16113713"/>
              <a:ext cx="4752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12" name="도형"/>
            <p:cNvSpPr/>
            <p:nvPr/>
          </p:nvSpPr>
          <p:spPr>
            <a:xfrm>
              <a:off x="10426515" y="14582513"/>
              <a:ext cx="3630000" cy="924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49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 (Neo4j)</a:t>
              </a:r>
            </a:p>
          </p:txBody>
        </p:sp>
        <p:sp>
          <p:nvSpPr>
            <p:cNvPr id="5013" name="도형"/>
            <p:cNvSpPr/>
            <p:nvPr/>
          </p:nvSpPr>
          <p:spPr>
            <a:xfrm>
              <a:off x="10426515" y="15638513"/>
              <a:ext cx="3630000" cy="924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49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측정자료 저장소</a:t>
              </a:r>
            </a:p>
          </p:txBody>
        </p:sp>
        <p:sp>
          <p:nvSpPr>
            <p:cNvPr id="5014" name="도형"/>
            <p:cNvSpPr/>
            <p:nvPr/>
          </p:nvSpPr>
          <p:spPr>
            <a:xfrm>
              <a:off x="10426515" y="16694513"/>
              <a:ext cx="3630000" cy="924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49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문서 저장소</a:t>
              </a:r>
            </a:p>
          </p:txBody>
        </p:sp>
        <p:sp>
          <p:nvSpPr>
            <p:cNvPr id="5015" name="도형"/>
            <p:cNvSpPr/>
            <p:nvPr/>
          </p:nvSpPr>
          <p:spPr>
            <a:xfrm>
              <a:off x="1054515" y="18331313"/>
              <a:ext cx="13200000" cy="2838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endParaRPr lang="ko-KR"/>
            </a:p>
          </p:txBody>
        </p:sp>
        <p:sp>
          <p:nvSpPr>
            <p:cNvPr id="5016" name="글상자"/>
            <p:cNvSpPr/>
            <p:nvPr/>
          </p:nvSpPr>
          <p:spPr>
            <a:xfrm>
              <a:off x="1186515" y="18410513"/>
              <a:ext cx="12936000" cy="44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6400" tIns="13200" rIns="26400" bIns="13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87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근거 기반 질의응답</a:t>
              </a:r>
            </a:p>
          </p:txBody>
        </p:sp>
        <p:sp>
          <p:nvSpPr>
            <p:cNvPr id="5017" name="도형"/>
            <p:cNvSpPr/>
            <p:nvPr/>
          </p:nvSpPr>
          <p:spPr>
            <a:xfrm>
              <a:off x="1239315" y="19149713"/>
              <a:ext cx="2270400" cy="1848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91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사용자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494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</a:t>
              </a:r>
            </a:p>
          </p:txBody>
        </p:sp>
        <p:sp>
          <p:nvSpPr>
            <p:cNvPr id="5018" name="도형"/>
            <p:cNvSpPr/>
            <p:nvPr/>
          </p:nvSpPr>
          <p:spPr>
            <a:xfrm>
              <a:off x="3879315" y="19149713"/>
              <a:ext cx="2270400" cy="1848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70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 해석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7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 CQ1~6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7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댐 · 시점</a:t>
              </a:r>
            </a:p>
          </p:txBody>
        </p:sp>
        <p:sp>
          <p:nvSpPr>
            <p:cNvPr id="5019" name="도형"/>
            <p:cNvSpPr/>
            <p:nvPr/>
          </p:nvSpPr>
          <p:spPr>
            <a:xfrm>
              <a:off x="6519315" y="19149713"/>
              <a:ext cx="2270400" cy="1848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70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검색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7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입력 확인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7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 · 저장소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7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조회</a:t>
              </a:r>
            </a:p>
          </p:txBody>
        </p:sp>
        <p:sp>
          <p:nvSpPr>
            <p:cNvPr id="5020" name="도형"/>
            <p:cNvSpPr/>
            <p:nvPr/>
          </p:nvSpPr>
          <p:spPr>
            <a:xfrm>
              <a:off x="9159315" y="19149713"/>
              <a:ext cx="2270400" cy="1848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70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7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출처 번호 부착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7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원값 근거</a:t>
              </a:r>
            </a:p>
          </p:txBody>
        </p:sp>
        <p:sp>
          <p:nvSpPr>
            <p:cNvPr id="5021" name="도형"/>
            <p:cNvSpPr/>
            <p:nvPr/>
          </p:nvSpPr>
          <p:spPr>
            <a:xfrm>
              <a:off x="11799315" y="19149713"/>
              <a:ext cx="2270400" cy="1848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70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생성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7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/ 판단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7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분리 작성</a:t>
              </a:r>
            </a:p>
          </p:txBody>
        </p:sp>
        <p:cxnSp>
          <p:nvCxnSpPr>
            <p:cNvPr id="5022" name="선"/>
            <p:cNvCxnSpPr/>
            <p:nvPr/>
          </p:nvCxnSpPr>
          <p:spPr>
            <a:xfrm>
              <a:off x="3536115" y="20073713"/>
              <a:ext cx="316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3" name="선"/>
            <p:cNvCxnSpPr/>
            <p:nvPr/>
          </p:nvCxnSpPr>
          <p:spPr>
            <a:xfrm>
              <a:off x="6176115" y="20073713"/>
              <a:ext cx="316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4" name="선"/>
            <p:cNvCxnSpPr/>
            <p:nvPr/>
          </p:nvCxnSpPr>
          <p:spPr>
            <a:xfrm>
              <a:off x="8816115" y="20073713"/>
              <a:ext cx="316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5" name="선"/>
            <p:cNvCxnSpPr/>
            <p:nvPr/>
          </p:nvCxnSpPr>
          <p:spPr>
            <a:xfrm>
              <a:off x="11456115" y="20073713"/>
              <a:ext cx="316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6" name="선"/>
            <p:cNvCxnSpPr/>
            <p:nvPr/>
          </p:nvCxnSpPr>
          <p:spPr>
            <a:xfrm>
              <a:off x="12248115" y="17644913"/>
              <a:ext cx="0" cy="44880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</a:ln>
          </p:spPr>
        </p:cxnSp>
        <p:cxnSp>
          <p:nvCxnSpPr>
            <p:cNvPr id="5027" name="선"/>
            <p:cNvCxnSpPr/>
            <p:nvPr/>
          </p:nvCxnSpPr>
          <p:spPr>
            <a:xfrm flipH="1">
              <a:off x="7654515" y="18093713"/>
              <a:ext cx="4593600" cy="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</a:ln>
          </p:spPr>
        </p:cxnSp>
        <p:cxnSp>
          <p:nvCxnSpPr>
            <p:cNvPr id="5028" name="선"/>
            <p:cNvCxnSpPr/>
            <p:nvPr/>
          </p:nvCxnSpPr>
          <p:spPr>
            <a:xfrm>
              <a:off x="7654515" y="18093713"/>
              <a:ext cx="0" cy="102960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  <a:tailEnd type="triangle" w="med" len="med"/>
            </a:ln>
          </p:spPr>
        </p:cxnSp>
        <p:sp>
          <p:nvSpPr>
            <p:cNvPr id="5029" name="글상자"/>
            <p:cNvSpPr/>
            <p:nvPr/>
          </p:nvSpPr>
          <p:spPr>
            <a:xfrm>
              <a:off x="7918515" y="18172913"/>
              <a:ext cx="39600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6400" tIns="13200" rIns="26400" bIns="13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079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저장소에서 읽어 옴</a:t>
              </a:r>
            </a:p>
          </p:txBody>
        </p:sp>
      </p:grpSp>
      <p:sp>
        <p:nvSpPr>
          <p:cNvPr id="1010" name="본문"/>
          <p:cNvSpPr txBox="1"/>
          <p:nvPr/>
        </p:nvSpPr>
        <p:spPr>
          <a:xfrm>
            <a:off x="597946" y="21427313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1. 연구의 구성</a:t>
            </a:r>
          </a:p>
        </p:txBody>
      </p:sp>
      <p:sp>
        <p:nvSpPr>
          <p:cNvPr id="1011" name="직사각형 1"/>
          <p:cNvSpPr/>
          <p:nvPr/>
        </p:nvSpPr>
        <p:spPr>
          <a:xfrm>
            <a:off x="674157" y="22147313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1. Ontology 설계</a:t>
            </a:r>
          </a:p>
        </p:txBody>
      </p:sp>
      <p:sp>
        <p:nvSpPr>
          <p:cNvPr id="1012" name="본문"/>
          <p:cNvSpPr txBox="1"/>
          <p:nvPr/>
        </p:nvSpPr>
        <p:spPr>
          <a:xfrm>
            <a:off x="597946" y="23290337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운영자가 확인해야 할 질문을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전체 질문 1개와 세부 질문 6개(CQ1~CQ6)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로 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 질문에 답하는 데 필요한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Class 6개와 관계 9개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Class별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Data Property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정의함</a:t>
            </a:r>
          </a:p>
        </p:txBody>
      </p:sp>
      <p:sp>
        <p:nvSpPr>
          <p:cNvPr id="1013" name="직사각형 415"/>
          <p:cNvSpPr/>
          <p:nvPr/>
        </p:nvSpPr>
        <p:spPr>
          <a:xfrm>
            <a:off x="830804" y="24336122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1. 전체 질문과 세부 질문(CQ)</a:t>
            </a:r>
          </a:p>
        </p:txBody>
      </p:sp>
      <p:graphicFrame>
        <p:nvGraphicFramePr>
          <p:cNvPr id="1014" name="표"/>
          <p:cNvGraphicFramePr>
            <a:graphicFrameLocks noGrp="1"/>
          </p:cNvGraphicFramePr>
          <p:nvPr/>
        </p:nvGraphicFramePr>
        <p:xfrm>
          <a:off x="697946" y="25072107"/>
          <a:ext cx="13500000" cy="4200375"/>
        </p:xfrm>
        <a:graphic>
          <a:graphicData uri="http://schemas.openxmlformats.org/drawingml/2006/table">
            <a:tbl>
              <a:tblPr firstRow="1" bandRow="1"/>
              <a:tblGrid>
                <a:gridCol w="2000000"/>
                <a:gridCol w="11500000"/>
              </a:tblGrid>
              <a:tr h="48337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번호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질문 (Competency Question)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816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전체 질문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특정 댐의 현재 수문·기상 상태와 운영기준을 확인하고, 선택된 과거 사례의 상태·운영행위·승인·근거를 함께 추적하여 운영 판단을 지원할 수 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CQ1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대상 댐의 현재 수문·기상 상태는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CQ2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선택된 과거 시점 또는 사례의 수문·기상 상태는 어떠했는가?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CQ3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해당 과거 시점 또는 사례에서 수행된 운영행위는 무엇이었는가?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CQ4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해당 과거 시점 또는 사례의 방류 승인과 승인 내용은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CQ5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현재 대상 댐에 적용되는 운영기준과 기준값은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CQ6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위 정보를 확인할 수 있는 공식 자료 또는 근거문서는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071" name="그림2 KG 예시"/>
          <p:cNvGrpSpPr/>
          <p:nvPr/>
        </p:nvGrpSpPr>
        <p:grpSpPr>
          <a:xfrm>
            <a:off x="1454515" y="29392482"/>
            <a:ext cx="12400000" cy="6780183"/>
            <a:chOff x="1454515" y="29392482"/>
            <a:chExt cx="12400000" cy="6780183"/>
          </a:xfrm>
        </p:grpSpPr>
        <p:sp>
          <p:nvSpPr>
            <p:cNvPr id="5031" name="도형"/>
            <p:cNvSpPr/>
            <p:nvPr/>
          </p:nvSpPr>
          <p:spPr>
            <a:xfrm>
              <a:off x="1966442" y="29392482"/>
              <a:ext cx="5005505" cy="138789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1009" tIns="45504" rIns="91009" bIns="45504" anchor="ctr">
              <a:noAutofit/>
            </a:bodyPr>
            <a:lstStyle/>
            <a:p>
              <a:endParaRPr lang="ko-KR"/>
            </a:p>
          </p:txBody>
        </p:sp>
        <p:sp>
          <p:nvSpPr>
            <p:cNvPr id="5032" name="도형"/>
            <p:cNvSpPr/>
            <p:nvPr/>
          </p:nvSpPr>
          <p:spPr>
            <a:xfrm>
              <a:off x="1966442" y="29392482"/>
              <a:ext cx="5005505" cy="50055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266" tIns="79633" rIns="159266" bIns="79633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</a:t>
              </a:r>
            </a:p>
          </p:txBody>
        </p:sp>
        <p:sp>
          <p:nvSpPr>
            <p:cNvPr id="5033" name="속성"/>
            <p:cNvSpPr/>
            <p:nvPr/>
          </p:nvSpPr>
          <p:spPr>
            <a:xfrm>
              <a:off x="1966442" y="29915785"/>
              <a:ext cx="5005505" cy="8645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9266" tIns="79633" rIns="159266" bIns="79633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1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approvalTime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1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approvalContent</a:t>
              </a:r>
            </a:p>
          </p:txBody>
        </p:sp>
        <p:sp>
          <p:nvSpPr>
            <p:cNvPr id="5034" name="도형"/>
            <p:cNvSpPr/>
            <p:nvPr/>
          </p:nvSpPr>
          <p:spPr>
            <a:xfrm>
              <a:off x="8507726" y="29392482"/>
              <a:ext cx="5005505" cy="1706422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1009" tIns="45504" rIns="91009" bIns="45504" anchor="ctr">
              <a:noAutofit/>
            </a:bodyPr>
            <a:lstStyle/>
            <a:p>
              <a:endParaRPr lang="ko-KR"/>
            </a:p>
          </p:txBody>
        </p:sp>
        <p:sp>
          <p:nvSpPr>
            <p:cNvPr id="5035" name="도형"/>
            <p:cNvSpPr/>
            <p:nvPr/>
          </p:nvSpPr>
          <p:spPr>
            <a:xfrm>
              <a:off x="8507726" y="29392482"/>
              <a:ext cx="5005505" cy="50055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266" tIns="79633" rIns="159266" bIns="79633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</a:t>
              </a:r>
            </a:p>
          </p:txBody>
        </p:sp>
        <p:sp>
          <p:nvSpPr>
            <p:cNvPr id="5036" name="속성"/>
            <p:cNvSpPr/>
            <p:nvPr/>
          </p:nvSpPr>
          <p:spPr>
            <a:xfrm>
              <a:off x="8507726" y="29915785"/>
              <a:ext cx="5005505" cy="11831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9266" tIns="79633" rIns="159266" bIns="79633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1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1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criterionValue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1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unit</a:t>
              </a:r>
            </a:p>
          </p:txBody>
        </p:sp>
        <p:sp>
          <p:nvSpPr>
            <p:cNvPr id="5037" name="도형"/>
            <p:cNvSpPr/>
            <p:nvPr/>
          </p:nvSpPr>
          <p:spPr>
            <a:xfrm>
              <a:off x="1966442" y="31735968"/>
              <a:ext cx="5005505" cy="138789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1009" tIns="45504" rIns="91009" bIns="45504" anchor="ctr">
              <a:noAutofit/>
            </a:bodyPr>
            <a:lstStyle/>
            <a:p>
              <a:endParaRPr lang="ko-KR"/>
            </a:p>
          </p:txBody>
        </p:sp>
        <p:sp>
          <p:nvSpPr>
            <p:cNvPr id="5038" name="도형"/>
            <p:cNvSpPr/>
            <p:nvPr/>
          </p:nvSpPr>
          <p:spPr>
            <a:xfrm>
              <a:off x="1966442" y="31735968"/>
              <a:ext cx="5005505" cy="50055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266" tIns="79633" rIns="159266" bIns="79633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</a:t>
              </a:r>
            </a:p>
          </p:txBody>
        </p:sp>
        <p:sp>
          <p:nvSpPr>
            <p:cNvPr id="5039" name="속성"/>
            <p:cNvSpPr/>
            <p:nvPr/>
          </p:nvSpPr>
          <p:spPr>
            <a:xfrm>
              <a:off x="1966442" y="32259271"/>
              <a:ext cx="5005505" cy="8645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9266" tIns="79633" rIns="159266" bIns="79633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1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1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operationTime</a:t>
              </a:r>
            </a:p>
          </p:txBody>
        </p:sp>
        <p:sp>
          <p:nvSpPr>
            <p:cNvPr id="5040" name="도형"/>
            <p:cNvSpPr/>
            <p:nvPr/>
          </p:nvSpPr>
          <p:spPr>
            <a:xfrm>
              <a:off x="8507726" y="31735968"/>
              <a:ext cx="5005505" cy="138789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1009" tIns="45504" rIns="91009" bIns="45504" anchor="ctr">
              <a:noAutofit/>
            </a:bodyPr>
            <a:lstStyle/>
            <a:p>
              <a:endParaRPr lang="ko-KR"/>
            </a:p>
          </p:txBody>
        </p:sp>
        <p:sp>
          <p:nvSpPr>
            <p:cNvPr id="5041" name="도형"/>
            <p:cNvSpPr/>
            <p:nvPr/>
          </p:nvSpPr>
          <p:spPr>
            <a:xfrm>
              <a:off x="8507726" y="31735968"/>
              <a:ext cx="5005505" cy="50055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266" tIns="79633" rIns="159266" bIns="79633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</a:t>
              </a:r>
            </a:p>
          </p:txBody>
        </p:sp>
        <p:sp>
          <p:nvSpPr>
            <p:cNvPr id="5042" name="속성"/>
            <p:cNvSpPr/>
            <p:nvPr/>
          </p:nvSpPr>
          <p:spPr>
            <a:xfrm>
              <a:off x="8507726" y="32259271"/>
              <a:ext cx="5005505" cy="8645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9266" tIns="79633" rIns="159266" bIns="79633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1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damName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1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damType</a:t>
              </a:r>
            </a:p>
          </p:txBody>
        </p:sp>
        <p:sp>
          <p:nvSpPr>
            <p:cNvPr id="5043" name="도형"/>
            <p:cNvSpPr/>
            <p:nvPr/>
          </p:nvSpPr>
          <p:spPr>
            <a:xfrm>
              <a:off x="1966442" y="33760922"/>
              <a:ext cx="5005505" cy="1706422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1009" tIns="45504" rIns="91009" bIns="45504" anchor="ctr">
              <a:noAutofit/>
            </a:bodyPr>
            <a:lstStyle/>
            <a:p>
              <a:endParaRPr lang="ko-KR"/>
            </a:p>
          </p:txBody>
        </p:sp>
        <p:sp>
          <p:nvSpPr>
            <p:cNvPr id="5044" name="도형"/>
            <p:cNvSpPr/>
            <p:nvPr/>
          </p:nvSpPr>
          <p:spPr>
            <a:xfrm>
              <a:off x="1966442" y="33760922"/>
              <a:ext cx="5005505" cy="50055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266" tIns="79633" rIns="159266" bIns="79633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EvidenceSource</a:t>
              </a:r>
            </a:p>
          </p:txBody>
        </p:sp>
        <p:sp>
          <p:nvSpPr>
            <p:cNvPr id="5045" name="속성"/>
            <p:cNvSpPr/>
            <p:nvPr/>
          </p:nvSpPr>
          <p:spPr>
            <a:xfrm>
              <a:off x="1966442" y="34284225"/>
              <a:ext cx="5005505" cy="11831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9266" tIns="79633" rIns="159266" bIns="79633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1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sourceTitle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1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1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sourceLocator</a:t>
              </a:r>
            </a:p>
          </p:txBody>
        </p:sp>
        <p:sp>
          <p:nvSpPr>
            <p:cNvPr id="5046" name="도형"/>
            <p:cNvSpPr/>
            <p:nvPr/>
          </p:nvSpPr>
          <p:spPr>
            <a:xfrm>
              <a:off x="8507726" y="33760922"/>
              <a:ext cx="5005505" cy="138789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1009" tIns="45504" rIns="91009" bIns="45504" anchor="ctr">
              <a:noAutofit/>
            </a:bodyPr>
            <a:lstStyle/>
            <a:p>
              <a:endParaRPr lang="ko-KR"/>
            </a:p>
          </p:txBody>
        </p:sp>
        <p:sp>
          <p:nvSpPr>
            <p:cNvPr id="5047" name="도형"/>
            <p:cNvSpPr/>
            <p:nvPr/>
          </p:nvSpPr>
          <p:spPr>
            <a:xfrm>
              <a:off x="8507726" y="33760922"/>
              <a:ext cx="5005505" cy="50055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266" tIns="79633" rIns="159266" bIns="79633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HydrometeorologicalState</a:t>
              </a:r>
            </a:p>
          </p:txBody>
        </p:sp>
        <p:sp>
          <p:nvSpPr>
            <p:cNvPr id="5048" name="속성"/>
            <p:cNvSpPr/>
            <p:nvPr/>
          </p:nvSpPr>
          <p:spPr>
            <a:xfrm>
              <a:off x="8507726" y="34284225"/>
              <a:ext cx="5005505" cy="8645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9266" tIns="79633" rIns="159266" bIns="79633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1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variableType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1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stationCode</a:t>
              </a:r>
            </a:p>
          </p:txBody>
        </p:sp>
        <p:cxnSp>
          <p:nvCxnSpPr>
            <p:cNvPr id="5049" name="선"/>
            <p:cNvCxnSpPr/>
            <p:nvPr/>
          </p:nvCxnSpPr>
          <p:spPr>
            <a:xfrm>
              <a:off x="4469194" y="30803124"/>
              <a:ext cx="0" cy="910092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0" name="글상자"/>
            <p:cNvSpPr/>
            <p:nvPr/>
          </p:nvSpPr>
          <p:spPr>
            <a:xfrm>
              <a:off x="4760423" y="31027234"/>
              <a:ext cx="1237725" cy="3026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2752" tIns="11376" rIns="22752" bIns="11376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70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authorizes</a:t>
              </a:r>
            </a:p>
          </p:txBody>
        </p:sp>
        <p:cxnSp>
          <p:nvCxnSpPr>
            <p:cNvPr id="5051" name="선"/>
            <p:cNvCxnSpPr/>
            <p:nvPr/>
          </p:nvCxnSpPr>
          <p:spPr>
            <a:xfrm>
              <a:off x="6994698" y="30416335"/>
              <a:ext cx="1490275" cy="1774679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2" name="글상자"/>
            <p:cNvSpPr/>
            <p:nvPr/>
          </p:nvSpPr>
          <p:spPr>
            <a:xfrm>
              <a:off x="7115513" y="30955565"/>
              <a:ext cx="1305527" cy="2866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2752" tIns="11376" rIns="22752" bIns="11376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1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concernsDam</a:t>
              </a:r>
            </a:p>
          </p:txBody>
        </p:sp>
        <p:cxnSp>
          <p:nvCxnSpPr>
            <p:cNvPr id="5053" name="선"/>
            <p:cNvCxnSpPr/>
            <p:nvPr/>
          </p:nvCxnSpPr>
          <p:spPr>
            <a:xfrm>
              <a:off x="6994698" y="32759821"/>
              <a:ext cx="1490275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4" name="글상자"/>
            <p:cNvSpPr/>
            <p:nvPr/>
          </p:nvSpPr>
          <p:spPr>
            <a:xfrm>
              <a:off x="7050442" y="32390097"/>
              <a:ext cx="1390165" cy="2388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2752" tIns="11376" rIns="22752" bIns="11376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4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performedOnDam</a:t>
              </a:r>
            </a:p>
          </p:txBody>
        </p:sp>
        <p:cxnSp>
          <p:nvCxnSpPr>
            <p:cNvPr id="5055" name="선"/>
            <p:cNvCxnSpPr/>
            <p:nvPr/>
          </p:nvCxnSpPr>
          <p:spPr>
            <a:xfrm>
              <a:off x="11010478" y="31121656"/>
              <a:ext cx="0" cy="59156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6" name="글상자"/>
            <p:cNvSpPr/>
            <p:nvPr/>
          </p:nvSpPr>
          <p:spPr>
            <a:xfrm>
              <a:off x="11224577" y="31345766"/>
              <a:ext cx="1505747" cy="3026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2752" tIns="11376" rIns="22752" bIns="11376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70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appliesToDam</a:t>
              </a:r>
            </a:p>
          </p:txBody>
        </p:sp>
        <p:cxnSp>
          <p:nvCxnSpPr>
            <p:cNvPr id="5057" name="선"/>
            <p:cNvCxnSpPr/>
            <p:nvPr/>
          </p:nvCxnSpPr>
          <p:spPr>
            <a:xfrm>
              <a:off x="11010478" y="33146610"/>
              <a:ext cx="0" cy="59156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8" name="글상자"/>
            <p:cNvSpPr/>
            <p:nvPr/>
          </p:nvSpPr>
          <p:spPr>
            <a:xfrm>
              <a:off x="11022765" y="33394610"/>
              <a:ext cx="2705703" cy="2548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2752" tIns="11376" rIns="22752" bIns="11376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33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hasHydrometeorologicalState</a:t>
              </a:r>
            </a:p>
          </p:txBody>
        </p:sp>
        <p:cxnSp>
          <p:nvCxnSpPr>
            <p:cNvPr id="5059" name="선"/>
            <p:cNvCxnSpPr/>
            <p:nvPr/>
          </p:nvCxnSpPr>
          <p:spPr>
            <a:xfrm>
              <a:off x="4469194" y="33146610"/>
              <a:ext cx="0" cy="59156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0" name="글상자"/>
            <p:cNvSpPr/>
            <p:nvPr/>
          </p:nvSpPr>
          <p:spPr>
            <a:xfrm>
              <a:off x="4579656" y="33370721"/>
              <a:ext cx="1371736" cy="3026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2752" tIns="11376" rIns="22752" bIns="11376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70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061" name="선"/>
            <p:cNvCxnSpPr/>
            <p:nvPr/>
          </p:nvCxnSpPr>
          <p:spPr>
            <a:xfrm flipH="1">
              <a:off x="6994698" y="34784776"/>
              <a:ext cx="1490275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2" name="글상자"/>
            <p:cNvSpPr/>
            <p:nvPr/>
          </p:nvSpPr>
          <p:spPr>
            <a:xfrm>
              <a:off x="7092761" y="34391161"/>
              <a:ext cx="1305527" cy="2866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2752" tIns="11376" rIns="22752" bIns="11376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1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063" name="선"/>
            <p:cNvCxnSpPr/>
            <p:nvPr/>
          </p:nvCxnSpPr>
          <p:spPr>
            <a:xfrm flipH="1">
              <a:off x="1659286" y="30188812"/>
              <a:ext cx="307156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4" name="선"/>
            <p:cNvCxnSpPr/>
            <p:nvPr/>
          </p:nvCxnSpPr>
          <p:spPr>
            <a:xfrm>
              <a:off x="1659286" y="30188812"/>
              <a:ext cx="0" cy="4937248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5" name="선"/>
            <p:cNvCxnSpPr/>
            <p:nvPr/>
          </p:nvCxnSpPr>
          <p:spPr>
            <a:xfrm>
              <a:off x="1659286" y="35126060"/>
              <a:ext cx="284404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66" name="선"/>
            <p:cNvCxnSpPr/>
            <p:nvPr/>
          </p:nvCxnSpPr>
          <p:spPr>
            <a:xfrm>
              <a:off x="13513231" y="30188812"/>
              <a:ext cx="113761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7" name="선"/>
            <p:cNvCxnSpPr/>
            <p:nvPr/>
          </p:nvCxnSpPr>
          <p:spPr>
            <a:xfrm>
              <a:off x="13626992" y="30188812"/>
              <a:ext cx="0" cy="5597064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8" name="선"/>
            <p:cNvCxnSpPr/>
            <p:nvPr/>
          </p:nvCxnSpPr>
          <p:spPr>
            <a:xfrm flipH="1">
              <a:off x="5379286" y="35785876"/>
              <a:ext cx="8247706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9" name="선"/>
            <p:cNvCxnSpPr/>
            <p:nvPr/>
          </p:nvCxnSpPr>
          <p:spPr>
            <a:xfrm flipV="1">
              <a:off x="5379286" y="35490097"/>
              <a:ext cx="0" cy="29578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70" name="글상자"/>
            <p:cNvSpPr/>
            <p:nvPr/>
          </p:nvSpPr>
          <p:spPr>
            <a:xfrm>
              <a:off x="1454515" y="35922390"/>
              <a:ext cx="12400000" cy="318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2752" tIns="11376" rIns="22752" bIns="11376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792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카드: Class 이름과 Data Property.   화살표: 관계(Relation) 9종류</a:t>
              </a:r>
            </a:p>
          </p:txBody>
        </p:sp>
      </p:grpSp>
      <p:sp>
        <p:nvSpPr>
          <p:cNvPr id="1015" name="본문"/>
          <p:cNvSpPr txBox="1"/>
          <p:nvPr/>
        </p:nvSpPr>
        <p:spPr>
          <a:xfrm>
            <a:off x="597946" y="36232665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2. Ontology: Class 6개, 관계 9개, Class별 Data Property</a:t>
            </a:r>
          </a:p>
        </p:txBody>
      </p:sp>
      <p:sp>
        <p:nvSpPr>
          <p:cNvPr id="1016" name="직사각형 1"/>
          <p:cNvSpPr/>
          <p:nvPr/>
        </p:nvSpPr>
        <p:spPr>
          <a:xfrm>
            <a:off x="15691431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2. KG 구축</a:t>
            </a:r>
          </a:p>
        </p:txBody>
      </p:sp>
      <p:sp>
        <p:nvSpPr>
          <p:cNvPr id="1017" name="본문"/>
          <p:cNvSpPr txBox="1"/>
          <p:nvPr/>
        </p:nvSpPr>
        <p:spPr>
          <a:xfrm>
            <a:off x="15570184" y="7493024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자료의 형태에 맞게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6단계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처리하여 Ontology에 맞는 개체와 관계로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측정값 전체와 규정 원문은 KG 밖 저장소에 두고, KG에는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찾아가는 키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만 저장함</a:t>
            </a:r>
          </a:p>
        </p:txBody>
      </p:sp>
      <p:grpSp>
        <p:nvGrpSpPr>
          <p:cNvPr id="5085" name="그림 KG 구축 6단계"/>
          <p:cNvGrpSpPr/>
          <p:nvPr/>
        </p:nvGrpSpPr>
        <p:grpSpPr>
          <a:xfrm>
            <a:off x="17126753" y="8538809"/>
            <a:ext cx="11000000" cy="3300000"/>
            <a:chOff x="17126753" y="8538809"/>
            <a:chExt cx="11000000" cy="3300000"/>
          </a:xfrm>
        </p:grpSpPr>
        <p:sp>
          <p:nvSpPr>
            <p:cNvPr id="5072" name="도형"/>
            <p:cNvSpPr/>
            <p:nvPr/>
          </p:nvSpPr>
          <p:spPr>
            <a:xfrm>
              <a:off x="17126753" y="8538809"/>
              <a:ext cx="3300000" cy="1375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8000" tIns="44000" rIns="88000" bIns="44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5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전처리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1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중복·표기 정리, 대상 댐 선택</a:t>
              </a:r>
            </a:p>
          </p:txBody>
        </p:sp>
        <p:sp>
          <p:nvSpPr>
            <p:cNvPr id="5073" name="도형"/>
            <p:cNvSpPr/>
            <p:nvPr/>
          </p:nvSpPr>
          <p:spPr>
            <a:xfrm>
              <a:off x="20976753" y="8538809"/>
              <a:ext cx="3300000" cy="1375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8000" tIns="44000" rIns="88000" bIns="44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5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구조화 자료 매핑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1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표의 열·행을 속성·개체로 옮김</a:t>
              </a:r>
            </a:p>
          </p:txBody>
        </p:sp>
        <p:sp>
          <p:nvSpPr>
            <p:cNvPr id="5074" name="도형"/>
            <p:cNvSpPr/>
            <p:nvPr/>
          </p:nvSpPr>
          <p:spPr>
            <a:xfrm>
              <a:off x="24826753" y="8538809"/>
              <a:ext cx="3300000" cy="1375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8000" tIns="44000" rIns="88000" bIns="44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5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문서 자료 추출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1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글 속의 값을 규칙으로 추출</a:t>
              </a:r>
            </a:p>
          </p:txBody>
        </p:sp>
        <p:sp>
          <p:nvSpPr>
            <p:cNvPr id="5075" name="도형"/>
            <p:cNvSpPr/>
            <p:nvPr/>
          </p:nvSpPr>
          <p:spPr>
            <a:xfrm>
              <a:off x="17126753" y="10463809"/>
              <a:ext cx="3300000" cy="1375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8000" tIns="44000" rIns="88000" bIns="44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5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4 관계 연결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1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값이 일치하는 개체 쌍에 관계 생성</a:t>
              </a:r>
            </a:p>
          </p:txBody>
        </p:sp>
        <p:sp>
          <p:nvSpPr>
            <p:cNvPr id="5076" name="도형"/>
            <p:cNvSpPr/>
            <p:nvPr/>
          </p:nvSpPr>
          <p:spPr>
            <a:xfrm>
              <a:off x="20976753" y="10463809"/>
              <a:ext cx="3300000" cy="1375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8000" tIns="44000" rIns="88000" bIns="44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5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5 검증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1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허용 규칙으로 점검, Ontology 보완</a:t>
              </a:r>
            </a:p>
          </p:txBody>
        </p:sp>
        <p:sp>
          <p:nvSpPr>
            <p:cNvPr id="5077" name="도형"/>
            <p:cNvSpPr/>
            <p:nvPr/>
          </p:nvSpPr>
          <p:spPr>
            <a:xfrm>
              <a:off x="24826753" y="10463809"/>
              <a:ext cx="3300000" cy="1375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8000" tIns="44000" rIns="88000" bIns="44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5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6 저장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1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KG는 Neo4j, 측정값·원문은 저장소</a:t>
              </a:r>
            </a:p>
          </p:txBody>
        </p:sp>
        <p:cxnSp>
          <p:nvCxnSpPr>
            <p:cNvPr id="5078" name="선"/>
            <p:cNvCxnSpPr/>
            <p:nvPr/>
          </p:nvCxnSpPr>
          <p:spPr>
            <a:xfrm>
              <a:off x="20448753" y="9220809"/>
              <a:ext cx="506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79" name="선"/>
            <p:cNvCxnSpPr/>
            <p:nvPr/>
          </p:nvCxnSpPr>
          <p:spPr>
            <a:xfrm>
              <a:off x="24298753" y="9220809"/>
              <a:ext cx="506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0" name="선"/>
            <p:cNvCxnSpPr/>
            <p:nvPr/>
          </p:nvCxnSpPr>
          <p:spPr>
            <a:xfrm>
              <a:off x="26476753" y="9935809"/>
              <a:ext cx="0" cy="25300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81" name="선"/>
            <p:cNvCxnSpPr/>
            <p:nvPr/>
          </p:nvCxnSpPr>
          <p:spPr>
            <a:xfrm flipH="1">
              <a:off x="18776753" y="10188809"/>
              <a:ext cx="77000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82" name="선"/>
            <p:cNvCxnSpPr/>
            <p:nvPr/>
          </p:nvCxnSpPr>
          <p:spPr>
            <a:xfrm>
              <a:off x="18776753" y="10188809"/>
              <a:ext cx="0" cy="2530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3" name="선"/>
            <p:cNvCxnSpPr/>
            <p:nvPr/>
          </p:nvCxnSpPr>
          <p:spPr>
            <a:xfrm>
              <a:off x="20448753" y="11145809"/>
              <a:ext cx="506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4" name="선"/>
            <p:cNvCxnSpPr/>
            <p:nvPr/>
          </p:nvCxnSpPr>
          <p:spPr>
            <a:xfrm>
              <a:off x="24298753" y="11145809"/>
              <a:ext cx="506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</p:grpSp>
      <p:sp>
        <p:nvSpPr>
          <p:cNvPr id="1018" name="본문"/>
          <p:cNvSpPr txBox="1"/>
          <p:nvPr/>
        </p:nvSpPr>
        <p:spPr>
          <a:xfrm>
            <a:off x="15570184" y="11898809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3. KG 구축 6단계</a:t>
            </a:r>
          </a:p>
        </p:txBody>
      </p:sp>
      <p:grpSp>
        <p:nvGrpSpPr>
          <p:cNvPr id="5126" name="그림2 KG 예시"/>
          <p:cNvGrpSpPr/>
          <p:nvPr/>
        </p:nvGrpSpPr>
        <p:grpSpPr>
          <a:xfrm>
            <a:off x="17826753" y="12418809"/>
            <a:ext cx="9600000" cy="5988991"/>
            <a:chOff x="17826753" y="12418809"/>
            <a:chExt cx="9600000" cy="5988991"/>
          </a:xfrm>
        </p:grpSpPr>
        <p:sp>
          <p:nvSpPr>
            <p:cNvPr id="5086" name="도형"/>
            <p:cNvSpPr/>
            <p:nvPr/>
          </p:nvSpPr>
          <p:spPr>
            <a:xfrm>
              <a:off x="18223083" y="12418809"/>
              <a:ext cx="3875229" cy="1321101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087" name="도형"/>
            <p:cNvSpPr/>
            <p:nvPr/>
          </p:nvSpPr>
          <p:spPr>
            <a:xfrm>
              <a:off x="18223083" y="12418809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</a:t>
              </a:r>
            </a:p>
          </p:txBody>
        </p:sp>
        <p:sp>
          <p:nvSpPr>
            <p:cNvPr id="5088" name="속성"/>
            <p:cNvSpPr/>
            <p:nvPr/>
          </p:nvSpPr>
          <p:spPr>
            <a:xfrm>
              <a:off x="18223083" y="12823947"/>
              <a:ext cx="3875229" cy="9159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APR:1368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approvalTime = 2012-08-24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approvalContent = “방류시작 15:00; 2000㎥/s”</a:t>
              </a:r>
            </a:p>
          </p:txBody>
        </p:sp>
        <p:sp>
          <p:nvSpPr>
            <p:cNvPr id="5089" name="도형"/>
            <p:cNvSpPr/>
            <p:nvPr/>
          </p:nvSpPr>
          <p:spPr>
            <a:xfrm>
              <a:off x="23287303" y="12418809"/>
              <a:ext cx="3875229" cy="156770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090" name="도형"/>
            <p:cNvSpPr/>
            <p:nvPr/>
          </p:nvSpPr>
          <p:spPr>
            <a:xfrm>
              <a:off x="23287303" y="12418809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</a:t>
              </a:r>
            </a:p>
          </p:txBody>
        </p:sp>
        <p:sp>
          <p:nvSpPr>
            <p:cNvPr id="5091" name="속성"/>
            <p:cNvSpPr/>
            <p:nvPr/>
          </p:nvSpPr>
          <p:spPr>
            <a:xfrm>
              <a:off x="23287303" y="12823947"/>
              <a:ext cx="3875229" cy="11625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CRI:CR-02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criterionType = 홍수기 제한수위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criterionValue = 138.0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unit = EL.m</a:t>
              </a:r>
            </a:p>
          </p:txBody>
        </p:sp>
        <p:sp>
          <p:nvSpPr>
            <p:cNvPr id="5092" name="도형"/>
            <p:cNvSpPr/>
            <p:nvPr/>
          </p:nvSpPr>
          <p:spPr>
            <a:xfrm>
              <a:off x="18223083" y="14479726"/>
              <a:ext cx="3875229" cy="1321101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093" name="도형"/>
            <p:cNvSpPr/>
            <p:nvPr/>
          </p:nvSpPr>
          <p:spPr>
            <a:xfrm>
              <a:off x="18223083" y="14479726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</a:t>
              </a:r>
            </a:p>
          </p:txBody>
        </p:sp>
        <p:sp>
          <p:nvSpPr>
            <p:cNvPr id="5094" name="속성"/>
            <p:cNvSpPr/>
            <p:nvPr/>
          </p:nvSpPr>
          <p:spPr>
            <a:xfrm>
              <a:off x="18223083" y="14884864"/>
              <a:ext cx="3875229" cy="9159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OPR:1368:1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operationType = 탄력적 방류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operationTime = 2012-08-24T15:00</a:t>
              </a:r>
            </a:p>
          </p:txBody>
        </p:sp>
        <p:sp>
          <p:nvSpPr>
            <p:cNvPr id="5095" name="도형"/>
            <p:cNvSpPr/>
            <p:nvPr/>
          </p:nvSpPr>
          <p:spPr>
            <a:xfrm>
              <a:off x="23287303" y="14479726"/>
              <a:ext cx="3875229" cy="1321101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096" name="도형"/>
            <p:cNvSpPr/>
            <p:nvPr/>
          </p:nvSpPr>
          <p:spPr>
            <a:xfrm>
              <a:off x="23287303" y="14479726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</a:t>
              </a:r>
            </a:p>
          </p:txBody>
        </p:sp>
        <p:sp>
          <p:nvSpPr>
            <p:cNvPr id="5097" name="속성"/>
            <p:cNvSpPr/>
            <p:nvPr/>
          </p:nvSpPr>
          <p:spPr>
            <a:xfrm>
              <a:off x="23287303" y="14884864"/>
              <a:ext cx="3875229" cy="9159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DAM:1003110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damName = 충주댐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damType = 다목적댐</a:t>
              </a:r>
            </a:p>
          </p:txBody>
        </p:sp>
        <p:sp>
          <p:nvSpPr>
            <p:cNvPr id="5098" name="도형"/>
            <p:cNvSpPr/>
            <p:nvPr/>
          </p:nvSpPr>
          <p:spPr>
            <a:xfrm>
              <a:off x="18223083" y="16294038"/>
              <a:ext cx="3875229" cy="156770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099" name="도형"/>
            <p:cNvSpPr/>
            <p:nvPr/>
          </p:nvSpPr>
          <p:spPr>
            <a:xfrm>
              <a:off x="18223083" y="16294038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EvidenceSource</a:t>
              </a:r>
            </a:p>
          </p:txBody>
        </p:sp>
        <p:sp>
          <p:nvSpPr>
            <p:cNvPr id="5100" name="속성"/>
            <p:cNvSpPr/>
            <p:nvPr/>
          </p:nvSpPr>
          <p:spPr>
            <a:xfrm>
              <a:off x="18223083" y="16699176"/>
              <a:ext cx="3875229" cy="11625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EVI:AP:1368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sourceTitle = 홍수예보 댐방류승인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sourceType = 승인자료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sourceLocator = 순차번호 1368</a:t>
              </a:r>
            </a:p>
          </p:txBody>
        </p:sp>
        <p:sp>
          <p:nvSpPr>
            <p:cNvPr id="5101" name="도형"/>
            <p:cNvSpPr/>
            <p:nvPr/>
          </p:nvSpPr>
          <p:spPr>
            <a:xfrm>
              <a:off x="23287303" y="16294038"/>
              <a:ext cx="3875229" cy="1321101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102" name="도형"/>
            <p:cNvSpPr/>
            <p:nvPr/>
          </p:nvSpPr>
          <p:spPr>
            <a:xfrm>
              <a:off x="23287303" y="16294038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HydrometeorologicalState</a:t>
              </a:r>
            </a:p>
          </p:txBody>
        </p:sp>
        <p:sp>
          <p:nvSpPr>
            <p:cNvPr id="5103" name="속성"/>
            <p:cNvSpPr/>
            <p:nvPr/>
          </p:nvSpPr>
          <p:spPr>
            <a:xfrm>
              <a:off x="23287303" y="16699176"/>
              <a:ext cx="3875229" cy="9159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HMS:1003110:수위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variableType = 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stationCode = 1003110</a:t>
              </a:r>
            </a:p>
          </p:txBody>
        </p:sp>
        <p:cxnSp>
          <p:nvCxnSpPr>
            <p:cNvPr id="5104" name="선"/>
            <p:cNvCxnSpPr/>
            <p:nvPr/>
          </p:nvCxnSpPr>
          <p:spPr>
            <a:xfrm>
              <a:off x="20160698" y="13757525"/>
              <a:ext cx="0" cy="704587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5" name="글상자"/>
            <p:cNvSpPr/>
            <p:nvPr/>
          </p:nvSpPr>
          <p:spPr>
            <a:xfrm>
              <a:off x="20386166" y="13931029"/>
              <a:ext cx="958239" cy="234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1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authorizes</a:t>
              </a:r>
            </a:p>
          </p:txBody>
        </p:sp>
        <p:cxnSp>
          <p:nvCxnSpPr>
            <p:cNvPr id="5106" name="선"/>
            <p:cNvCxnSpPr/>
            <p:nvPr/>
          </p:nvCxnSpPr>
          <p:spPr>
            <a:xfrm>
              <a:off x="22115927" y="13211470"/>
              <a:ext cx="1153761" cy="162055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7" name="글상자"/>
            <p:cNvSpPr/>
            <p:nvPr/>
          </p:nvSpPr>
          <p:spPr>
            <a:xfrm>
              <a:off x="22209461" y="13628937"/>
              <a:ext cx="1010730" cy="2219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concernsDam</a:t>
              </a:r>
            </a:p>
          </p:txBody>
        </p:sp>
        <p:cxnSp>
          <p:nvCxnSpPr>
            <p:cNvPr id="5108" name="선"/>
            <p:cNvCxnSpPr/>
            <p:nvPr/>
          </p:nvCxnSpPr>
          <p:spPr>
            <a:xfrm>
              <a:off x="22115927" y="15272387"/>
              <a:ext cx="1153761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9" name="글상자"/>
            <p:cNvSpPr/>
            <p:nvPr/>
          </p:nvSpPr>
          <p:spPr>
            <a:xfrm>
              <a:off x="22159083" y="14986148"/>
              <a:ext cx="1076257" cy="1849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4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performedOnDam</a:t>
              </a:r>
            </a:p>
          </p:txBody>
        </p:sp>
        <p:cxnSp>
          <p:nvCxnSpPr>
            <p:cNvPr id="5110" name="선"/>
            <p:cNvCxnSpPr/>
            <p:nvPr/>
          </p:nvCxnSpPr>
          <p:spPr>
            <a:xfrm>
              <a:off x="25224918" y="14004130"/>
              <a:ext cx="0" cy="457982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1" name="글상자"/>
            <p:cNvSpPr/>
            <p:nvPr/>
          </p:nvSpPr>
          <p:spPr>
            <a:xfrm>
              <a:off x="25390672" y="14177635"/>
              <a:ext cx="1165739" cy="234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1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appliesToDam</a:t>
              </a:r>
            </a:p>
          </p:txBody>
        </p:sp>
        <p:cxnSp>
          <p:nvCxnSpPr>
            <p:cNvPr id="5112" name="선"/>
            <p:cNvCxnSpPr/>
            <p:nvPr/>
          </p:nvCxnSpPr>
          <p:spPr>
            <a:xfrm>
              <a:off x="25224918" y="15818442"/>
              <a:ext cx="0" cy="457982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3" name="글상자"/>
            <p:cNvSpPr/>
            <p:nvPr/>
          </p:nvSpPr>
          <p:spPr>
            <a:xfrm>
              <a:off x="25234430" y="16010442"/>
              <a:ext cx="2094738" cy="1972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11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hasHydrometeorologicalState</a:t>
              </a:r>
            </a:p>
          </p:txBody>
        </p:sp>
        <p:cxnSp>
          <p:nvCxnSpPr>
            <p:cNvPr id="5114" name="선"/>
            <p:cNvCxnSpPr/>
            <p:nvPr/>
          </p:nvCxnSpPr>
          <p:spPr>
            <a:xfrm>
              <a:off x="20160698" y="15818442"/>
              <a:ext cx="0" cy="457982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5" name="글상자"/>
            <p:cNvSpPr/>
            <p:nvPr/>
          </p:nvSpPr>
          <p:spPr>
            <a:xfrm>
              <a:off x="20246217" y="15991947"/>
              <a:ext cx="1061989" cy="234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1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116" name="선"/>
            <p:cNvCxnSpPr/>
            <p:nvPr/>
          </p:nvCxnSpPr>
          <p:spPr>
            <a:xfrm flipH="1">
              <a:off x="22115927" y="17086699"/>
              <a:ext cx="1153761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7" name="글상자"/>
            <p:cNvSpPr/>
            <p:nvPr/>
          </p:nvSpPr>
          <p:spPr>
            <a:xfrm>
              <a:off x="22191847" y="16781965"/>
              <a:ext cx="1010730" cy="2219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118" name="선"/>
            <p:cNvCxnSpPr/>
            <p:nvPr/>
          </p:nvCxnSpPr>
          <p:spPr>
            <a:xfrm flipH="1">
              <a:off x="17985285" y="13035323"/>
              <a:ext cx="237798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19" name="선"/>
            <p:cNvCxnSpPr/>
            <p:nvPr/>
          </p:nvCxnSpPr>
          <p:spPr>
            <a:xfrm>
              <a:off x="17985285" y="13035323"/>
              <a:ext cx="0" cy="4315596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0" name="선"/>
            <p:cNvCxnSpPr/>
            <p:nvPr/>
          </p:nvCxnSpPr>
          <p:spPr>
            <a:xfrm>
              <a:off x="17985285" y="17350919"/>
              <a:ext cx="220183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121" name="선"/>
            <p:cNvCxnSpPr/>
            <p:nvPr/>
          </p:nvCxnSpPr>
          <p:spPr>
            <a:xfrm>
              <a:off x="27162533" y="13035323"/>
              <a:ext cx="88073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2" name="선"/>
            <p:cNvCxnSpPr/>
            <p:nvPr/>
          </p:nvCxnSpPr>
          <p:spPr>
            <a:xfrm>
              <a:off x="27250606" y="13035323"/>
              <a:ext cx="0" cy="5073028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3" name="선"/>
            <p:cNvCxnSpPr/>
            <p:nvPr/>
          </p:nvCxnSpPr>
          <p:spPr>
            <a:xfrm flipH="1">
              <a:off x="20865285" y="18108350"/>
              <a:ext cx="6385321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4" name="선"/>
            <p:cNvCxnSpPr/>
            <p:nvPr/>
          </p:nvCxnSpPr>
          <p:spPr>
            <a:xfrm flipV="1">
              <a:off x="20865285" y="17879359"/>
              <a:ext cx="0" cy="228991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25" name="글상자"/>
            <p:cNvSpPr/>
            <p:nvPr/>
          </p:nvSpPr>
          <p:spPr>
            <a:xfrm>
              <a:off x="17826753" y="18214038"/>
              <a:ext cx="9600000" cy="2466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카드: Class 이름, 개체(Entity) ID, Data Property = 값.   화살표: 관계(Relation) 9종류</a:t>
              </a:r>
            </a:p>
          </p:txBody>
        </p:sp>
      </p:grpSp>
      <p:sp>
        <p:nvSpPr>
          <p:cNvPr id="1019" name="본문"/>
          <p:cNvSpPr txBox="1"/>
          <p:nvPr/>
        </p:nvSpPr>
        <p:spPr>
          <a:xfrm>
            <a:off x="15570184" y="18467800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4. 구축된 KG의 일부 (충주댐 승인 1368번)</a:t>
            </a:r>
          </a:p>
        </p:txBody>
      </p:sp>
      <p:sp>
        <p:nvSpPr>
          <p:cNvPr id="1020" name="본문"/>
          <p:cNvSpPr txBox="1"/>
          <p:nvPr/>
        </p:nvSpPr>
        <p:spPr>
          <a:xfrm>
            <a:off x="15570184" y="18987800"/>
            <a:ext cx="14113138" cy="1383198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구축된 KG의 일부(충주댐 승인 기록 한 건): 승인 기록 한 행은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Approval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과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EvidenceSource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로, 비고에서 규칙으로 읽은 운영행위는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Operation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으로, 별표3의 제한수위는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Criterion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만들어지고, 값이 일치하는 개체끼리 관계로 연결됨 (구축 결과: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개체 264, 관계 418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21" name="직사각형 1"/>
          <p:cNvSpPr/>
          <p:nvPr/>
        </p:nvSpPr>
        <p:spPr>
          <a:xfrm>
            <a:off x="15691431" y="20570998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3. 근거 기반 질의응답</a:t>
            </a:r>
          </a:p>
        </p:txBody>
      </p:sp>
      <p:sp>
        <p:nvSpPr>
          <p:cNvPr id="1022" name="본문"/>
          <p:cNvSpPr txBox="1"/>
          <p:nvPr/>
        </p:nvSpPr>
        <p:spPr>
          <a:xfrm>
            <a:off x="15570184" y="21714022"/>
            <a:ext cx="14113138" cy="1459398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질문에서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의도(CQ, 복수 가능)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와 대상(댐·시점)을 뽑고, 의도에 따라 KG와 저장소에서 근거를 찾아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출처 번호가 붙은 근거 묶음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정리함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묶음을 바탕으로 답변하며,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판단을 나누어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표시함</a:t>
            </a:r>
          </a:p>
        </p:txBody>
      </p:sp>
      <p:grpSp>
        <p:nvGrpSpPr>
          <p:cNvPr id="5145" name="그림 질의응답 흐름"/>
          <p:cNvGrpSpPr/>
          <p:nvPr/>
        </p:nvGrpSpPr>
        <p:grpSpPr>
          <a:xfrm>
            <a:off x="16926753" y="23173420"/>
            <a:ext cx="11400000" cy="6213000"/>
            <a:chOff x="16926753" y="23173420"/>
            <a:chExt cx="11400000" cy="6213000"/>
          </a:xfrm>
        </p:grpSpPr>
        <p:sp>
          <p:nvSpPr>
            <p:cNvPr id="5127" name="도형"/>
            <p:cNvSpPr/>
            <p:nvPr/>
          </p:nvSpPr>
          <p:spPr>
            <a:xfrm>
              <a:off x="16926753" y="23173420"/>
              <a:ext cx="3420000" cy="7296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 해석</a:t>
              </a:r>
            </a:p>
          </p:txBody>
        </p:sp>
        <p:cxnSp>
          <p:nvCxnSpPr>
            <p:cNvPr id="5128" name="선"/>
            <p:cNvCxnSpPr/>
            <p:nvPr/>
          </p:nvCxnSpPr>
          <p:spPr>
            <a:xfrm>
              <a:off x="20392353" y="23538220"/>
              <a:ext cx="41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29" name="도형"/>
            <p:cNvSpPr/>
            <p:nvPr/>
          </p:nvSpPr>
          <p:spPr>
            <a:xfrm>
              <a:off x="20848353" y="23173420"/>
              <a:ext cx="7478400" cy="729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질문에서 의도(CQ, 복수 가능)와 대상(댐·시점)을 뽑음</a:t>
              </a:r>
            </a:p>
          </p:txBody>
        </p:sp>
        <p:sp>
          <p:nvSpPr>
            <p:cNvPr id="5130" name="도형"/>
            <p:cNvSpPr/>
            <p:nvPr/>
          </p:nvSpPr>
          <p:spPr>
            <a:xfrm>
              <a:off x="16926753" y="24039820"/>
              <a:ext cx="3420000" cy="977664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입력 확인</a:t>
              </a:r>
            </a:p>
          </p:txBody>
        </p:sp>
        <p:cxnSp>
          <p:nvCxnSpPr>
            <p:cNvPr id="5131" name="선"/>
            <p:cNvCxnSpPr/>
            <p:nvPr/>
          </p:nvCxnSpPr>
          <p:spPr>
            <a:xfrm>
              <a:off x="20392353" y="24528652"/>
              <a:ext cx="41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2" name="도형"/>
            <p:cNvSpPr/>
            <p:nvPr/>
          </p:nvSpPr>
          <p:spPr>
            <a:xfrm>
              <a:off x="20848353" y="24039820"/>
              <a:ext cx="7478400" cy="977664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의도·대상이 허용 범위인지 확인하고 표기를 맞춤 (범위 밖이면 조회하지 않음)</a:t>
              </a:r>
            </a:p>
          </p:txBody>
        </p:sp>
        <p:sp>
          <p:nvSpPr>
            <p:cNvPr id="5133" name="도형"/>
            <p:cNvSpPr/>
            <p:nvPr/>
          </p:nvSpPr>
          <p:spPr>
            <a:xfrm>
              <a:off x="16926753" y="25154284"/>
              <a:ext cx="3420000" cy="7296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KG 조회</a:t>
              </a:r>
            </a:p>
          </p:txBody>
        </p:sp>
        <p:cxnSp>
          <p:nvCxnSpPr>
            <p:cNvPr id="5134" name="선"/>
            <p:cNvCxnSpPr/>
            <p:nvPr/>
          </p:nvCxnSpPr>
          <p:spPr>
            <a:xfrm>
              <a:off x="20392353" y="25519084"/>
              <a:ext cx="41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5" name="도형"/>
            <p:cNvSpPr/>
            <p:nvPr/>
          </p:nvSpPr>
          <p:spPr>
            <a:xfrm>
              <a:off x="20848353" y="25154284"/>
              <a:ext cx="7478400" cy="729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의도별 Cypher 질의 틀로 관계를 따라 개체와 찾아가는 키를 가져옴</a:t>
              </a:r>
            </a:p>
          </p:txBody>
        </p:sp>
        <p:sp>
          <p:nvSpPr>
            <p:cNvPr id="5136" name="도형"/>
            <p:cNvSpPr/>
            <p:nvPr/>
          </p:nvSpPr>
          <p:spPr>
            <a:xfrm>
              <a:off x="16926753" y="26020684"/>
              <a:ext cx="3420000" cy="7296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저장소 조회</a:t>
              </a:r>
            </a:p>
          </p:txBody>
        </p:sp>
        <p:cxnSp>
          <p:nvCxnSpPr>
            <p:cNvPr id="5137" name="선"/>
            <p:cNvCxnSpPr/>
            <p:nvPr/>
          </p:nvCxnSpPr>
          <p:spPr>
            <a:xfrm>
              <a:off x="20392353" y="26385484"/>
              <a:ext cx="41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8" name="도형"/>
            <p:cNvSpPr/>
            <p:nvPr/>
          </p:nvSpPr>
          <p:spPr>
            <a:xfrm>
              <a:off x="20848353" y="26020684"/>
              <a:ext cx="7478400" cy="729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키로 측정값·규정 원문을 읽음 (값은 원값 그대로)</a:t>
              </a:r>
            </a:p>
          </p:txBody>
        </p:sp>
        <p:sp>
          <p:nvSpPr>
            <p:cNvPr id="5139" name="도형"/>
            <p:cNvSpPr/>
            <p:nvPr/>
          </p:nvSpPr>
          <p:spPr>
            <a:xfrm>
              <a:off x="16926753" y="26887084"/>
              <a:ext cx="3420000" cy="7296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4 근거 묶음 구성</a:t>
              </a:r>
            </a:p>
          </p:txBody>
        </p:sp>
        <p:cxnSp>
          <p:nvCxnSpPr>
            <p:cNvPr id="5140" name="선"/>
            <p:cNvCxnSpPr/>
            <p:nvPr/>
          </p:nvCxnSpPr>
          <p:spPr>
            <a:xfrm>
              <a:off x="20392353" y="27251884"/>
              <a:ext cx="41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41" name="도형"/>
            <p:cNvSpPr/>
            <p:nvPr/>
          </p:nvSpPr>
          <p:spPr>
            <a:xfrm>
              <a:off x="20848353" y="26887084"/>
              <a:ext cx="7478400" cy="729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의도별 구역으로 모으고 항목마다 출처 번호를 붙임</a:t>
              </a:r>
            </a:p>
          </p:txBody>
        </p:sp>
        <p:sp>
          <p:nvSpPr>
            <p:cNvPr id="5142" name="도형"/>
            <p:cNvSpPr/>
            <p:nvPr/>
          </p:nvSpPr>
          <p:spPr>
            <a:xfrm>
              <a:off x="16926753" y="27753484"/>
              <a:ext cx="3420000" cy="1590528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생성</a:t>
              </a:r>
            </a:p>
          </p:txBody>
        </p:sp>
        <p:cxnSp>
          <p:nvCxnSpPr>
            <p:cNvPr id="5143" name="선"/>
            <p:cNvCxnSpPr/>
            <p:nvPr/>
          </p:nvCxnSpPr>
          <p:spPr>
            <a:xfrm>
              <a:off x="20392353" y="28548748"/>
              <a:ext cx="41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44" name="도형"/>
            <p:cNvSpPr/>
            <p:nvPr/>
          </p:nvSpPr>
          <p:spPr>
            <a:xfrm>
              <a:off x="20848353" y="27753484"/>
              <a:ext cx="7478400" cy="1590528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묶음과 근거 사용 원칙(근거만 사실로, 출처 번호 표기)을 받아 답변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근거: 사실과 출처 번호  /  판단: 판단임을 밝히고 근거 표시  /  없는 내용: “자료에 없음”</a:t>
              </a:r>
            </a:p>
          </p:txBody>
        </p:sp>
      </p:grpSp>
      <p:sp>
        <p:nvSpPr>
          <p:cNvPr id="1023" name="본문"/>
          <p:cNvSpPr txBox="1"/>
          <p:nvPr/>
        </p:nvSpPr>
        <p:spPr>
          <a:xfrm>
            <a:off x="15570184" y="29446420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5. 질의응답의 처리 단계</a:t>
            </a:r>
          </a:p>
        </p:txBody>
      </p:sp>
      <p:sp>
        <p:nvSpPr>
          <p:cNvPr id="1024" name="직사각형 1"/>
          <p:cNvSpPr/>
          <p:nvPr/>
        </p:nvSpPr>
        <p:spPr>
          <a:xfrm>
            <a:off x="15691431" y="3016642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결론</a:t>
            </a:r>
          </a:p>
        </p:txBody>
      </p:sp>
      <p:sp>
        <p:nvSpPr>
          <p:cNvPr id="1025" name="본문"/>
          <p:cNvSpPr txBox="1"/>
          <p:nvPr/>
        </p:nvSpPr>
        <p:spPr>
          <a:xfrm>
            <a:off x="15570184" y="31309444"/>
            <a:ext cx="14113138" cy="2852639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 자료를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Ontology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에 맞춰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KG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구축하고, 수치·원문은 외부 저장소에 두는 방법을 정리함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의도에 따라 근거를 찾아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출처 번호가 붙은 근거 묶음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정리하고,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판단을 나누어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답하는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프레임워크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운영자가 현재 상태, 운영기준, 과거 승인·운영행위를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함께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확인할 수 있어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실무자의 운영 의사결정 지원에 활용할 수 있음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향후 평가 질문 세트로 의도 추출과 답변의 정확도를 검증할 계획임</a:t>
            </a:r>
          </a:p>
        </p:txBody>
      </p:sp>
      <p:sp>
        <p:nvSpPr>
          <p:cNvPr id="1026" name="직사각형 1"/>
          <p:cNvSpPr/>
          <p:nvPr/>
        </p:nvSpPr>
        <p:spPr>
          <a:xfrm>
            <a:off x="15691431" y="34362083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감사의 글</a:t>
            </a:r>
          </a:p>
        </p:txBody>
      </p:sp>
      <p:sp>
        <p:nvSpPr>
          <p:cNvPr id="1027" name="본문"/>
          <p:cNvSpPr txBox="1"/>
          <p:nvPr/>
        </p:nvSpPr>
        <p:spPr>
          <a:xfrm>
            <a:off x="15570184" y="35505107"/>
            <a:ext cx="14113138" cy="71782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결과물은 기후에너지환경부의 재원으로 한국환경산업기술원의 기후변화 적응 수재해 관리 기술개발사업(R&amp;D)의 지원을 받아 연구되었습니다(RS-2026-25502939). 본 연구는 기후에너지환경부「기후변화특성화대학원사업」의 지원으로 수행되었습니다.</a:t>
            </a:r>
          </a:p>
        </p:txBody>
      </p:sp>
      <p:sp>
        <p:nvSpPr>
          <p:cNvPr id="1028" name="직사각형 1"/>
          <p:cNvSpPr/>
          <p:nvPr/>
        </p:nvSpPr>
        <p:spPr>
          <a:xfrm>
            <a:off x="15691431" y="36322927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참고문헌</a:t>
            </a:r>
          </a:p>
        </p:txBody>
      </p:sp>
      <p:sp>
        <p:nvSpPr>
          <p:cNvPr id="1029" name="본문"/>
          <p:cNvSpPr txBox="1"/>
          <p:nvPr/>
        </p:nvSpPr>
        <p:spPr>
          <a:xfrm>
            <a:off x="15570184" y="37465951"/>
            <a:ext cx="14113138" cy="399503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1. Noy, N. F. and McGuinness, D. L. (2001). “Ontology development 101: A guide to creating your first ontology.” Stanford Knowledge Systems Laboratory Technical Report KSL-01-05.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2. Huang, J., Hou, W., Zhang, S., Du, Z. and Yin, J. (2026). “Dam defects ontology and knowledge graph construction from multi-source hazard data using large language models.” Advanced Engineering Informatics, Vol. 76, 104987.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3. Zhou, Y., Bao, T., Shu, X., Li, Y. and Li, Y. (2023). “BIM and ontology-based knowledge management for dam safety monitoring.” Automation in Construction, Vol. 145, 104649.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4. Li, S., Erickson, C., Zajac, M., Guo, X., Duan, Q. and Gong, J. (2025). “A semi-automated framework for flood ontology construction with an application in risk communication.” Water, Vol. 17, No. 19, 2801.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5. Zhang, D., Ma, G., Qu, T., Wang, X., Zhou, W. and Wang, X. (2025). “A knowledge graph-enhanced large language model for question answering of hydraulic structure safety management.” Advanced Engineering Informatics, Vol. 66, 103468.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6. Purohit, S., Chin, G., Mackey, P. S. and Cottam, J. A. (2024). “GraphAide: Advanced graph-assisted query and reasoning system.” Proc. IEEE Int. Conf. on Big Data (BigData), pp. 3485-3493.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7. Lewis, P. et al. (2020). “Retrieval-augmented generation for knowledge-intensive NLP tasks.” Advances in Neural Information Processing Systems, Vol. 33, pp. 9459-9474.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8. Angles, R. and Gutierrez, C. (2008). “Survey of graph database models.” ACM Computing Surveys, Vol. 40, No. 1, Article 1.</a:t>
            </a:r>
          </a:p>
        </p:txBody>
      </p:sp>
    </p:spTree>
    <p:extLst>
      <p:ext uri="{BB962C8B-B14F-4D97-AF65-F5344CB8AC3E}">
        <p14:creationId xmlns:p14="http://schemas.microsoft.com/office/powerpoint/2010/main" val="67698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603</Words>
  <Application>Microsoft Office PowerPoint</Application>
  <PresentationFormat>사용자 지정</PresentationFormat>
  <Paragraphs>56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Arial Unicode MS</vt:lpstr>
      <vt:lpstr>나눔고딕</vt:lpstr>
      <vt:lpstr>나눔고딕 ExtraBold</vt:lpstr>
      <vt:lpstr>맑은 고딕</vt:lpstr>
      <vt:lpstr>Arial</vt:lpstr>
      <vt:lpstr>Verdana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황 혜선</cp:lastModifiedBy>
  <cp:revision>97</cp:revision>
  <cp:lastPrinted>2022-07-13T05:48:17Z</cp:lastPrinted>
  <dcterms:created xsi:type="dcterms:W3CDTF">2018-10-17T01:18:09Z</dcterms:created>
  <dcterms:modified xsi:type="dcterms:W3CDTF">2023-05-25T02:26:58Z</dcterms:modified>
</cp:coreProperties>
</file>