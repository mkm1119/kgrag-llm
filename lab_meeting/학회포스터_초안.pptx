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10013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비고는 자유 문장, 제한수위는 규정 별표, 시간 자료는 50만 행 이상이라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LLM에 그대로 넣을 수 없고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답변마다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근거의 출처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확인할 수 있어야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 설계 → 지식그래프(KG) 구축 → 하이브리드 검색과 LLM 답변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3단계 프레임워크를 4개 댐 자료에 적용하고, 구축 결과와 질문 처리 과정을 확인함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0973161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연구방법</a:t>
            </a:r>
          </a:p>
        </p:txBody>
      </p:sp>
      <p:pic>
        <p:nvPicPr>
          <p:cNvPr id="1009" name="그림 1. 연구의 구성: Ontology 설계 → KG 구축 → 질문 처리(하이브리드 검색 + LLM)" descr="그림 1. 연구의 구성: Ontology 설계 → KG 구축 → 질문 처리(하이브리드 검색 + LLM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4515" y="12116185"/>
            <a:ext cx="11000000" cy="110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0" name="본문"/>
          <p:cNvSpPr txBox="1"/>
          <p:nvPr/>
        </p:nvSpPr>
        <p:spPr>
          <a:xfrm>
            <a:off x="597946" y="23176185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처리(하이브리드 검색 + LLM)</a:t>
            </a:r>
          </a:p>
        </p:txBody>
      </p:sp>
      <p:sp>
        <p:nvSpPr>
          <p:cNvPr id="1011" name="본문"/>
          <p:cNvSpPr txBox="1"/>
          <p:nvPr/>
        </p:nvSpPr>
        <p:spPr>
          <a:xfrm>
            <a:off x="597946" y="23976185"/>
            <a:ext cx="14113138" cy="4502826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운영자에게 필요한 질문(Competency Question, CQ) 7개를 먼저 정하고, 이에 답하도록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개체 6종류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(댐, 수문기상 상태, 방류 승인, 운영행위, 운영기준, 근거자료)와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관계 9종류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설계함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자료를 표 경로(열 이름으로 매핑)와 글 경로(규칙으로 추출)로 나누어 7단계로 구축함. 수치 전체와 규정 원문은 KG 밖 저장소에 두고, KG에는 관계와 근거의 위치(번호)만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처리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LLM이 질문을 유형과 값(댐, 시점)으로 변환 → Cypher로 KG 탐색 → 번호로 측정자료·문서 저장소 조회 → 계산은 코드가 수행 → 모은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안에서만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LLM이 답변하고 출처 번호를 붙임</a:t>
            </a:r>
          </a:p>
        </p:txBody>
      </p:sp>
      <p:sp>
        <p:nvSpPr>
          <p:cNvPr id="1012" name="직사각형 415"/>
          <p:cNvSpPr/>
          <p:nvPr/>
        </p:nvSpPr>
        <p:spPr>
          <a:xfrm>
            <a:off x="830804" y="28539011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질문 유형(CQ1~CQ6 + SIMILAR)</a:t>
            </a:r>
          </a:p>
        </p:txBody>
      </p:sp>
      <p:graphicFrame>
        <p:nvGraphicFramePr>
          <p:cNvPr id="1013" name="표"/>
          <p:cNvGraphicFramePr>
            <a:graphicFrameLocks noGrp="1"/>
          </p:cNvGraphicFramePr>
          <p:nvPr/>
        </p:nvGraphicFramePr>
        <p:xfrm>
          <a:off x="697946" y="29274996"/>
          <a:ext cx="13600000" cy="3994000"/>
        </p:xfrm>
        <a:graphic>
          <a:graphicData uri="http://schemas.openxmlformats.org/drawingml/2006/table">
            <a:tbl>
              <a:tblPr firstRow="1" bandRow="1"/>
              <a:tblGrid>
                <a:gridCol w="1900000"/>
                <a:gridCol w="4200000"/>
                <a:gridCol w="75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 유형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뜻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예시 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CQ1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CQ2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수문기상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 16:00의 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운영행위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2012-08-24에 수행된 운영행위는?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과거 방류 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2012-08-24의 방류 승인 내용은?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CQ5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운영기준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충주댐의 홍수기 제한수위는?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CQ6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공식 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 승인 1368번의 공식 근거는?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SIMILAR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현재와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소양강댐 지금과 비슷했던 과거 사례는?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4" name="직사각형 1"/>
          <p:cNvSpPr/>
          <p:nvPr/>
        </p:nvSpPr>
        <p:spPr>
          <a:xfrm>
            <a:off x="674157" y="3364899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대상 자료 및 KG 구축 규칙</a:t>
            </a:r>
          </a:p>
        </p:txBody>
      </p:sp>
      <p:sp>
        <p:nvSpPr>
          <p:cNvPr id="1015" name="직사각형 415"/>
          <p:cNvSpPr/>
          <p:nvPr/>
        </p:nvSpPr>
        <p:spPr>
          <a:xfrm>
            <a:off x="830804" y="34792020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사용한 자료와 KG 반영 방식</a:t>
            </a:r>
          </a:p>
        </p:txBody>
      </p:sp>
      <p:graphicFrame>
        <p:nvGraphicFramePr>
          <p:cNvPr id="1016" name="표"/>
          <p:cNvGraphicFramePr>
            <a:graphicFrameLocks noGrp="1"/>
          </p:cNvGraphicFramePr>
          <p:nvPr/>
        </p:nvGraphicFramePr>
        <p:xfrm>
          <a:off x="697946" y="35528005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3000000"/>
                <a:gridCol w="4200000"/>
                <a:gridCol w="6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반영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방류 승인 기록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4개 댐 승인 80건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Approval 80, 비고 분류로 Operation 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수문기상 시간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508,246행 (수위·유입량 등 6변수)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측정자료 저장소에 보관, KG에는 상태 항목 24개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규정 별표3 (제한수위)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10조각 (현행 1 + 연혁 9)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Criterion 3, 원문은 문서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7" name="본문"/>
          <p:cNvSpPr txBox="1"/>
          <p:nvPr/>
        </p:nvSpPr>
        <p:spPr>
          <a:xfrm>
            <a:off x="597946" y="37994255"/>
            <a:ext cx="14113138" cy="208881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기록의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문장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키워드 규칙으로 분류하여 운영행위를 만들고, 변경·연장·정정 문구는 새 운영행위로 만들지 않음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운영행위 시각은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비고 명시 → 측정 방류량 변화 → 승인 시작 시각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순서로 정함 (68건: 측정 54, 승인 시작 11, 비고 명시 3)</a:t>
            </a:r>
          </a:p>
        </p:txBody>
      </p:sp>
      <p:sp>
        <p:nvSpPr>
          <p:cNvPr id="1018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9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구축한 지식그래프의 규모</a:t>
            </a:r>
          </a:p>
        </p:txBody>
      </p:sp>
      <p:graphicFrame>
        <p:nvGraphicFramePr>
          <p:cNvPr id="1020" name="표"/>
          <p:cNvGraphicFramePr>
            <a:graphicFrameLocks noGrp="1"/>
          </p:cNvGraphicFramePr>
          <p:nvPr/>
        </p:nvGraphicFramePr>
        <p:xfrm>
          <a:off x="15670184" y="8229009"/>
          <a:ext cx="13600000" cy="2346250"/>
        </p:xfrm>
        <a:graphic>
          <a:graphicData uri="http://schemas.openxmlformats.org/drawingml/2006/table">
            <a:tbl>
              <a:tblPr firstRow="1" bandRow="1"/>
              <a:tblGrid>
                <a:gridCol w="16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21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76753" y="10695259"/>
            <a:ext cx="10500000" cy="819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2" name="본문"/>
          <p:cNvSpPr txBox="1"/>
          <p:nvPr/>
        </p:nvSpPr>
        <p:spPr>
          <a:xfrm>
            <a:off x="15570184" y="18945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3" name="본문"/>
          <p:cNvSpPr txBox="1"/>
          <p:nvPr/>
        </p:nvSpPr>
        <p:spPr>
          <a:xfrm>
            <a:off x="15570184" y="19745259"/>
            <a:ext cx="14113138" cy="154504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0건이었음. 다만 “댐 → 운영행위 → 승인” 순서로 찾으면 승인 80건 중 74건만 찾아져(변경 승인 6건은 운영행위 없음),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승인과 댐을 잇는 관계(concernsDam)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추가하여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80건 모두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찾게 됨</a:t>
            </a:r>
          </a:p>
        </p:txBody>
      </p:sp>
      <p:sp>
        <p:nvSpPr>
          <p:cNvPr id="1024" name="직사각형 1"/>
          <p:cNvSpPr/>
          <p:nvPr/>
        </p:nvSpPr>
        <p:spPr>
          <a:xfrm>
            <a:off x="15691431" y="2167030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처리 과정과 예시</a:t>
            </a:r>
          </a:p>
        </p:txBody>
      </p:sp>
      <p:sp>
        <p:nvSpPr>
          <p:cNvPr id="1025" name="직사각형 415"/>
          <p:cNvSpPr/>
          <p:nvPr/>
        </p:nvSpPr>
        <p:spPr>
          <a:xfrm>
            <a:off x="15803042" y="22813330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SIMILAR 질문의 처리 과정</a:t>
            </a:r>
          </a:p>
        </p:txBody>
      </p:sp>
      <p:graphicFrame>
        <p:nvGraphicFramePr>
          <p:cNvPr id="1026" name="표"/>
          <p:cNvGraphicFramePr>
            <a:graphicFrameLocks noGrp="1"/>
          </p:cNvGraphicFramePr>
          <p:nvPr/>
        </p:nvGraphicFramePr>
        <p:xfrm>
          <a:off x="15670184" y="23549315"/>
          <a:ext cx="13600000" cy="4542500"/>
        </p:xfrm>
        <a:graphic>
          <a:graphicData uri="http://schemas.openxmlformats.org/drawingml/2006/table">
            <a:tbl>
              <a:tblPr firstRow="1" bandRow="1"/>
              <a:tblGrid>
                <a:gridCol w="3200000"/>
                <a:gridCol w="104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실제 내용 (소양강댐, SIMILAR 질문)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① 질문 해석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{"intent": "SIMILAR", "slots": {"dam": "소양강댐", "k": 1}}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② 현재 상태·기준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2026-09-28 23:00 수위 185.2644 EL.m, 제한수위 190.3 EL.m →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−5.04 m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③ 비슷한 과거 사례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수위·유입량을 0~1로 정규화한 거리가 가장 작은 시점: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2017-08-25 15:00 (거리 0.223)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④ 운영행위·승인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탄력적 방류 [OPR:2754:2], 승인 [APR:2754], 승인 방류량 1500 ㎥/s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⑤ 승인량 대비 방류량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사례 전후 최대 총방류량 1011.2 CMS = </a:t>
                      </a: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승인량의 67.4%</a:t>
                      </a: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 (코드가 계산)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⑥ LLM 답변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7" name="본문"/>
          <p:cNvSpPr txBox="1"/>
          <p:nvPr/>
        </p:nvSpPr>
        <p:spPr>
          <a:xfrm>
            <a:off x="15570184" y="28211815"/>
            <a:ext cx="14113138" cy="208881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해석은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Qwen3-8B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(vLLM)가 JSON으로 출력하고, 코드가 질문 유형·댐·날짜 값을 검증함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숫자 계산과 비슷한 사례 선택은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하고, LLM은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번호 붙은 자료만으로 답변함. 현재 값은 저장된 가장 최근 시각(실시간 아님)이며, 운영행위 시각과 유사도 척도는 연구자 지정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임시 기준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임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30680625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31823649"/>
            <a:ext cx="14113138" cy="3100137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자료를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KG(개체 273, 관계 457)로 구축하고, 수치·원문은 외부 저장소에 두어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KG는 연결과 근거 위치만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하이브리드 검색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(KG → 측정자료·문서 저장소)으로 근거를 모으고, LLM이 </a:t>
            </a:r>
            <a:r>
              <a:rPr lang="ko-KR" altLang="en-US" sz="2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번호가 붙은 근거 안에서만</a:t>
            </a: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답하는 질문 처리 과정을 시험 구현함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향후 다양한 표현의 질문 세트로 LLM의 질문 해석 정확도와 답변의 근거 일치 여부를 평가하고, 실시간 자료 연계와 유사 사례 척도의 민감도를 검토할 예정임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530378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6446810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2" name="직사각형 1"/>
          <p:cNvSpPr/>
          <p:nvPr/>
        </p:nvSpPr>
        <p:spPr>
          <a:xfrm>
            <a:off x="15691431" y="3781816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3" name="본문"/>
          <p:cNvSpPr txBox="1"/>
          <p:nvPr/>
        </p:nvSpPr>
        <p:spPr>
          <a:xfrm>
            <a:off x="15570184" y="38961184"/>
            <a:ext cx="14113138" cy="280813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