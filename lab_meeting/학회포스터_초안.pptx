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2" r:id="rId2"/>
  </p:sldIdLst>
  <p:sldSz cx="30275213" cy="42803763"/>
  <p:notesSz cx="9926638" cy="14355763"/>
  <p:defaultTextStyle>
    <a:defPPr>
      <a:defRPr lang="ko-KR"/>
    </a:defPPr>
    <a:lvl1pPr marL="0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1pPr>
    <a:lvl2pPr marL="208679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2pPr>
    <a:lvl3pPr marL="4173583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3pPr>
    <a:lvl4pPr marL="626037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4pPr>
    <a:lvl5pPr marL="834716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5pPr>
    <a:lvl6pPr marL="10433959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6pPr>
    <a:lvl7pPr marL="1252075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7pPr>
    <a:lvl8pPr marL="1460754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8pPr>
    <a:lvl9pPr marL="1669433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3063F4"/>
    <a:srgbClr val="3A83B0"/>
    <a:srgbClr val="F6DADA"/>
    <a:srgbClr val="28508C"/>
    <a:srgbClr val="2F5EA3"/>
    <a:srgbClr val="20566E"/>
    <a:srgbClr val="F5A10B"/>
    <a:srgbClr val="EB3D6F"/>
    <a:srgbClr val="7498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71" autoAdjust="0"/>
    <p:restoredTop sz="94142" autoAdjust="0"/>
  </p:normalViewPr>
  <p:slideViewPr>
    <p:cSldViewPr showGuides="1">
      <p:cViewPr>
        <p:scale>
          <a:sx n="33" d="100"/>
          <a:sy n="33" d="100"/>
        </p:scale>
        <p:origin x="2166" y="24"/>
      </p:cViewPr>
      <p:guideLst>
        <p:guide orient="horz" pos="13482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C3975C9C-AA20-4771-875B-11630C0B0EE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51200" y="1793875"/>
            <a:ext cx="342423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751" tIns="69376" rIns="138751" bIns="69376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6908711"/>
            <a:ext cx="7941310" cy="5652582"/>
          </a:xfrm>
          <a:prstGeom prst="rect">
            <a:avLst/>
          </a:prstGeom>
        </p:spPr>
        <p:txBody>
          <a:bodyPr vert="horz" lIns="138751" tIns="69376" rIns="138751" bIns="69376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50A9D8C3-D90B-4640-9792-40BF06B6F7E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1pPr>
    <a:lvl2pPr marL="64654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2pPr>
    <a:lvl3pPr marL="1293094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3pPr>
    <a:lvl4pPr marL="193964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4pPr>
    <a:lvl5pPr marL="2586189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5pPr>
    <a:lvl6pPr marL="323273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6pPr>
    <a:lvl7pPr marL="3879283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7pPr>
    <a:lvl8pPr marL="452583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8pPr>
    <a:lvl9pPr marL="5172377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9D8C3-D90B-4640-9792-40BF06B6F7E5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3399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BF76B742-CA72-4B76-9A1B-00F13A079611}"/>
              </a:ext>
            </a:extLst>
          </p:cNvPr>
          <p:cNvSpPr/>
          <p:nvPr/>
        </p:nvSpPr>
        <p:spPr>
          <a:xfrm>
            <a:off x="387465" y="6099356"/>
            <a:ext cx="14506964" cy="3618694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algn="ctr"/>
            <a:endParaRPr lang="ko-KR" altLang="en-US" sz="5418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FE6F6F2-1EEE-4BAA-B7BB-4B058EAAA213}"/>
              </a:ext>
            </a:extLst>
          </p:cNvPr>
          <p:cNvSpPr/>
          <p:nvPr/>
        </p:nvSpPr>
        <p:spPr>
          <a:xfrm>
            <a:off x="15382036" y="6099358"/>
            <a:ext cx="14505719" cy="36186939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lvl="0" algn="ctr"/>
            <a:endParaRPr lang="ko-KR" altLang="en-US" sz="5418" dirty="0"/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3" y="35249"/>
            <a:ext cx="30275357" cy="57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811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513764" y="1714136"/>
            <a:ext cx="27247692" cy="7133959"/>
          </a:xfrm>
          <a:prstGeom prst="rect">
            <a:avLst/>
          </a:prstGeom>
        </p:spPr>
        <p:txBody>
          <a:bodyPr vert="horz" lIns="431984" tIns="215993" rIns="431984" bIns="215993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13764" y="9987549"/>
            <a:ext cx="27247692" cy="28248506"/>
          </a:xfrm>
          <a:prstGeom prst="rect">
            <a:avLst/>
          </a:prstGeom>
        </p:spPr>
        <p:txBody>
          <a:bodyPr vert="horz" lIns="431984" tIns="215993" rIns="431984" bIns="215993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513764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l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BD32EA-93D2-422C-9D50-DCDFD5662F5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344033" y="39672751"/>
            <a:ext cx="9587152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ct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21697241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A678E-E807-4BC3-8392-26D7FE55F75E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511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ctr" defTabSz="4030263" rtl="0" eaLnBrk="1" latinLnBrk="1" hangingPunct="1">
        <a:spcBef>
          <a:spcPct val="0"/>
        </a:spcBef>
        <a:buNone/>
        <a:defRPr sz="194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11348" indent="-1511348" algn="l" defTabSz="4030263" rtl="0" eaLnBrk="1" latinLnBrk="1" hangingPunct="1">
        <a:spcBef>
          <a:spcPct val="20000"/>
        </a:spcBef>
        <a:buFont typeface="Arial" pitchFamily="34" charset="0"/>
        <a:buChar char="•"/>
        <a:defRPr sz="14087" kern="1200">
          <a:solidFill>
            <a:schemeClr val="tx1"/>
          </a:solidFill>
          <a:latin typeface="+mn-lt"/>
          <a:ea typeface="+mn-ea"/>
          <a:cs typeface="+mn-cs"/>
        </a:defRPr>
      </a:lvl1pPr>
      <a:lvl2pPr marL="3274587" indent="-1259457" algn="l" defTabSz="4030263" rtl="0" eaLnBrk="1" latinLnBrk="1" hangingPunct="1">
        <a:spcBef>
          <a:spcPct val="20000"/>
        </a:spcBef>
        <a:buFont typeface="Arial" pitchFamily="34" charset="0"/>
        <a:buChar char="–"/>
        <a:defRPr sz="12316" kern="1200">
          <a:solidFill>
            <a:schemeClr val="tx1"/>
          </a:solidFill>
          <a:latin typeface="+mn-lt"/>
          <a:ea typeface="+mn-ea"/>
          <a:cs typeface="+mn-cs"/>
        </a:defRPr>
      </a:lvl2pPr>
      <a:lvl3pPr marL="5037827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10636" kern="1200">
          <a:solidFill>
            <a:schemeClr val="tx1"/>
          </a:solidFill>
          <a:latin typeface="+mn-lt"/>
          <a:ea typeface="+mn-ea"/>
          <a:cs typeface="+mn-cs"/>
        </a:defRPr>
      </a:lvl3pPr>
      <a:lvl4pPr marL="7052959" indent="-1007566" algn="l" defTabSz="4030263" rtl="0" eaLnBrk="1" latinLnBrk="1" hangingPunct="1">
        <a:spcBef>
          <a:spcPct val="20000"/>
        </a:spcBef>
        <a:buFont typeface="Arial" pitchFamily="34" charset="0"/>
        <a:buChar char="–"/>
        <a:defRPr sz="8770" kern="1200">
          <a:solidFill>
            <a:schemeClr val="tx1"/>
          </a:solidFill>
          <a:latin typeface="+mn-lt"/>
          <a:ea typeface="+mn-ea"/>
          <a:cs typeface="+mn-cs"/>
        </a:defRPr>
      </a:lvl4pPr>
      <a:lvl5pPr marL="9068089" indent="-1007566" algn="l" defTabSz="4030263" rtl="0" eaLnBrk="1" latinLnBrk="1" hangingPunct="1">
        <a:spcBef>
          <a:spcPct val="20000"/>
        </a:spcBef>
        <a:buFont typeface="Arial" pitchFamily="34" charset="0"/>
        <a:buChar char="»"/>
        <a:defRPr sz="8770" kern="1200">
          <a:solidFill>
            <a:schemeClr val="tx1"/>
          </a:solidFill>
          <a:latin typeface="+mn-lt"/>
          <a:ea typeface="+mn-ea"/>
          <a:cs typeface="+mn-cs"/>
        </a:defRPr>
      </a:lvl5pPr>
      <a:lvl6pPr marL="11083222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6pPr>
      <a:lvl7pPr marL="13098354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7pPr>
      <a:lvl8pPr marL="1511348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8pPr>
      <a:lvl9pPr marL="1712861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1pPr>
      <a:lvl2pPr marL="2015132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2pPr>
      <a:lvl3pPr marL="403026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3pPr>
      <a:lvl4pPr marL="604539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4pPr>
      <a:lvl5pPr marL="8060525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5pPr>
      <a:lvl6pPr marL="10075656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6pPr>
      <a:lvl7pPr marL="12090788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7pPr>
      <a:lvl8pPr marL="14105919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8pPr>
      <a:lvl9pPr marL="1612105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11" Type="http://schemas.openxmlformats.org/officeDocument/2006/relationships/image" Target="../media/poster_rId11.png"/><Relationship Id="rId12" Type="http://schemas.openxmlformats.org/officeDocument/2006/relationships/image" Target="../media/poster_rId12.png"/><Relationship Id="rId13" Type="http://schemas.openxmlformats.org/officeDocument/2006/relationships/image" Target="../media/poster_rId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>
            <a:grpSpLocks noGrp="1" noUngrp="1" noRot="1" noMove="1" noResize="1"/>
          </p:cNvGrpSpPr>
          <p:nvPr/>
        </p:nvGrpSpPr>
        <p:grpSpPr>
          <a:xfrm>
            <a:off x="375966" y="375545"/>
            <a:ext cx="5141882" cy="1730166"/>
            <a:chOff x="375966" y="375545"/>
            <a:chExt cx="5141882" cy="1730166"/>
          </a:xfrm>
        </p:grpSpPr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E8958C42-464C-487C-8515-D9CD11E8024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5966" y="375545"/>
              <a:ext cx="5074637" cy="651765"/>
            </a:xfrm>
            <a:prstGeom prst="rect">
              <a:avLst/>
            </a:prstGeom>
          </p:spPr>
          <p:txBody>
            <a:bodyPr wrap="square" lIns="96819" tIns="48411" rIns="96819" bIns="48411">
              <a:spAutoFit/>
            </a:bodyPr>
            <a:lstStyle/>
            <a:p>
              <a:pPr algn="ctr"/>
              <a:r>
                <a:rPr lang="en-US" altLang="ko-KR" sz="3600" b="1" spc="-300" dirty="0">
                  <a:solidFill>
                    <a:schemeClr val="bg1"/>
                  </a:solidFill>
                  <a:latin typeface="Arial Unicode MS" panose="020B0604020202020204" pitchFamily="50" charset="-127"/>
                  <a:ea typeface="Arial Unicode MS" panose="020B0604020202020204" pitchFamily="50" charset="-127"/>
                  <a:cs typeface="Arial Unicode MS" panose="020B0604020202020204" pitchFamily="50" charset="-127"/>
                </a:rPr>
                <a:t>KSCE 2026 CONVENTION</a:t>
              </a:r>
              <a:endParaRPr lang="ko-KR" altLang="en-US" sz="3600" b="1" spc="-300" dirty="0">
                <a:solidFill>
                  <a:schemeClr val="bg1"/>
                </a:solidFill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endParaRPr>
            </a:p>
          </p:txBody>
        </p:sp>
        <p:pic>
          <p:nvPicPr>
            <p:cNvPr id="95" name="Picture 3" descr="D:\02.기타 업무\4.각 행사 및 회의\2022\4. 학술대회\11.포스터세션\로고a.png"/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209"/>
            <a:stretch/>
          </p:blipFill>
          <p:spPr bwMode="auto">
            <a:xfrm>
              <a:off x="441848" y="985071"/>
              <a:ext cx="5076000" cy="1120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01" name="직사각형 5"/>
          <p:cNvSpPr/>
          <p:nvPr/>
        </p:nvSpPr>
        <p:spPr>
          <a:xfrm>
            <a:off x="5992955" y="300000"/>
            <a:ext cx="20582661" cy="2700000"/>
          </a:xfrm>
          <a:prstGeom prst="rect">
            <a:avLst/>
          </a:prstGeom>
        </p:spPr>
        <p:txBody>
          <a:bodyPr wrap="square" lIns="103612" tIns="51807" rIns="103612" bIns="51807">
            <a:no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5000" b="1" cap="all" spc="-227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온톨로지 기반 지식그래프를 활용한 댐 운영 의사결정 지원 LLM 프레임워크 구축</a:t>
            </a:r>
          </a:p>
          <a:p>
            <a:pPr algn="ctr">
              <a:lnSpc>
                <a:spcPct val="115000"/>
              </a:lnSpc>
            </a:pPr>
            <a:r>
              <a:rPr lang="en-US" altLang="ko-KR" sz="3000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bg1"/>
                </a:solidFill>
                <a:latin typeface="Arial" panose="020B0604020202020204" pitchFamily="34" charset="0"/>
                <a:ea typeface="나눔고딕" pitchFamily="50" charset="-127"/>
                <a:cs typeface="Arial" panose="020B0604020202020204" pitchFamily="34" charset="0"/>
              </a:rPr>
              <a:t>Development of an LLM Framework for Dam Operation Decision Support Using an Ontology-based Knowledge Graph</a:t>
            </a:r>
          </a:p>
        </p:txBody>
      </p:sp>
      <p:sp>
        <p:nvSpPr>
          <p:cNvPr id="1002" name="저자"/>
          <p:cNvSpPr txBox="1"/>
          <p:nvPr/>
        </p:nvSpPr>
        <p:spPr>
          <a:xfrm>
            <a:off x="5992958" y="3080000"/>
            <a:ext cx="20582660" cy="14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문경민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신주영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장상범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조수빈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</a:p>
          <a:p>
            <a:pPr algn="ctr"/>
            <a:r>
              <a:rPr lang="ko-KR" altLang="en-US" sz="28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Moon, Kyeungmin ・ Shin, Ju-Young ・ Jang, Sangbeom ・ Cho, Subin</a:t>
            </a:r>
          </a:p>
        </p:txBody>
      </p:sp>
      <p:sp>
        <p:nvSpPr>
          <p:cNvPr id="1003" name="소속"/>
          <p:cNvSpPr txBox="1"/>
          <p:nvPr/>
        </p:nvSpPr>
        <p:spPr>
          <a:xfrm>
            <a:off x="1327064" y="4600000"/>
            <a:ext cx="275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/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교수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</a:t>
            </a:r>
          </a:p>
        </p:txBody>
      </p:sp>
      <p:sp>
        <p:nvSpPr>
          <p:cNvPr id="1004" name="로고 배경"/>
          <p:cNvSpPr/>
          <p:nvPr/>
        </p:nvSpPr>
        <p:spPr>
          <a:xfrm>
            <a:off x="26850000" y="600000"/>
            <a:ext cx="3000000" cy="30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1005" name="국민대학교 로고" descr="Kookmin University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950000" y="700000"/>
            <a:ext cx="2800000" cy="28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06" name="직사각형 1"/>
          <p:cNvSpPr/>
          <p:nvPr/>
        </p:nvSpPr>
        <p:spPr>
          <a:xfrm>
            <a:off x="674157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서론</a:t>
            </a:r>
          </a:p>
        </p:txBody>
      </p:sp>
      <p:sp>
        <p:nvSpPr>
          <p:cNvPr id="1007" name="본문"/>
          <p:cNvSpPr txBox="1"/>
          <p:nvPr/>
        </p:nvSpPr>
        <p:spPr>
          <a:xfrm>
            <a:off x="597946" y="7493024"/>
            <a:ext cx="14113138" cy="331593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판단에는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규정의 홍수기 제한수위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함께 확인해야 하나, 자료마다 형식과 이름이 달라 사람이 일일이 연결해야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대규모 언어모델(LLM) 단독 활용은 답변의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근거를 확인하기 어려워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외부 자료를 검색해 답변에 활용하는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검색증강생성(Retrieval-Augmented Generation, RAG)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이 쓰이나, 자료 간 관계와 출처를 함께 다루려면 구조화된 지식이 필요함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연구는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온톨로지 기반 지식그래프(KG)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RAG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기반 검색 및 LLM 답변 생성과 연계하여, 운영자의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기반 의사결정을 지원하는 프레임워크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</p:txBody>
      </p:sp>
      <p:sp>
        <p:nvSpPr>
          <p:cNvPr id="1008" name="직사각형 1"/>
          <p:cNvSpPr/>
          <p:nvPr/>
        </p:nvSpPr>
        <p:spPr>
          <a:xfrm>
            <a:off x="674157" y="11188959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핵심 용어</a:t>
            </a:r>
          </a:p>
        </p:txBody>
      </p:sp>
      <p:sp>
        <p:nvSpPr>
          <p:cNvPr id="1009" name="직사각형 415"/>
          <p:cNvSpPr/>
          <p:nvPr/>
        </p:nvSpPr>
        <p:spPr>
          <a:xfrm>
            <a:off x="830804" y="12331983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1. 핵심 용어</a:t>
            </a:r>
          </a:p>
        </p:txBody>
      </p:sp>
      <p:graphicFrame>
        <p:nvGraphicFramePr>
          <p:cNvPr id="1010" name="표"/>
          <p:cNvGraphicFramePr>
            <a:graphicFrameLocks noGrp="1"/>
          </p:cNvGraphicFramePr>
          <p:nvPr/>
        </p:nvGraphicFramePr>
        <p:xfrm>
          <a:off x="697946" y="13067968"/>
          <a:ext cx="13500000" cy="7936500"/>
        </p:xfrm>
        <a:graphic>
          <a:graphicData uri="http://schemas.openxmlformats.org/drawingml/2006/table">
            <a:tbl>
              <a:tblPr firstRow="1" bandRow="1"/>
              <a:tblGrid>
                <a:gridCol w="2900000"/>
                <a:gridCol w="106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용어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설명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 (Ontology)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댐 운영 분야의 대상 종류와 관계·속성을 정리한 의미 구조. 실제 운영 자료는 포함하지 않음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Class / Entity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Class는 대상의 종류(예: 댐, 방류 승인), Entity는 그 실제 개체(예: 충주댐)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 / 속성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관계는 개체 사이의 연결(예: 승인이 운영행위를 허가함), 속성은 개체가 가진 값(예: 승인일)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 (Competency Question)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온톨로지가 답할 수 있어야 하는 질문. 연구 범위와 필요한 Class·관계를 정하는 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지식그래프 (KG)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온톨로지에 실제 개체·관계·값을 채워 만든 그래프. Neo4j(그래프 데이터베이스)에 저장하고 Cypher(점과 선의 연결 패턴으로 찾는 질의 언어)로 조회함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표 경로 / 글 경로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열 이름이 의미를 정하는 표는 값을 그대로 옮기고(표 경로), 문장·규정 별표는 규칙으로 값을 추출함(글 경로)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RAG (검색증강생성)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질문과 관련된 근거를 검색해 LLM(대규모 언어모델)에 함께 주고, 그 근거로 답하게 하는 방식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의도 (Intent)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사용자 질문이 CQ 중 어느 질문에 해당하는지의 분류. 의도에 따라 찾을 근거가 정해짐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근거 모음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검색한 근거와 계산값에 출처 번호를 붙여 LLM이 읽을 수 있게 정리한 입력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유클리드 거리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두 지점의 직선거리. 현재와 과거 사례의 수위·유입량이 얼마나 다른지 나타내며 작을수록 비슷함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11" name="직사각형 1"/>
          <p:cNvSpPr/>
          <p:nvPr/>
        </p:nvSpPr>
        <p:spPr>
          <a:xfrm>
            <a:off x="674157" y="21384468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사용 데이터 및 방법론</a:t>
            </a:r>
          </a:p>
        </p:txBody>
      </p:sp>
      <p:sp>
        <p:nvSpPr>
          <p:cNvPr id="1012" name="본문"/>
          <p:cNvSpPr txBox="1"/>
          <p:nvPr/>
        </p:nvSpPr>
        <p:spPr>
          <a:xfrm>
            <a:off x="597946" y="22527492"/>
            <a:ext cx="14113138" cy="202114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한강홍수통제소 공공데이터, 충주·소양강·횡성·광동 4개 댐의 승인 80건 (2010-09 ~ 2021-07)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K-water 시간자료 508,246행 (수위, 저수량, 강우량, 유입량, 총방류량, 저수율)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 별표3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연계운영규정의 홍수기 제한수위 (현행 1건, 연혁 9건)</a:t>
            </a:r>
          </a:p>
        </p:txBody>
      </p:sp>
      <p:pic>
        <p:nvPicPr>
          <p:cNvPr id="1013" name="그림 1. 연구의 구성: Ontology 설계 → KG 구축 → 질문 응답(RAG)" descr="그림 1. 연구의 구성: Ontology 설계 → KG 구축 → 질문 응답(RAG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4515" y="24608637"/>
            <a:ext cx="12900000" cy="9085285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14" name="본문"/>
          <p:cNvSpPr txBox="1"/>
          <p:nvPr/>
        </p:nvSpPr>
        <p:spPr>
          <a:xfrm>
            <a:off x="597946" y="33753922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1. 연구의 구성: Ontology 설계 → KG 구축 → 질문 응답(RAG)</a:t>
            </a:r>
          </a:p>
        </p:txBody>
      </p:sp>
      <p:sp>
        <p:nvSpPr>
          <p:cNvPr id="1015" name="본문"/>
          <p:cNvSpPr txBox="1"/>
          <p:nvPr/>
        </p:nvSpPr>
        <p:spPr>
          <a:xfrm>
            <a:off x="597946" y="34553922"/>
            <a:ext cx="14113138" cy="4610726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1 Ontology 설계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운영자에게 필요한 질문을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전체 질문 1개와 세부 질문 6개(CQ1~CQ6)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로 먼저 정하고, 이에 답하는 데 필요한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Class 6개와 관계 9개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정의함. 세부 질문은 현재 상태, 과거 상태, 과거 운영행위, 과거 방류 승인, 현재 운영기준, 공식 근거이며, 전체 질문은 이들을 이어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현재 상태와 기준을 확인하고 비슷한 과거 사례의 운영행위·승인·근거를 추적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2 KG 구축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원자료를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표 경로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글 경로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로 나누어 Class·관계·속성에 대응시켜 KG(개체 273, 관계 457)로 구축함. 수치 전체와 원문은 외부 저장소에 두고, KG에는 관계와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출처 번호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만 저장함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3 질문 응답(RAG)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① LLM이 질문의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와 댐·시점을 정리 → ② 의도별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Cypher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로 KG를 탐색해 관련 승인·운영행위·기준과 출처 번호를 찾음 → ③ 그 번호로 측정자료·문서 저장소에서 값과 원문을 읽음 → ④ 전체 질문은 수위·유입량의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유클리드 거리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로 비슷한 과거 사례를 고르고, 수치 계산은 코드가 수행 → ⑤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모음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안에서 LLM이 답변하고 출처 번호를 붙임</a:t>
            </a:r>
          </a:p>
        </p:txBody>
      </p:sp>
      <p:sp>
        <p:nvSpPr>
          <p:cNvPr id="1016" name="직사각형 1"/>
          <p:cNvSpPr/>
          <p:nvPr/>
        </p:nvSpPr>
        <p:spPr>
          <a:xfrm>
            <a:off x="15691431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KG 구축 결과</a:t>
            </a:r>
          </a:p>
        </p:txBody>
      </p:sp>
      <p:sp>
        <p:nvSpPr>
          <p:cNvPr id="1017" name="직사각형 415"/>
          <p:cNvSpPr/>
          <p:nvPr/>
        </p:nvSpPr>
        <p:spPr>
          <a:xfrm>
            <a:off x="15803042" y="749302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2. 구축한 지식그래프의 규모</a:t>
            </a:r>
          </a:p>
        </p:txBody>
      </p:sp>
      <p:graphicFrame>
        <p:nvGraphicFramePr>
          <p:cNvPr id="1018" name="표"/>
          <p:cNvGraphicFramePr>
            <a:graphicFrameLocks noGrp="1"/>
          </p:cNvGraphicFramePr>
          <p:nvPr/>
        </p:nvGraphicFramePr>
        <p:xfrm>
          <a:off x="15670184" y="8229009"/>
          <a:ext cx="13500000" cy="234625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0400000"/>
                <a:gridCol w="16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구분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Dam 4, HMS 24, Approval 80, Operation 68, Criterion 3, EvidenceSource 94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273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허가한다, 대상 댐, 수행된 댐, 상태 보유, 적용되는 댐, 근거 등 9종류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457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속성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승인일, 방류 시작 시각, 승인 방류량, 제한수위 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653행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19" name="그림 2. 지식그래프의 일부: 충주댐 승인 1368번" descr="그림 2. 지식그래프의 일부: 충주댐 승인 1368번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326753" y="10695259"/>
            <a:ext cx="10600000" cy="7314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20" name="본문"/>
          <p:cNvSpPr txBox="1"/>
          <p:nvPr/>
        </p:nvSpPr>
        <p:spPr>
          <a:xfrm>
            <a:off x="15570184" y="18069259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2. 지식그래프의 일부: 충주댐 승인 1368번</a:t>
            </a:r>
          </a:p>
        </p:txBody>
      </p:sp>
      <p:sp>
        <p:nvSpPr>
          <p:cNvPr id="1021" name="본문"/>
          <p:cNvSpPr txBox="1"/>
          <p:nvPr/>
        </p:nvSpPr>
        <p:spPr>
          <a:xfrm>
            <a:off x="15570184" y="18869259"/>
            <a:ext cx="14113138" cy="100555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구조 검증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5개 항목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에서 어긋남은 0건이었고, 승인 80건 모두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승인–운영행위–댐–상태–근거자료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로 이어져 질문 경로를 따라 근거를 찾을 수 있음</a:t>
            </a:r>
          </a:p>
        </p:txBody>
      </p:sp>
      <p:sp>
        <p:nvSpPr>
          <p:cNvPr id="1022" name="직사각형 1"/>
          <p:cNvSpPr/>
          <p:nvPr/>
        </p:nvSpPr>
        <p:spPr>
          <a:xfrm>
            <a:off x="15691431" y="2025481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질문 응답 예시</a:t>
            </a:r>
          </a:p>
        </p:txBody>
      </p:sp>
      <p:sp>
        <p:nvSpPr>
          <p:cNvPr id="1023" name="직사각형 415"/>
          <p:cNvSpPr/>
          <p:nvPr/>
        </p:nvSpPr>
        <p:spPr>
          <a:xfrm>
            <a:off x="15803042" y="2139783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3. 전체 질문에 대한 응답 과정</a:t>
            </a:r>
          </a:p>
        </p:txBody>
      </p:sp>
      <p:graphicFrame>
        <p:nvGraphicFramePr>
          <p:cNvPr id="1024" name="표"/>
          <p:cNvGraphicFramePr>
            <a:graphicFrameLocks noGrp="1"/>
          </p:cNvGraphicFramePr>
          <p:nvPr/>
        </p:nvGraphicFramePr>
        <p:xfrm>
          <a:off x="15670184" y="22133819"/>
          <a:ext cx="13500000" cy="4242500"/>
        </p:xfrm>
        <a:graphic>
          <a:graphicData uri="http://schemas.openxmlformats.org/drawingml/2006/table">
            <a:tbl>
              <a:tblPr firstRow="1" bandRow="1"/>
              <a:tblGrid>
                <a:gridCol w="2600000"/>
                <a:gridCol w="109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단계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내용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“소양강댐의 현재 수위를 제한수위와 비교하고, 비슷했던 과거 사례의 운영행위와 승인, 근거를 알려줘”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의도·값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전체 질문 (CQ1~CQ6를 이어서 조회), 댐 = 소양강댐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15470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근거 모음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 수위 185.2644 EL.m, 제한수위 190.3 EL.m [CRI:CR-01]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비슷한 과거 사례 2017-08-25 15:00 (수위·유입량 거리 0.223)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운영행위 탄력적 방류 [OPR:2754:2], 승인 [APR:2754] 승인 방류량 1500 ㎥/s, 사례 전후 최대 총방류량 1011.2 CMS (승인량의 67.4%)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답변 (LLM)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“소양강댐 현재 수위는 185.2644 EL.m로, 제한수위 190.3 EL.m 대비 −5.04 m입니다 [CRI:CR-01]. 유사한 과거 사례는 2017-08-25 15:00 …” (출처 번호 포함)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25" name="본문"/>
          <p:cNvSpPr txBox="1"/>
          <p:nvPr/>
        </p:nvSpPr>
        <p:spPr>
          <a:xfrm>
            <a:off x="15570184" y="26496319"/>
            <a:ext cx="14113138" cy="100555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LLM은 질문 해석과 답변 작성을 맡고,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수치 계산과 비슷한 사례 선택은 코드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가 수행하여 답변의 숫자를 근거에서 확인할 수 있음</a:t>
            </a:r>
          </a:p>
        </p:txBody>
      </p:sp>
      <p:sp>
        <p:nvSpPr>
          <p:cNvPr id="1026" name="직사각형 1"/>
          <p:cNvSpPr/>
          <p:nvPr/>
        </p:nvSpPr>
        <p:spPr>
          <a:xfrm>
            <a:off x="15691431" y="2788187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결론</a:t>
            </a:r>
          </a:p>
        </p:txBody>
      </p:sp>
      <p:sp>
        <p:nvSpPr>
          <p:cNvPr id="1027" name="본문"/>
          <p:cNvSpPr txBox="1"/>
          <p:nvPr/>
        </p:nvSpPr>
        <p:spPr>
          <a:xfrm>
            <a:off x="15570184" y="29024894"/>
            <a:ext cx="14113138" cy="331593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자료(방류 승인 기록, 수문기상 시간 자료, 규정 별표3)를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Ontology(개체 6종류, 관계 9종류)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에 맞춰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KG(개체 273, 관계 457)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로 구축하고, 수치·원문은 외부 저장소에 두어 KG는 연결과 근거 위치만 담도록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전체 질문과 세부 질문 6개(CQ)에 대해 KG와 측정자료·문서 저장소에서 근거를 찾는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RAG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와, 출처 번호가 붙은 근거 안에서 답하는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을 연계한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응답 프레임워크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운영자가 현재 상태, 제한수위, 과거 승인·운영행위, 비슷한 과거 사례를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근거와 함께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확인할 수 있어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의사결정을 지원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함</a:t>
            </a:r>
          </a:p>
        </p:txBody>
      </p:sp>
      <p:sp>
        <p:nvSpPr>
          <p:cNvPr id="1028" name="직사각형 1"/>
          <p:cNvSpPr/>
          <p:nvPr/>
        </p:nvSpPr>
        <p:spPr>
          <a:xfrm>
            <a:off x="15691431" y="32720829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감사의 글</a:t>
            </a:r>
          </a:p>
        </p:txBody>
      </p:sp>
      <p:sp>
        <p:nvSpPr>
          <p:cNvPr id="1029" name="본문"/>
          <p:cNvSpPr txBox="1"/>
          <p:nvPr/>
        </p:nvSpPr>
        <p:spPr>
          <a:xfrm>
            <a:off x="15570184" y="33863853"/>
            <a:ext cx="14113138" cy="122135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0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결과물은 기후에너지환경부의 재원으로 한국환경산업기술원의 기후변화 적응 수재해 관리 기술개발사업(R&amp;D)의 지원을 받아 연구되었습니다(RS-2026-25502939). 본 연구는 기후에너지환경부「기후변화특성화대학원사업」의 지원으로 수행되었습니다.</a:t>
            </a:r>
          </a:p>
        </p:txBody>
      </p:sp>
      <p:sp>
        <p:nvSpPr>
          <p:cNvPr id="1030" name="직사각형 1"/>
          <p:cNvSpPr/>
          <p:nvPr/>
        </p:nvSpPr>
        <p:spPr>
          <a:xfrm>
            <a:off x="15691431" y="35235203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참고문헌</a:t>
            </a:r>
          </a:p>
        </p:txBody>
      </p:sp>
      <p:sp>
        <p:nvSpPr>
          <p:cNvPr id="1031" name="본문"/>
          <p:cNvSpPr txBox="1"/>
          <p:nvPr/>
        </p:nvSpPr>
        <p:spPr>
          <a:xfrm>
            <a:off x="15570184" y="36378227"/>
            <a:ext cx="14113138" cy="4179129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1. Purohit, S., Chin, G., Mackey, P. S. and Cottam, J. A. (2024). “GraphAide: Advanced graph-assisted query and reasoning system.” Proc. IEEE Int. Conf. on Big Data (BigData), pp. 3485-3493.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2. Papadakis, E., McCluskey, T. L., Louadah, H. and Tucker, G. (2023). “Ontology-guided knowledge graph construction to support scheduling in a train maintenance depot.” CEUR Workshop Proceedings, Vol. 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3. Li, S., Erickson, C., Zajac, M., Guo, X., Duan, Q. and Gong, J. (2025). “A semi-automated framework for flood ontology construction with an application in risk communication.” Water, Vol. 17, No. 19, 2801.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4. Lewis, P. et al. (2020). “Retrieval-augmented generation for knowledge-intensive NLP tasks.” Advances in Neural Information Processing Systems, Vol. 33, pp. 9459-9474.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5. Angles, R. and Gutierrez, C. (2008). “Survey of graph database models.” ACM Computing Surveys, Vol. 40, No. 1, Article 1.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6. Noy, N. F. and McGuinness, D. L. (2001). “Ontology development 101: A guide to creating your first ontology.” Stanford Knowledge Systems Laboratory Technical Report KSL-01-05.</a:t>
            </a:r>
          </a:p>
        </p:txBody>
      </p:sp>
    </p:spTree>
    <p:extLst>
      <p:ext uri="{BB962C8B-B14F-4D97-AF65-F5344CB8AC3E}">
        <p14:creationId xmlns:p14="http://schemas.microsoft.com/office/powerpoint/2010/main" val="676981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603</Words>
  <Application>Microsoft Office PowerPoint</Application>
  <PresentationFormat>사용자 지정</PresentationFormat>
  <Paragraphs>56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 Unicode MS</vt:lpstr>
      <vt:lpstr>나눔고딕</vt:lpstr>
      <vt:lpstr>나눔고딕 ExtraBold</vt:lpstr>
      <vt:lpstr>맑은 고딕</vt:lpstr>
      <vt:lpstr>Arial</vt:lpstr>
      <vt:lpstr>Verdana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황 혜선</cp:lastModifiedBy>
  <cp:revision>97</cp:revision>
  <cp:lastPrinted>2022-07-13T05:48:17Z</cp:lastPrinted>
  <dcterms:created xsi:type="dcterms:W3CDTF">2018-10-17T01:18:09Z</dcterms:created>
  <dcterms:modified xsi:type="dcterms:W3CDTF">2023-05-25T02:26:58Z</dcterms:modified>
</cp:coreProperties>
</file>