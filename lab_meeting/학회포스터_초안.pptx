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2" r:id="rId2"/>
  </p:sldIdLst>
  <p:sldSz cx="30275213" cy="42803763"/>
  <p:notesSz cx="9926638" cy="14355763"/>
  <p:defaultTextStyle>
    <a:defPPr>
      <a:defRPr lang="ko-KR"/>
    </a:defPPr>
    <a:lvl1pPr marL="0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1pPr>
    <a:lvl2pPr marL="208679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2pPr>
    <a:lvl3pPr marL="4173583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3pPr>
    <a:lvl4pPr marL="626037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4pPr>
    <a:lvl5pPr marL="834716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5pPr>
    <a:lvl6pPr marL="10433959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6pPr>
    <a:lvl7pPr marL="1252075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7pPr>
    <a:lvl8pPr marL="1460754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8pPr>
    <a:lvl9pPr marL="1669433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3063F4"/>
    <a:srgbClr val="3A83B0"/>
    <a:srgbClr val="F6DADA"/>
    <a:srgbClr val="28508C"/>
    <a:srgbClr val="2F5EA3"/>
    <a:srgbClr val="20566E"/>
    <a:srgbClr val="F5A10B"/>
    <a:srgbClr val="EB3D6F"/>
    <a:srgbClr val="7498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71" autoAdjust="0"/>
    <p:restoredTop sz="94142" autoAdjust="0"/>
  </p:normalViewPr>
  <p:slideViewPr>
    <p:cSldViewPr showGuides="1">
      <p:cViewPr>
        <p:scale>
          <a:sx n="33" d="100"/>
          <a:sy n="33" d="100"/>
        </p:scale>
        <p:origin x="2166" y="24"/>
      </p:cViewPr>
      <p:guideLst>
        <p:guide orient="horz" pos="13482"/>
        <p:guide pos="95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r">
              <a:defRPr sz="1800"/>
            </a:lvl1pPr>
          </a:lstStyle>
          <a:p>
            <a:fld id="{C3975C9C-AA20-4771-875B-11630C0B0EE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51200" y="1793875"/>
            <a:ext cx="342423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751" tIns="69376" rIns="138751" bIns="69376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6908711"/>
            <a:ext cx="7941310" cy="5652582"/>
          </a:xfrm>
          <a:prstGeom prst="rect">
            <a:avLst/>
          </a:prstGeom>
        </p:spPr>
        <p:txBody>
          <a:bodyPr vert="horz" lIns="138751" tIns="69376" rIns="138751" bIns="69376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r">
              <a:defRPr sz="1800"/>
            </a:lvl1pPr>
          </a:lstStyle>
          <a:p>
            <a:fld id="{50A9D8C3-D90B-4640-9792-40BF06B6F7E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74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1pPr>
    <a:lvl2pPr marL="64654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2pPr>
    <a:lvl3pPr marL="1293094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3pPr>
    <a:lvl4pPr marL="193964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4pPr>
    <a:lvl5pPr marL="2586189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5pPr>
    <a:lvl6pPr marL="323273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6pPr>
    <a:lvl7pPr marL="3879283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7pPr>
    <a:lvl8pPr marL="452583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8pPr>
    <a:lvl9pPr marL="5172377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9D8C3-D90B-4640-9792-40BF06B6F7E5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3399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BF76B742-CA72-4B76-9A1B-00F13A079611}"/>
              </a:ext>
            </a:extLst>
          </p:cNvPr>
          <p:cNvSpPr/>
          <p:nvPr/>
        </p:nvSpPr>
        <p:spPr>
          <a:xfrm>
            <a:off x="387465" y="6099356"/>
            <a:ext cx="14506964" cy="3618694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algn="ctr"/>
            <a:endParaRPr lang="ko-KR" altLang="en-US" sz="5418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FE6F6F2-1EEE-4BAA-B7BB-4B058EAAA213}"/>
              </a:ext>
            </a:extLst>
          </p:cNvPr>
          <p:cNvSpPr/>
          <p:nvPr/>
        </p:nvSpPr>
        <p:spPr>
          <a:xfrm>
            <a:off x="15382036" y="6099358"/>
            <a:ext cx="14505719" cy="36186939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lvl="0" algn="ctr"/>
            <a:endParaRPr lang="ko-KR" altLang="en-US" sz="5418" dirty="0"/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3" y="35249"/>
            <a:ext cx="30275357" cy="57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811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513764" y="1714136"/>
            <a:ext cx="27247692" cy="7133959"/>
          </a:xfrm>
          <a:prstGeom prst="rect">
            <a:avLst/>
          </a:prstGeom>
        </p:spPr>
        <p:txBody>
          <a:bodyPr vert="horz" lIns="431984" tIns="215993" rIns="431984" bIns="215993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513764" y="9987549"/>
            <a:ext cx="27247692" cy="28248506"/>
          </a:xfrm>
          <a:prstGeom prst="rect">
            <a:avLst/>
          </a:prstGeom>
        </p:spPr>
        <p:txBody>
          <a:bodyPr vert="horz" lIns="431984" tIns="215993" rIns="431984" bIns="215993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1513764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l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BD32EA-93D2-422C-9D50-DCDFD5662F5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0344033" y="39672751"/>
            <a:ext cx="9587152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ct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21697241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A678E-E807-4BC3-8392-26D7FE55F75E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511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ctr" defTabSz="4030263" rtl="0" eaLnBrk="1" latinLnBrk="1" hangingPunct="1">
        <a:spcBef>
          <a:spcPct val="0"/>
        </a:spcBef>
        <a:buNone/>
        <a:defRPr sz="194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11348" indent="-1511348" algn="l" defTabSz="4030263" rtl="0" eaLnBrk="1" latinLnBrk="1" hangingPunct="1">
        <a:spcBef>
          <a:spcPct val="20000"/>
        </a:spcBef>
        <a:buFont typeface="Arial" pitchFamily="34" charset="0"/>
        <a:buChar char="•"/>
        <a:defRPr sz="14087" kern="1200">
          <a:solidFill>
            <a:schemeClr val="tx1"/>
          </a:solidFill>
          <a:latin typeface="+mn-lt"/>
          <a:ea typeface="+mn-ea"/>
          <a:cs typeface="+mn-cs"/>
        </a:defRPr>
      </a:lvl1pPr>
      <a:lvl2pPr marL="3274587" indent="-1259457" algn="l" defTabSz="4030263" rtl="0" eaLnBrk="1" latinLnBrk="1" hangingPunct="1">
        <a:spcBef>
          <a:spcPct val="20000"/>
        </a:spcBef>
        <a:buFont typeface="Arial" pitchFamily="34" charset="0"/>
        <a:buChar char="–"/>
        <a:defRPr sz="12316" kern="1200">
          <a:solidFill>
            <a:schemeClr val="tx1"/>
          </a:solidFill>
          <a:latin typeface="+mn-lt"/>
          <a:ea typeface="+mn-ea"/>
          <a:cs typeface="+mn-cs"/>
        </a:defRPr>
      </a:lvl2pPr>
      <a:lvl3pPr marL="5037827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10636" kern="1200">
          <a:solidFill>
            <a:schemeClr val="tx1"/>
          </a:solidFill>
          <a:latin typeface="+mn-lt"/>
          <a:ea typeface="+mn-ea"/>
          <a:cs typeface="+mn-cs"/>
        </a:defRPr>
      </a:lvl3pPr>
      <a:lvl4pPr marL="7052959" indent="-1007566" algn="l" defTabSz="4030263" rtl="0" eaLnBrk="1" latinLnBrk="1" hangingPunct="1">
        <a:spcBef>
          <a:spcPct val="20000"/>
        </a:spcBef>
        <a:buFont typeface="Arial" pitchFamily="34" charset="0"/>
        <a:buChar char="–"/>
        <a:defRPr sz="8770" kern="1200">
          <a:solidFill>
            <a:schemeClr val="tx1"/>
          </a:solidFill>
          <a:latin typeface="+mn-lt"/>
          <a:ea typeface="+mn-ea"/>
          <a:cs typeface="+mn-cs"/>
        </a:defRPr>
      </a:lvl4pPr>
      <a:lvl5pPr marL="9068089" indent="-1007566" algn="l" defTabSz="4030263" rtl="0" eaLnBrk="1" latinLnBrk="1" hangingPunct="1">
        <a:spcBef>
          <a:spcPct val="20000"/>
        </a:spcBef>
        <a:buFont typeface="Arial" pitchFamily="34" charset="0"/>
        <a:buChar char="»"/>
        <a:defRPr sz="8770" kern="1200">
          <a:solidFill>
            <a:schemeClr val="tx1"/>
          </a:solidFill>
          <a:latin typeface="+mn-lt"/>
          <a:ea typeface="+mn-ea"/>
          <a:cs typeface="+mn-cs"/>
        </a:defRPr>
      </a:lvl5pPr>
      <a:lvl6pPr marL="11083222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6pPr>
      <a:lvl7pPr marL="13098354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7pPr>
      <a:lvl8pPr marL="1511348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8pPr>
      <a:lvl9pPr marL="1712861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1pPr>
      <a:lvl2pPr marL="2015132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2pPr>
      <a:lvl3pPr marL="403026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3pPr>
      <a:lvl4pPr marL="604539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4pPr>
      <a:lvl5pPr marL="8060525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5pPr>
      <a:lvl6pPr marL="10075656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6pPr>
      <a:lvl7pPr marL="12090788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7pPr>
      <a:lvl8pPr marL="14105919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8pPr>
      <a:lvl9pPr marL="1612105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13" Type="http://schemas.openxmlformats.org/officeDocument/2006/relationships/image" Target="../media/poster_rId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>
            <a:grpSpLocks noGrp="1" noUngrp="1" noRot="1" noMove="1" noResize="1"/>
          </p:cNvGrpSpPr>
          <p:nvPr/>
        </p:nvGrpSpPr>
        <p:grpSpPr>
          <a:xfrm>
            <a:off x="375966" y="375545"/>
            <a:ext cx="5141882" cy="1730166"/>
            <a:chOff x="375966" y="375545"/>
            <a:chExt cx="5141882" cy="1730166"/>
          </a:xfrm>
        </p:grpSpPr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E8958C42-464C-487C-8515-D9CD11E8024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5966" y="375545"/>
              <a:ext cx="5074637" cy="651765"/>
            </a:xfrm>
            <a:prstGeom prst="rect">
              <a:avLst/>
            </a:prstGeom>
          </p:spPr>
          <p:txBody>
            <a:bodyPr wrap="square" lIns="96819" tIns="48411" rIns="96819" bIns="48411">
              <a:spAutoFit/>
            </a:bodyPr>
            <a:lstStyle/>
            <a:p>
              <a:pPr algn="ctr"/>
              <a:r>
                <a:rPr lang="en-US" altLang="ko-KR" sz="3600" b="1" spc="-300" dirty="0">
                  <a:solidFill>
                    <a:schemeClr val="bg1"/>
                  </a:solidFill>
                  <a:latin typeface="Arial Unicode MS" panose="020B0604020202020204" pitchFamily="50" charset="-127"/>
                  <a:ea typeface="Arial Unicode MS" panose="020B0604020202020204" pitchFamily="50" charset="-127"/>
                  <a:cs typeface="Arial Unicode MS" panose="020B0604020202020204" pitchFamily="50" charset="-127"/>
                </a:rPr>
                <a:t>KSCE 2026 CONVENTION</a:t>
              </a:r>
              <a:endParaRPr lang="ko-KR" altLang="en-US" sz="3600" b="1" spc="-300" dirty="0">
                <a:solidFill>
                  <a:schemeClr val="bg1"/>
                </a:solidFill>
                <a:latin typeface="Arial Unicode MS" panose="020B0604020202020204" pitchFamily="50" charset="-127"/>
                <a:ea typeface="Arial Unicode MS" panose="020B0604020202020204" pitchFamily="50" charset="-127"/>
                <a:cs typeface="Arial Unicode MS" panose="020B0604020202020204" pitchFamily="50" charset="-127"/>
              </a:endParaRPr>
            </a:p>
          </p:txBody>
        </p:sp>
        <p:pic>
          <p:nvPicPr>
            <p:cNvPr id="95" name="Picture 3" descr="D:\02.기타 업무\4.각 행사 및 회의\2022\4. 학술대회\11.포스터세션\로고a.png"/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209"/>
            <a:stretch/>
          </p:blipFill>
          <p:spPr bwMode="auto">
            <a:xfrm>
              <a:off x="441848" y="985071"/>
              <a:ext cx="5076000" cy="1120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01" name="직사각형 5"/>
          <p:cNvSpPr/>
          <p:nvPr/>
        </p:nvSpPr>
        <p:spPr>
          <a:xfrm>
            <a:off x="5992955" y="300000"/>
            <a:ext cx="20582661" cy="2700000"/>
          </a:xfrm>
          <a:prstGeom prst="rect">
            <a:avLst/>
          </a:prstGeom>
        </p:spPr>
        <p:txBody>
          <a:bodyPr wrap="square" lIns="103612" tIns="51807" rIns="103612" bIns="51807">
            <a:no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5000" b="1" cap="all" spc="-227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온톨로지 기반 지식그래프를 활용한 댐 운영 의사결정 지원 LLM 프레임워크 구축</a:t>
            </a:r>
          </a:p>
          <a:p>
            <a:pPr algn="ctr">
              <a:lnSpc>
                <a:spcPct val="115000"/>
              </a:lnSpc>
            </a:pPr>
            <a:r>
              <a:rPr lang="en-US" altLang="ko-KR" sz="3000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bg1"/>
                </a:solidFill>
                <a:latin typeface="Arial" panose="020B0604020202020204" pitchFamily="34" charset="0"/>
                <a:ea typeface="나눔고딕" pitchFamily="50" charset="-127"/>
                <a:cs typeface="Arial" panose="020B0604020202020204" pitchFamily="34" charset="0"/>
              </a:rPr>
              <a:t>Development of an LLM Framework for Dam Operation Decision Support Using an Ontology-based Knowledge Graph</a:t>
            </a:r>
          </a:p>
        </p:txBody>
      </p:sp>
      <p:sp>
        <p:nvSpPr>
          <p:cNvPr id="1002" name="저자"/>
          <p:cNvSpPr txBox="1"/>
          <p:nvPr/>
        </p:nvSpPr>
        <p:spPr>
          <a:xfrm>
            <a:off x="5992958" y="3080000"/>
            <a:ext cx="20582660" cy="14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문경민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신주영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장상범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조수빈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</a:p>
          <a:p>
            <a:pPr algn="ctr"/>
            <a:r>
              <a:rPr lang="ko-KR" altLang="en-US" sz="28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Moon, Kyeungmin ・ Shin, Ju-Young ・ Jang, Sangbeom ・ Cho, Subin</a:t>
            </a:r>
          </a:p>
        </p:txBody>
      </p:sp>
      <p:sp>
        <p:nvSpPr>
          <p:cNvPr id="1003" name="소속"/>
          <p:cNvSpPr txBox="1"/>
          <p:nvPr/>
        </p:nvSpPr>
        <p:spPr>
          <a:xfrm>
            <a:off x="1327064" y="4600000"/>
            <a:ext cx="275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/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교수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</a:t>
            </a:r>
          </a:p>
        </p:txBody>
      </p:sp>
      <p:sp>
        <p:nvSpPr>
          <p:cNvPr id="1004" name="로고 배경"/>
          <p:cNvSpPr/>
          <p:nvPr/>
        </p:nvSpPr>
        <p:spPr>
          <a:xfrm>
            <a:off x="26850000" y="600000"/>
            <a:ext cx="3000000" cy="30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1005" name="국민대학교 로고" descr="Kookmin University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950000" y="700000"/>
            <a:ext cx="2800000" cy="280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06" name="직사각형 1"/>
          <p:cNvSpPr/>
          <p:nvPr/>
        </p:nvSpPr>
        <p:spPr>
          <a:xfrm>
            <a:off x="674157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서론</a:t>
            </a:r>
          </a:p>
        </p:txBody>
      </p:sp>
      <p:sp>
        <p:nvSpPr>
          <p:cNvPr id="1007" name="본문"/>
          <p:cNvSpPr txBox="1"/>
          <p:nvPr/>
        </p:nvSpPr>
        <p:spPr>
          <a:xfrm>
            <a:off x="597946" y="7493024"/>
            <a:ext cx="14113138" cy="331593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판단에는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방류 승인 기록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수문기상 시간 자료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규정의 홍수기 제한수위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함께 확인해야 하나, 자료마다 형식과 이름이 달라 사람이 일일이 연결해야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대규모 언어모델(LLM) 단독 활용은 답변의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근거를 확인하기 어려워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외부 자료를 검색해 답변에 활용하는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검색증강생성(RAG)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이 쓰이나, 자료 간 관계와 출처를 함께 다루려면 구조화된 지식이 필요함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연구는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온톨로지 기반 지식그래프(KG)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RAG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기반 검색 및 LLM 답변 생성과 연계하여, 운영자의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기반 의사결정을 지원하는 프레임워크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</p:txBody>
      </p:sp>
      <p:sp>
        <p:nvSpPr>
          <p:cNvPr id="1008" name="직사각형 1"/>
          <p:cNvSpPr/>
          <p:nvPr/>
        </p:nvSpPr>
        <p:spPr>
          <a:xfrm>
            <a:off x="674157" y="11008959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핵심 용어</a:t>
            </a:r>
          </a:p>
        </p:txBody>
      </p:sp>
      <p:sp>
        <p:nvSpPr>
          <p:cNvPr id="1009" name="직사각형 415"/>
          <p:cNvSpPr/>
          <p:nvPr/>
        </p:nvSpPr>
        <p:spPr>
          <a:xfrm>
            <a:off x="830804" y="12151983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1. 핵심 용어</a:t>
            </a:r>
          </a:p>
        </p:txBody>
      </p:sp>
      <p:graphicFrame>
        <p:nvGraphicFramePr>
          <p:cNvPr id="1010" name="표"/>
          <p:cNvGraphicFramePr>
            <a:graphicFrameLocks noGrp="1"/>
          </p:cNvGraphicFramePr>
          <p:nvPr/>
        </p:nvGraphicFramePr>
        <p:xfrm>
          <a:off x="697946" y="12887968"/>
          <a:ext cx="13500000" cy="6176000"/>
        </p:xfrm>
        <a:graphic>
          <a:graphicData uri="http://schemas.openxmlformats.org/drawingml/2006/table">
            <a:tbl>
              <a:tblPr firstRow="1" bandRow="1"/>
              <a:tblGrid>
                <a:gridCol w="2900000"/>
                <a:gridCol w="10600000"/>
              </a:tblGrid>
              <a:tr h="451625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용어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설명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3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온톨로지 / Class / Entity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댐 운영 분야의 대상 종류(Class, 예: 댐)와 관계·속성을 정리한 의미 구조. Entity는 Class에 속한 실제 개체(예: 충주댐)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3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 / Data Property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관계는 개체 사이의 연결(예: 승인이 운영행위를 허가함), Data Property는 개체가 가진 값(예: 승인일)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753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Competency Question. 온톨로지가 답할 수 있어야 하는 질문으로, 필요한 Class·관계를 정하는 기준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3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지식그래프 (KG)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온톨로지에 실제 개체·관계·값을 채운 그래프. Neo4j(그래프 DB)에 저장하고 Cypher(연결 패턴으로 찾는 질의 언어)로 조회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753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구조화 자료 / 문서 자료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표(구조화 자료)는 규칙으로 개체·속성에 옮기고, 글 속의 값(승인 비고, 규정 별표)은 규칙으로 추출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3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외부 저장소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KG 밖에 둔 측정값 전체(측정자료 저장소)와 규정 원문(문서 저장소). KG에는 찾아가는 키만 둠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RAG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질문과 관련된 근거를 검색해 LLM에 함께 주고, 그 근거로 답하게 하는 방식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3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의도 / 근거 묶음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의도는 질문이 CQ1~CQ6 중 무엇을 묻는지의 분류(복수 가능), 근거 묶음은 검색한 근거에 출처 번호를 붙여 LLM에 주는 입력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011" name="직사각형 1"/>
          <p:cNvSpPr/>
          <p:nvPr/>
        </p:nvSpPr>
        <p:spPr>
          <a:xfrm>
            <a:off x="674157" y="19263968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사용 데이터</a:t>
            </a:r>
          </a:p>
        </p:txBody>
      </p:sp>
      <p:sp>
        <p:nvSpPr>
          <p:cNvPr id="1012" name="본문"/>
          <p:cNvSpPr txBox="1"/>
          <p:nvPr/>
        </p:nvSpPr>
        <p:spPr>
          <a:xfrm>
            <a:off x="597946" y="20406992"/>
            <a:ext cx="14113138" cy="2528941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방류 승인 기록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한강홍수통제소, 충주·소양강·횡성·광동 4개 댐 승인 80건 (2010-09 ~ 2021-07)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수문기상 시간 자료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K-water, 508,246행 (수위, 저수량, 강우량, 유입량, 총방류량, 저수율)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규정 별표3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연계운영규정의 홍수기 제한수위 (현행)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기본 정보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K-water, 4개 댐의 댐 코드·이름·유형</a:t>
            </a:r>
          </a:p>
        </p:txBody>
      </p:sp>
      <p:sp>
        <p:nvSpPr>
          <p:cNvPr id="1013" name="직사각형 1"/>
          <p:cNvSpPr/>
          <p:nvPr/>
        </p:nvSpPr>
        <p:spPr>
          <a:xfrm>
            <a:off x="674157" y="23135933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연구 질문과 Ontology</a:t>
            </a:r>
          </a:p>
        </p:txBody>
      </p:sp>
      <p:sp>
        <p:nvSpPr>
          <p:cNvPr id="1014" name="직사각형 415"/>
          <p:cNvSpPr/>
          <p:nvPr/>
        </p:nvSpPr>
        <p:spPr>
          <a:xfrm>
            <a:off x="830804" y="24278957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2. 전체 질문과 세부 질문(CQ)</a:t>
            </a:r>
          </a:p>
        </p:txBody>
      </p:sp>
      <p:graphicFrame>
        <p:nvGraphicFramePr>
          <p:cNvPr id="1015" name="표"/>
          <p:cNvGraphicFramePr>
            <a:graphicFrameLocks noGrp="1"/>
          </p:cNvGraphicFramePr>
          <p:nvPr/>
        </p:nvGraphicFramePr>
        <p:xfrm>
          <a:off x="697946" y="25014942"/>
          <a:ext cx="13500000" cy="3914625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11500000"/>
              </a:tblGrid>
              <a:tr h="451625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번호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질문 (Competency Question)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3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전체 질문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특정 댐의 현재 수문·기상 상태와 운영기준을 확인하고, 선택된 과거 사례의 상태·운영행위·승인·근거를 함께 추적하여 운영 판단을 지원할 수 있는가?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CQ1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대상 댐의 현재 수문·기상 상태는 무엇인가?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CQ2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선택된 과거 시점 또는 사례의 수문·기상 상태는 어떠했는가?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CQ3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해당 과거 시점 또는 사례에서 수행된 운영행위는 무엇이었는가?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CQ4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해당 과거 시점 또는 사례의 방류 승인과 승인 내용은 무엇인가?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CQ5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 대상 댐에 적용되는 운영기준과 기준값은 무엇인가?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CQ6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위 정보를 확인할 수 있는 공식 자료 또는 근거문서는 무엇인가?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6" name="본문"/>
          <p:cNvSpPr txBox="1"/>
          <p:nvPr/>
        </p:nvSpPr>
        <p:spPr>
          <a:xfrm>
            <a:off x="597946" y="29049567"/>
            <a:ext cx="14113138" cy="1005551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Ontology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위 질문에 필요한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Class 6개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관계 9개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Class별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Data Property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정의함 (그림 2)</a:t>
            </a:r>
          </a:p>
        </p:txBody>
      </p:sp>
      <p:sp>
        <p:nvSpPr>
          <p:cNvPr id="1017" name="직사각형 1"/>
          <p:cNvSpPr/>
          <p:nvPr/>
        </p:nvSpPr>
        <p:spPr>
          <a:xfrm>
            <a:off x="674157" y="30255118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방법론 개요</a:t>
            </a:r>
          </a:p>
        </p:txBody>
      </p:sp>
      <p:grpSp>
        <p:nvGrpSpPr>
          <p:cNvPr id="5034" name="그림1 전체 구조"/>
          <p:cNvGrpSpPr/>
          <p:nvPr/>
        </p:nvGrpSpPr>
        <p:grpSpPr>
          <a:xfrm>
            <a:off x="2354515" y="31398142"/>
            <a:ext cx="10600000" cy="6890000"/>
            <a:chOff x="2354515" y="31398142"/>
            <a:chExt cx="10600000" cy="6890000"/>
          </a:xfrm>
        </p:grpSpPr>
        <p:sp>
          <p:nvSpPr>
            <p:cNvPr id="5001" name="도형"/>
            <p:cNvSpPr/>
            <p:nvPr/>
          </p:nvSpPr>
          <p:spPr>
            <a:xfrm>
              <a:off x="2354515" y="31398142"/>
              <a:ext cx="2809000" cy="3074000"/>
            </a:xfrm>
            <a:prstGeom prst="rect">
              <a:avLst/>
            </a:prstGeom>
            <a:noFill/>
            <a:ln w="19050">
              <a:solidFill>
                <a:srgbClr val="888888"/>
              </a:solidFill>
              <a:prstDash val="dash"/>
            </a:ln>
          </p:spPr>
          <p:txBody>
            <a:bodyPr wrap="square" lIns="84800" tIns="42400" rIns="84800" bIns="42400" anchor="ctr">
              <a:noAutofit/>
            </a:bodyPr>
            <a:lstStyle/>
            <a:p>
              <a:endParaRPr lang="ko-KR"/>
            </a:p>
          </p:txBody>
        </p:sp>
        <p:sp>
          <p:nvSpPr>
            <p:cNvPr id="5002" name="글상자"/>
            <p:cNvSpPr/>
            <p:nvPr/>
          </p:nvSpPr>
          <p:spPr>
            <a:xfrm>
              <a:off x="2460515" y="31461742"/>
              <a:ext cx="2597000" cy="392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1200" tIns="10600" rIns="21200" bIns="1060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2087" b="1" dirty="0">
                  <a:solidFill>
                    <a:srgbClr val="1F3A5F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(a) Ontology 설계</a:t>
              </a:r>
            </a:p>
          </p:txBody>
        </p:sp>
        <p:sp>
          <p:nvSpPr>
            <p:cNvPr id="5003" name="도형"/>
            <p:cNvSpPr/>
            <p:nvPr/>
          </p:nvSpPr>
          <p:spPr>
            <a:xfrm>
              <a:off x="2566515" y="31906942"/>
              <a:ext cx="2385000" cy="1060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170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CQ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전체 질문 1개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세부 질문 6개</a:t>
              </a:r>
            </a:p>
          </p:txBody>
        </p:sp>
        <p:cxnSp>
          <p:nvCxnSpPr>
            <p:cNvPr id="5004" name="선"/>
            <p:cNvCxnSpPr/>
            <p:nvPr/>
          </p:nvCxnSpPr>
          <p:spPr>
            <a:xfrm>
              <a:off x="3753715" y="32988142"/>
              <a:ext cx="0" cy="233200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sp>
          <p:nvSpPr>
            <p:cNvPr id="5005" name="도형"/>
            <p:cNvSpPr/>
            <p:nvPr/>
          </p:nvSpPr>
          <p:spPr>
            <a:xfrm>
              <a:off x="2566515" y="33242542"/>
              <a:ext cx="2385000" cy="1060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170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Class · 관계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Class 6, 관계 9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Data Property</a:t>
              </a:r>
            </a:p>
          </p:txBody>
        </p:sp>
        <p:sp>
          <p:nvSpPr>
            <p:cNvPr id="5006" name="도형"/>
            <p:cNvSpPr/>
            <p:nvPr/>
          </p:nvSpPr>
          <p:spPr>
            <a:xfrm>
              <a:off x="5375515" y="31398142"/>
              <a:ext cx="7579000" cy="3074000"/>
            </a:xfrm>
            <a:prstGeom prst="rect">
              <a:avLst/>
            </a:prstGeom>
            <a:noFill/>
            <a:ln w="19050">
              <a:solidFill>
                <a:srgbClr val="888888"/>
              </a:solidFill>
              <a:prstDash val="dash"/>
            </a:ln>
          </p:spPr>
          <p:txBody>
            <a:bodyPr wrap="square" lIns="84800" tIns="42400" rIns="84800" bIns="42400" anchor="ctr">
              <a:noAutofit/>
            </a:bodyPr>
            <a:lstStyle/>
            <a:p>
              <a:endParaRPr lang="ko-KR"/>
            </a:p>
          </p:txBody>
        </p:sp>
        <p:sp>
          <p:nvSpPr>
            <p:cNvPr id="5007" name="글상자"/>
            <p:cNvSpPr/>
            <p:nvPr/>
          </p:nvSpPr>
          <p:spPr>
            <a:xfrm>
              <a:off x="5481515" y="31461742"/>
              <a:ext cx="7367000" cy="392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1200" tIns="10600" rIns="21200" bIns="1060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2087" b="1" dirty="0">
                  <a:solidFill>
                    <a:srgbClr val="1F3A5F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(b) 지식그래프(KG) 구축</a:t>
              </a:r>
            </a:p>
          </p:txBody>
        </p:sp>
        <p:sp>
          <p:nvSpPr>
            <p:cNvPr id="5008" name="도형"/>
            <p:cNvSpPr/>
            <p:nvPr/>
          </p:nvSpPr>
          <p:spPr>
            <a:xfrm>
              <a:off x="5534515" y="31928142"/>
              <a:ext cx="1696000" cy="2385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170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원자료 4종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승인 기록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시간 자료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규정 별표3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댐 정보</a:t>
              </a:r>
            </a:p>
          </p:txBody>
        </p:sp>
        <p:cxnSp>
          <p:nvCxnSpPr>
            <p:cNvPr id="5009" name="선"/>
            <p:cNvCxnSpPr/>
            <p:nvPr/>
          </p:nvCxnSpPr>
          <p:spPr>
            <a:xfrm>
              <a:off x="7251715" y="33115342"/>
              <a:ext cx="381600" cy="0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sp>
          <p:nvSpPr>
            <p:cNvPr id="5010" name="도형"/>
            <p:cNvSpPr/>
            <p:nvPr/>
          </p:nvSpPr>
          <p:spPr>
            <a:xfrm>
              <a:off x="7654515" y="31928142"/>
              <a:ext cx="1802000" cy="2385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170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6단계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전처리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매핑 · 추출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관계 연결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검증 · 저장</a:t>
              </a:r>
            </a:p>
          </p:txBody>
        </p:sp>
        <p:cxnSp>
          <p:nvCxnSpPr>
            <p:cNvPr id="5011" name="선"/>
            <p:cNvCxnSpPr/>
            <p:nvPr/>
          </p:nvCxnSpPr>
          <p:spPr>
            <a:xfrm>
              <a:off x="9477715" y="33115342"/>
              <a:ext cx="381600" cy="0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sp>
          <p:nvSpPr>
            <p:cNvPr id="5012" name="도형"/>
            <p:cNvSpPr/>
            <p:nvPr/>
          </p:nvSpPr>
          <p:spPr>
            <a:xfrm>
              <a:off x="9880515" y="31885742"/>
              <a:ext cx="2915000" cy="742000"/>
            </a:xfrm>
            <a:prstGeom prst="can">
              <a:avLst/>
            </a:prstGeom>
            <a:solidFill>
              <a:srgbClr val="F2F2F2"/>
            </a:solidFill>
            <a:ln w="22225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003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KG (Neo4j)</a:t>
              </a:r>
            </a:p>
          </p:txBody>
        </p:sp>
        <p:sp>
          <p:nvSpPr>
            <p:cNvPr id="5013" name="도형"/>
            <p:cNvSpPr/>
            <p:nvPr/>
          </p:nvSpPr>
          <p:spPr>
            <a:xfrm>
              <a:off x="9880515" y="32733742"/>
              <a:ext cx="2915000" cy="742000"/>
            </a:xfrm>
            <a:prstGeom prst="can">
              <a:avLst/>
            </a:prstGeom>
            <a:solidFill>
              <a:srgbClr val="F2F2F2"/>
            </a:solidFill>
            <a:ln w="22225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003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측정자료 저장소</a:t>
              </a:r>
            </a:p>
          </p:txBody>
        </p:sp>
        <p:sp>
          <p:nvSpPr>
            <p:cNvPr id="5014" name="도형"/>
            <p:cNvSpPr/>
            <p:nvPr/>
          </p:nvSpPr>
          <p:spPr>
            <a:xfrm>
              <a:off x="9880515" y="33581742"/>
              <a:ext cx="2915000" cy="742000"/>
            </a:xfrm>
            <a:prstGeom prst="can">
              <a:avLst/>
            </a:prstGeom>
            <a:solidFill>
              <a:srgbClr val="F2F2F2"/>
            </a:solidFill>
            <a:ln w="22225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003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문서 저장소</a:t>
              </a:r>
            </a:p>
          </p:txBody>
        </p:sp>
        <p:sp>
          <p:nvSpPr>
            <p:cNvPr id="5015" name="도형"/>
            <p:cNvSpPr/>
            <p:nvPr/>
          </p:nvSpPr>
          <p:spPr>
            <a:xfrm>
              <a:off x="2354515" y="34896142"/>
              <a:ext cx="10600000" cy="3180000"/>
            </a:xfrm>
            <a:prstGeom prst="rect">
              <a:avLst/>
            </a:prstGeom>
            <a:noFill/>
            <a:ln w="19050">
              <a:solidFill>
                <a:srgbClr val="888888"/>
              </a:solidFill>
              <a:prstDash val="dash"/>
            </a:ln>
          </p:spPr>
          <p:txBody>
            <a:bodyPr wrap="square" lIns="84800" tIns="42400" rIns="84800" bIns="42400" anchor="ctr">
              <a:noAutofit/>
            </a:bodyPr>
            <a:lstStyle/>
            <a:p>
              <a:endParaRPr lang="ko-KR"/>
            </a:p>
          </p:txBody>
        </p:sp>
        <p:sp>
          <p:nvSpPr>
            <p:cNvPr id="5016" name="글상자"/>
            <p:cNvSpPr/>
            <p:nvPr/>
          </p:nvSpPr>
          <p:spPr>
            <a:xfrm>
              <a:off x="2460515" y="34959742"/>
              <a:ext cx="10388000" cy="392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1200" tIns="10600" rIns="21200" bIns="1060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2087" b="1" dirty="0">
                  <a:solidFill>
                    <a:srgbClr val="1F3A5F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(c) 질문 응답 (RAG)</a:t>
              </a:r>
            </a:p>
          </p:txBody>
        </p:sp>
        <p:sp>
          <p:nvSpPr>
            <p:cNvPr id="5017" name="도형"/>
            <p:cNvSpPr/>
            <p:nvPr/>
          </p:nvSpPr>
          <p:spPr>
            <a:xfrm>
              <a:off x="2502915" y="35553342"/>
              <a:ext cx="1823200" cy="1484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337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사용자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200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질문</a:t>
              </a:r>
            </a:p>
          </p:txBody>
        </p:sp>
        <p:sp>
          <p:nvSpPr>
            <p:cNvPr id="5018" name="도형"/>
            <p:cNvSpPr/>
            <p:nvPr/>
          </p:nvSpPr>
          <p:spPr>
            <a:xfrm>
              <a:off x="4622915" y="35553342"/>
              <a:ext cx="1823200" cy="1484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44450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170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질문 해석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586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의도 CQ1~6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586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댐 · 시점</a:t>
              </a:r>
            </a:p>
          </p:txBody>
        </p:sp>
        <p:sp>
          <p:nvSpPr>
            <p:cNvPr id="5019" name="도형"/>
            <p:cNvSpPr/>
            <p:nvPr/>
          </p:nvSpPr>
          <p:spPr>
            <a:xfrm>
              <a:off x="6742915" y="35553342"/>
              <a:ext cx="1823200" cy="1484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170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근거 검색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586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입력 확인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586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KG · 저장소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586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조회</a:t>
              </a:r>
            </a:p>
          </p:txBody>
        </p:sp>
        <p:sp>
          <p:nvSpPr>
            <p:cNvPr id="5020" name="도형"/>
            <p:cNvSpPr/>
            <p:nvPr/>
          </p:nvSpPr>
          <p:spPr>
            <a:xfrm>
              <a:off x="8862915" y="35553342"/>
              <a:ext cx="1823200" cy="1484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170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근거 묶음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586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출처 번호 부착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586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원값 근거</a:t>
              </a:r>
            </a:p>
          </p:txBody>
        </p:sp>
        <p:sp>
          <p:nvSpPr>
            <p:cNvPr id="5021" name="도형"/>
            <p:cNvSpPr/>
            <p:nvPr/>
          </p:nvSpPr>
          <p:spPr>
            <a:xfrm>
              <a:off x="10982915" y="35553342"/>
              <a:ext cx="1823200" cy="148400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44450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170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답변 생성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586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근거 / 판단</a:t>
              </a:r>
            </a:p>
            <a:p>
              <a:pPr algn="ctr">
                <a:lnSpc>
                  <a:spcPct val="100000"/>
                </a:lnSpc>
              </a:pPr>
              <a:r>
                <a:rPr lang="ko-KR" altLang="en-US" sz="1586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분리 작성</a:t>
              </a:r>
            </a:p>
          </p:txBody>
        </p:sp>
        <p:cxnSp>
          <p:nvCxnSpPr>
            <p:cNvPr id="5022" name="선"/>
            <p:cNvCxnSpPr/>
            <p:nvPr/>
          </p:nvCxnSpPr>
          <p:spPr>
            <a:xfrm>
              <a:off x="4347315" y="36295342"/>
              <a:ext cx="254400" cy="0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cxnSp>
          <p:nvCxnSpPr>
            <p:cNvPr id="5023" name="선"/>
            <p:cNvCxnSpPr/>
            <p:nvPr/>
          </p:nvCxnSpPr>
          <p:spPr>
            <a:xfrm>
              <a:off x="6467315" y="36295342"/>
              <a:ext cx="254400" cy="0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cxnSp>
          <p:nvCxnSpPr>
            <p:cNvPr id="5024" name="선"/>
            <p:cNvCxnSpPr/>
            <p:nvPr/>
          </p:nvCxnSpPr>
          <p:spPr>
            <a:xfrm>
              <a:off x="8587315" y="36295342"/>
              <a:ext cx="254400" cy="0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cxnSp>
          <p:nvCxnSpPr>
            <p:cNvPr id="5025" name="선"/>
            <p:cNvCxnSpPr/>
            <p:nvPr/>
          </p:nvCxnSpPr>
          <p:spPr>
            <a:xfrm>
              <a:off x="10707315" y="36295342"/>
              <a:ext cx="254400" cy="0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cxnSp>
          <p:nvCxnSpPr>
            <p:cNvPr id="5026" name="선"/>
            <p:cNvCxnSpPr/>
            <p:nvPr/>
          </p:nvCxnSpPr>
          <p:spPr>
            <a:xfrm>
              <a:off x="11343315" y="34344942"/>
              <a:ext cx="0" cy="360400"/>
            </a:xfrm>
            <a:prstGeom prst="line">
              <a:avLst/>
            </a:prstGeom>
            <a:ln w="25400">
              <a:solidFill>
                <a:srgbClr val="555555"/>
              </a:solidFill>
              <a:prstDash val="dash"/>
            </a:ln>
          </p:spPr>
        </p:cxnSp>
        <p:cxnSp>
          <p:nvCxnSpPr>
            <p:cNvPr id="5027" name="선"/>
            <p:cNvCxnSpPr/>
            <p:nvPr/>
          </p:nvCxnSpPr>
          <p:spPr>
            <a:xfrm flipH="1">
              <a:off x="7654515" y="34705342"/>
              <a:ext cx="3688800" cy="0"/>
            </a:xfrm>
            <a:prstGeom prst="line">
              <a:avLst/>
            </a:prstGeom>
            <a:ln w="25400">
              <a:solidFill>
                <a:srgbClr val="555555"/>
              </a:solidFill>
              <a:prstDash val="dash"/>
            </a:ln>
          </p:spPr>
        </p:cxnSp>
        <p:cxnSp>
          <p:nvCxnSpPr>
            <p:cNvPr id="5028" name="선"/>
            <p:cNvCxnSpPr/>
            <p:nvPr/>
          </p:nvCxnSpPr>
          <p:spPr>
            <a:xfrm>
              <a:off x="7654515" y="34705342"/>
              <a:ext cx="0" cy="826800"/>
            </a:xfrm>
            <a:prstGeom prst="line">
              <a:avLst/>
            </a:prstGeom>
            <a:ln w="25400">
              <a:solidFill>
                <a:srgbClr val="555555"/>
              </a:solidFill>
              <a:prstDash val="dash"/>
              <a:tailEnd type="triangle" w="med" len="med"/>
            </a:ln>
          </p:spPr>
        </p:cxnSp>
        <p:sp>
          <p:nvSpPr>
            <p:cNvPr id="5029" name="글상자"/>
            <p:cNvSpPr/>
            <p:nvPr/>
          </p:nvSpPr>
          <p:spPr>
            <a:xfrm>
              <a:off x="7866515" y="34768942"/>
              <a:ext cx="3180000" cy="296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1200" tIns="10600" rIns="21200" bIns="10600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669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저장소에서 읽어 옴</a:t>
              </a:r>
            </a:p>
          </p:txBody>
        </p:sp>
        <p:sp>
          <p:nvSpPr>
            <p:cNvPr id="5030" name="도형"/>
            <p:cNvSpPr/>
            <p:nvPr/>
          </p:nvSpPr>
          <p:spPr>
            <a:xfrm>
              <a:off x="4622915" y="37206942"/>
              <a:ext cx="1823200" cy="424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44450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003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LLM</a:t>
              </a:r>
            </a:p>
          </p:txBody>
        </p:sp>
        <p:sp>
          <p:nvSpPr>
            <p:cNvPr id="5031" name="도형"/>
            <p:cNvSpPr/>
            <p:nvPr/>
          </p:nvSpPr>
          <p:spPr>
            <a:xfrm>
              <a:off x="6742915" y="37206942"/>
              <a:ext cx="3943200" cy="424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003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자동화 (코드)</a:t>
              </a:r>
            </a:p>
          </p:txBody>
        </p:sp>
        <p:sp>
          <p:nvSpPr>
            <p:cNvPr id="5032" name="도형"/>
            <p:cNvSpPr/>
            <p:nvPr/>
          </p:nvSpPr>
          <p:spPr>
            <a:xfrm>
              <a:off x="10982915" y="37206942"/>
              <a:ext cx="1823200" cy="424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44450">
              <a:solidFill>
                <a:srgbClr val="262626"/>
              </a:solidFill>
            </a:ln>
          </p:spPr>
          <p:txBody>
            <a:bodyPr wrap="square" lIns="84800" tIns="42400" rIns="84800" bIns="424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2003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LLM</a:t>
              </a:r>
            </a:p>
          </p:txBody>
        </p:sp>
        <p:sp>
          <p:nvSpPr>
            <p:cNvPr id="5033" name="글상자"/>
            <p:cNvSpPr/>
            <p:nvPr/>
          </p:nvSpPr>
          <p:spPr>
            <a:xfrm>
              <a:off x="2354515" y="37715742"/>
              <a:ext cx="10600000" cy="318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1200" tIns="10600" rIns="21200" bIns="106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1753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굵은 테두리: LLM,  가는 테두리: 정해진 규칙으로 동작하는 코드</a:t>
              </a:r>
            </a:p>
          </p:txBody>
        </p:sp>
      </p:grpSp>
      <p:sp>
        <p:nvSpPr>
          <p:cNvPr id="1018" name="본문"/>
          <p:cNvSpPr txBox="1"/>
          <p:nvPr/>
        </p:nvSpPr>
        <p:spPr>
          <a:xfrm>
            <a:off x="597946" y="38348142"/>
            <a:ext cx="14113138" cy="6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2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1. 연구의 구성</a:t>
            </a:r>
          </a:p>
        </p:txBody>
      </p:sp>
      <p:sp>
        <p:nvSpPr>
          <p:cNvPr id="1019" name="본문"/>
          <p:cNvSpPr txBox="1"/>
          <p:nvPr/>
        </p:nvSpPr>
        <p:spPr>
          <a:xfrm>
            <a:off x="597946" y="38948142"/>
            <a:ext cx="14113138" cy="202114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 구축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원자료 4종을 6단계로 처리하고, 측정값과 원문은 KG 밖 저장소에 둠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검색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의도로 KG·저장소에서 근거를 모아 출처 번호가 붙은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묶음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을 만드는 일은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코드로 자동화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은 질문 해석과 답변 생성만 맡고, 비교·판단은 LLM이 하되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근거와 판단을 나누어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표시함</a:t>
            </a:r>
          </a:p>
        </p:txBody>
      </p:sp>
      <p:sp>
        <p:nvSpPr>
          <p:cNvPr id="1020" name="직사각형 1"/>
          <p:cNvSpPr/>
          <p:nvPr/>
        </p:nvSpPr>
        <p:spPr>
          <a:xfrm>
            <a:off x="15691431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KG 구축</a:t>
            </a:r>
          </a:p>
        </p:txBody>
      </p:sp>
      <p:sp>
        <p:nvSpPr>
          <p:cNvPr id="1021" name="본문"/>
          <p:cNvSpPr txBox="1"/>
          <p:nvPr/>
        </p:nvSpPr>
        <p:spPr>
          <a:xfrm>
            <a:off x="15570184" y="7493024"/>
            <a:ext cx="14113138" cy="194494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6단계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전처리 → 구조화 자료 매핑 → 문서 자료 추출 → 관계 연결 → 검증 → 저장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 기록 한 행은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Approval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과 근거자료로, 비고에서 규칙으로 읽은 운영행위는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Operation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으로, 별표3의 제한수위는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Criterion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으로 만듦. 측정값은 KG에 넣지 않고 찾아가는 키(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stationCode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)만 둠</a:t>
            </a:r>
          </a:p>
        </p:txBody>
      </p:sp>
      <p:grpSp>
        <p:nvGrpSpPr>
          <p:cNvPr id="5075" name="그림2 KG 예시"/>
          <p:cNvGrpSpPr/>
          <p:nvPr/>
        </p:nvGrpSpPr>
        <p:grpSpPr>
          <a:xfrm>
            <a:off x="17026753" y="9437969"/>
            <a:ext cx="11200000" cy="6987156"/>
            <a:chOff x="17026753" y="9437969"/>
            <a:chExt cx="11200000" cy="6987156"/>
          </a:xfrm>
        </p:grpSpPr>
        <p:sp>
          <p:nvSpPr>
            <p:cNvPr id="5035" name="도형"/>
            <p:cNvSpPr/>
            <p:nvPr/>
          </p:nvSpPr>
          <p:spPr>
            <a:xfrm>
              <a:off x="17489138" y="9437969"/>
              <a:ext cx="4521101" cy="1541284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2202" tIns="41101" rIns="82202" bIns="41101" anchor="ctr">
              <a:noAutofit/>
            </a:bodyPr>
            <a:lstStyle/>
            <a:p>
              <a:endParaRPr lang="ko-KR"/>
            </a:p>
          </p:txBody>
        </p:sp>
        <p:sp>
          <p:nvSpPr>
            <p:cNvPr id="5036" name="도형"/>
            <p:cNvSpPr/>
            <p:nvPr/>
          </p:nvSpPr>
          <p:spPr>
            <a:xfrm>
              <a:off x="17489138" y="9437969"/>
              <a:ext cx="4521101" cy="452110"/>
            </a:xfrm>
            <a:prstGeom prst="rect">
              <a:avLst/>
            </a:prstGeom>
            <a:solidFill>
              <a:srgbClr val="E9EEF5"/>
            </a:solidFill>
            <a:ln w="22225">
              <a:solidFill>
                <a:srgbClr val="262626"/>
              </a:solidFill>
            </a:ln>
          </p:spPr>
          <p:txBody>
            <a:bodyPr wrap="square" lIns="143853" tIns="71926" rIns="143853" bIns="71926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942" b="1" dirty="0">
                  <a:solidFill>
                    <a:srgbClr val="1F4E79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Approval</a:t>
              </a:r>
            </a:p>
          </p:txBody>
        </p:sp>
        <p:sp>
          <p:nvSpPr>
            <p:cNvPr id="5037" name="속성"/>
            <p:cNvSpPr/>
            <p:nvPr/>
          </p:nvSpPr>
          <p:spPr>
            <a:xfrm>
              <a:off x="17489138" y="9910630"/>
              <a:ext cx="4521101" cy="1068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43853" tIns="71926" rIns="143853" bIns="71926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456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APR:1368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approvalTime = 2012-08-24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approvalContent = “방류시작 15:00; 2000㎥/s”</a:t>
              </a:r>
            </a:p>
          </p:txBody>
        </p:sp>
        <p:sp>
          <p:nvSpPr>
            <p:cNvPr id="5038" name="도형"/>
            <p:cNvSpPr/>
            <p:nvPr/>
          </p:nvSpPr>
          <p:spPr>
            <a:xfrm>
              <a:off x="23397395" y="9437969"/>
              <a:ext cx="4521101" cy="1828991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2202" tIns="41101" rIns="82202" bIns="41101" anchor="ctr">
              <a:noAutofit/>
            </a:bodyPr>
            <a:lstStyle/>
            <a:p>
              <a:endParaRPr lang="ko-KR"/>
            </a:p>
          </p:txBody>
        </p:sp>
        <p:sp>
          <p:nvSpPr>
            <p:cNvPr id="5039" name="도형"/>
            <p:cNvSpPr/>
            <p:nvPr/>
          </p:nvSpPr>
          <p:spPr>
            <a:xfrm>
              <a:off x="23397395" y="9437969"/>
              <a:ext cx="4521101" cy="452110"/>
            </a:xfrm>
            <a:prstGeom prst="rect">
              <a:avLst/>
            </a:prstGeom>
            <a:solidFill>
              <a:srgbClr val="E9EEF5"/>
            </a:solidFill>
            <a:ln w="22225">
              <a:solidFill>
                <a:srgbClr val="262626"/>
              </a:solidFill>
            </a:ln>
          </p:spPr>
          <p:txBody>
            <a:bodyPr wrap="square" lIns="143853" tIns="71926" rIns="143853" bIns="71926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942" b="1" dirty="0">
                  <a:solidFill>
                    <a:srgbClr val="1F4E79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Criterion</a:t>
              </a:r>
            </a:p>
          </p:txBody>
        </p:sp>
        <p:sp>
          <p:nvSpPr>
            <p:cNvPr id="5040" name="속성"/>
            <p:cNvSpPr/>
            <p:nvPr/>
          </p:nvSpPr>
          <p:spPr>
            <a:xfrm>
              <a:off x="23397395" y="9910630"/>
              <a:ext cx="4521101" cy="1356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43853" tIns="71926" rIns="143853" bIns="71926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456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CRI:CR-02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criterionType = 홍수기 제한수위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criterionValue = 138.0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unit = EL.m</a:t>
              </a:r>
            </a:p>
          </p:txBody>
        </p:sp>
        <p:sp>
          <p:nvSpPr>
            <p:cNvPr id="5041" name="도형"/>
            <p:cNvSpPr/>
            <p:nvPr/>
          </p:nvSpPr>
          <p:spPr>
            <a:xfrm>
              <a:off x="17489138" y="11842373"/>
              <a:ext cx="4521101" cy="1541284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2202" tIns="41101" rIns="82202" bIns="41101" anchor="ctr">
              <a:noAutofit/>
            </a:bodyPr>
            <a:lstStyle/>
            <a:p>
              <a:endParaRPr lang="ko-KR"/>
            </a:p>
          </p:txBody>
        </p:sp>
        <p:sp>
          <p:nvSpPr>
            <p:cNvPr id="5042" name="도형"/>
            <p:cNvSpPr/>
            <p:nvPr/>
          </p:nvSpPr>
          <p:spPr>
            <a:xfrm>
              <a:off x="17489138" y="11842373"/>
              <a:ext cx="4521101" cy="452110"/>
            </a:xfrm>
            <a:prstGeom prst="rect">
              <a:avLst/>
            </a:prstGeom>
            <a:solidFill>
              <a:srgbClr val="E9EEF5"/>
            </a:solidFill>
            <a:ln w="22225">
              <a:solidFill>
                <a:srgbClr val="262626"/>
              </a:solidFill>
            </a:ln>
          </p:spPr>
          <p:txBody>
            <a:bodyPr wrap="square" lIns="143853" tIns="71926" rIns="143853" bIns="71926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942" b="1" dirty="0">
                  <a:solidFill>
                    <a:srgbClr val="1F4E79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Operation</a:t>
              </a:r>
            </a:p>
          </p:txBody>
        </p:sp>
        <p:sp>
          <p:nvSpPr>
            <p:cNvPr id="5043" name="속성"/>
            <p:cNvSpPr/>
            <p:nvPr/>
          </p:nvSpPr>
          <p:spPr>
            <a:xfrm>
              <a:off x="17489138" y="12315033"/>
              <a:ext cx="4521101" cy="1068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43853" tIns="71926" rIns="143853" bIns="71926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456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OPR:1368:1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operationType = 탄력적 방류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operationTime = 2012-08-24T15:00</a:t>
              </a:r>
            </a:p>
          </p:txBody>
        </p:sp>
        <p:sp>
          <p:nvSpPr>
            <p:cNvPr id="5044" name="도형"/>
            <p:cNvSpPr/>
            <p:nvPr/>
          </p:nvSpPr>
          <p:spPr>
            <a:xfrm>
              <a:off x="23397395" y="11842373"/>
              <a:ext cx="4521101" cy="1541284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2202" tIns="41101" rIns="82202" bIns="41101" anchor="ctr">
              <a:noAutofit/>
            </a:bodyPr>
            <a:lstStyle/>
            <a:p>
              <a:endParaRPr lang="ko-KR"/>
            </a:p>
          </p:txBody>
        </p:sp>
        <p:sp>
          <p:nvSpPr>
            <p:cNvPr id="5045" name="도형"/>
            <p:cNvSpPr/>
            <p:nvPr/>
          </p:nvSpPr>
          <p:spPr>
            <a:xfrm>
              <a:off x="23397395" y="11842373"/>
              <a:ext cx="4521101" cy="452110"/>
            </a:xfrm>
            <a:prstGeom prst="rect">
              <a:avLst/>
            </a:prstGeom>
            <a:solidFill>
              <a:srgbClr val="E9EEF5"/>
            </a:solidFill>
            <a:ln w="22225">
              <a:solidFill>
                <a:srgbClr val="262626"/>
              </a:solidFill>
            </a:ln>
          </p:spPr>
          <p:txBody>
            <a:bodyPr wrap="square" lIns="143853" tIns="71926" rIns="143853" bIns="71926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942" b="1" dirty="0">
                  <a:solidFill>
                    <a:srgbClr val="1F4E79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Dam</a:t>
              </a:r>
            </a:p>
          </p:txBody>
        </p:sp>
        <p:sp>
          <p:nvSpPr>
            <p:cNvPr id="5046" name="속성"/>
            <p:cNvSpPr/>
            <p:nvPr/>
          </p:nvSpPr>
          <p:spPr>
            <a:xfrm>
              <a:off x="23397395" y="12315033"/>
              <a:ext cx="4521101" cy="1068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43853" tIns="71926" rIns="143853" bIns="71926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456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DAM:1003110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damName = 충주댐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damType = 다목적댐</a:t>
              </a:r>
            </a:p>
          </p:txBody>
        </p:sp>
        <p:sp>
          <p:nvSpPr>
            <p:cNvPr id="5047" name="도형"/>
            <p:cNvSpPr/>
            <p:nvPr/>
          </p:nvSpPr>
          <p:spPr>
            <a:xfrm>
              <a:off x="17489138" y="13959070"/>
              <a:ext cx="4521101" cy="1828991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2202" tIns="41101" rIns="82202" bIns="41101" anchor="ctr">
              <a:noAutofit/>
            </a:bodyPr>
            <a:lstStyle/>
            <a:p>
              <a:endParaRPr lang="ko-KR"/>
            </a:p>
          </p:txBody>
        </p:sp>
        <p:sp>
          <p:nvSpPr>
            <p:cNvPr id="5048" name="도형"/>
            <p:cNvSpPr/>
            <p:nvPr/>
          </p:nvSpPr>
          <p:spPr>
            <a:xfrm>
              <a:off x="17489138" y="13959070"/>
              <a:ext cx="4521101" cy="452110"/>
            </a:xfrm>
            <a:prstGeom prst="rect">
              <a:avLst/>
            </a:prstGeom>
            <a:solidFill>
              <a:srgbClr val="E9EEF5"/>
            </a:solidFill>
            <a:ln w="22225">
              <a:solidFill>
                <a:srgbClr val="262626"/>
              </a:solidFill>
            </a:ln>
          </p:spPr>
          <p:txBody>
            <a:bodyPr wrap="square" lIns="143853" tIns="71926" rIns="143853" bIns="71926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942" b="1" dirty="0">
                  <a:solidFill>
                    <a:srgbClr val="1F4E79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EvidenceSource</a:t>
              </a:r>
            </a:p>
          </p:txBody>
        </p:sp>
        <p:sp>
          <p:nvSpPr>
            <p:cNvPr id="5049" name="속성"/>
            <p:cNvSpPr/>
            <p:nvPr/>
          </p:nvSpPr>
          <p:spPr>
            <a:xfrm>
              <a:off x="17489138" y="14431730"/>
              <a:ext cx="4521101" cy="1356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43853" tIns="71926" rIns="143853" bIns="71926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456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EVI:AP:1368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sourceTitle = 홍수예보 댐방류승인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sourceType = 승인자료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sourceLocator = 순차번호 1368</a:t>
              </a:r>
            </a:p>
          </p:txBody>
        </p:sp>
        <p:sp>
          <p:nvSpPr>
            <p:cNvPr id="5050" name="도형"/>
            <p:cNvSpPr/>
            <p:nvPr/>
          </p:nvSpPr>
          <p:spPr>
            <a:xfrm>
              <a:off x="23397395" y="13959070"/>
              <a:ext cx="4521101" cy="1541284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262626"/>
              </a:solidFill>
            </a:ln>
          </p:spPr>
          <p:txBody>
            <a:bodyPr wrap="square" lIns="82202" tIns="41101" rIns="82202" bIns="41101" anchor="ctr">
              <a:noAutofit/>
            </a:bodyPr>
            <a:lstStyle/>
            <a:p>
              <a:endParaRPr lang="ko-KR"/>
            </a:p>
          </p:txBody>
        </p:sp>
        <p:sp>
          <p:nvSpPr>
            <p:cNvPr id="5051" name="도형"/>
            <p:cNvSpPr/>
            <p:nvPr/>
          </p:nvSpPr>
          <p:spPr>
            <a:xfrm>
              <a:off x="23397395" y="13959070"/>
              <a:ext cx="4521101" cy="452110"/>
            </a:xfrm>
            <a:prstGeom prst="rect">
              <a:avLst/>
            </a:prstGeom>
            <a:solidFill>
              <a:srgbClr val="E9EEF5"/>
            </a:solidFill>
            <a:ln w="22225">
              <a:solidFill>
                <a:srgbClr val="262626"/>
              </a:solidFill>
            </a:ln>
          </p:spPr>
          <p:txBody>
            <a:bodyPr wrap="square" lIns="143853" tIns="71926" rIns="143853" bIns="71926" anchor="ctr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942" b="1" dirty="0">
                  <a:solidFill>
                    <a:srgbClr val="1F4E79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HydrometeorologicalState</a:t>
              </a:r>
            </a:p>
          </p:txBody>
        </p:sp>
        <p:sp>
          <p:nvSpPr>
            <p:cNvPr id="5052" name="속성"/>
            <p:cNvSpPr/>
            <p:nvPr/>
          </p:nvSpPr>
          <p:spPr>
            <a:xfrm>
              <a:off x="23397395" y="14431730"/>
              <a:ext cx="4521101" cy="1068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43853" tIns="71926" rIns="143853" bIns="71926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lang="ko-KR" altLang="en-US" sz="1456" b="1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HMS:1003110:수위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variableType = 수위</a:t>
              </a:r>
            </a:p>
            <a:p>
              <a:pPr algn="l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stationCode = 1003110</a:t>
              </a:r>
            </a:p>
          </p:txBody>
        </p:sp>
        <p:cxnSp>
          <p:nvCxnSpPr>
            <p:cNvPr id="5053" name="선"/>
            <p:cNvCxnSpPr/>
            <p:nvPr/>
          </p:nvCxnSpPr>
          <p:spPr>
            <a:xfrm>
              <a:off x="19749689" y="10999804"/>
              <a:ext cx="0" cy="822018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sp>
          <p:nvSpPr>
            <p:cNvPr id="5054" name="글상자"/>
            <p:cNvSpPr/>
            <p:nvPr/>
          </p:nvSpPr>
          <p:spPr>
            <a:xfrm>
              <a:off x="20012735" y="11202226"/>
              <a:ext cx="1117945" cy="27332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0550" tIns="10275" rIns="20550" bIns="10275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1537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authorizes</a:t>
              </a:r>
            </a:p>
          </p:txBody>
        </p:sp>
        <p:cxnSp>
          <p:nvCxnSpPr>
            <p:cNvPr id="5055" name="선"/>
            <p:cNvCxnSpPr/>
            <p:nvPr/>
          </p:nvCxnSpPr>
          <p:spPr>
            <a:xfrm>
              <a:off x="22030790" y="10362740"/>
              <a:ext cx="1346055" cy="1890642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sp>
          <p:nvSpPr>
            <p:cNvPr id="5056" name="글상자"/>
            <p:cNvSpPr/>
            <p:nvPr/>
          </p:nvSpPr>
          <p:spPr>
            <a:xfrm>
              <a:off x="22139913" y="10849786"/>
              <a:ext cx="1179185" cy="25893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0550" tIns="10275" rIns="20550" bIns="10275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concernsDam</a:t>
              </a:r>
            </a:p>
          </p:txBody>
        </p:sp>
        <p:cxnSp>
          <p:nvCxnSpPr>
            <p:cNvPr id="5057" name="선"/>
            <p:cNvCxnSpPr/>
            <p:nvPr/>
          </p:nvCxnSpPr>
          <p:spPr>
            <a:xfrm>
              <a:off x="22030790" y="12767143"/>
              <a:ext cx="1346055" cy="0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sp>
          <p:nvSpPr>
            <p:cNvPr id="5058" name="글상자"/>
            <p:cNvSpPr/>
            <p:nvPr/>
          </p:nvSpPr>
          <p:spPr>
            <a:xfrm>
              <a:off x="22081138" y="12433198"/>
              <a:ext cx="1255633" cy="215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0550" tIns="10275" rIns="20550" bIns="10275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1214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performedOnDam</a:t>
              </a:r>
            </a:p>
          </p:txBody>
        </p:sp>
        <p:cxnSp>
          <p:nvCxnSpPr>
            <p:cNvPr id="5059" name="선"/>
            <p:cNvCxnSpPr/>
            <p:nvPr/>
          </p:nvCxnSpPr>
          <p:spPr>
            <a:xfrm>
              <a:off x="25657946" y="11287510"/>
              <a:ext cx="0" cy="534312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sp>
          <p:nvSpPr>
            <p:cNvPr id="5060" name="글상자"/>
            <p:cNvSpPr/>
            <p:nvPr/>
          </p:nvSpPr>
          <p:spPr>
            <a:xfrm>
              <a:off x="25851325" y="11489932"/>
              <a:ext cx="1360029" cy="27332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0550" tIns="10275" rIns="20550" bIns="10275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1537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appliesToDam</a:t>
              </a:r>
            </a:p>
          </p:txBody>
        </p:sp>
        <p:cxnSp>
          <p:nvCxnSpPr>
            <p:cNvPr id="5061" name="선"/>
            <p:cNvCxnSpPr/>
            <p:nvPr/>
          </p:nvCxnSpPr>
          <p:spPr>
            <a:xfrm>
              <a:off x="25657946" y="13404208"/>
              <a:ext cx="0" cy="534312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sp>
          <p:nvSpPr>
            <p:cNvPr id="5062" name="글상자"/>
            <p:cNvSpPr/>
            <p:nvPr/>
          </p:nvSpPr>
          <p:spPr>
            <a:xfrm>
              <a:off x="25669043" y="13628208"/>
              <a:ext cx="2443861" cy="23016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0550" tIns="10275" rIns="20550" bIns="10275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1295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hasHydrometeorologicalState</a:t>
              </a:r>
            </a:p>
          </p:txBody>
        </p:sp>
        <p:cxnSp>
          <p:nvCxnSpPr>
            <p:cNvPr id="5063" name="선"/>
            <p:cNvCxnSpPr/>
            <p:nvPr/>
          </p:nvCxnSpPr>
          <p:spPr>
            <a:xfrm>
              <a:off x="19749689" y="13404208"/>
              <a:ext cx="0" cy="534312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sp>
          <p:nvSpPr>
            <p:cNvPr id="5064" name="글상자"/>
            <p:cNvSpPr/>
            <p:nvPr/>
          </p:nvSpPr>
          <p:spPr>
            <a:xfrm>
              <a:off x="19849461" y="13606630"/>
              <a:ext cx="1238987" cy="27332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0550" tIns="10275" rIns="20550" bIns="10275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1537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supportedBy</a:t>
              </a:r>
            </a:p>
          </p:txBody>
        </p:sp>
        <p:cxnSp>
          <p:nvCxnSpPr>
            <p:cNvPr id="5065" name="선"/>
            <p:cNvCxnSpPr/>
            <p:nvPr/>
          </p:nvCxnSpPr>
          <p:spPr>
            <a:xfrm flipH="1">
              <a:off x="22030790" y="14883841"/>
              <a:ext cx="1346055" cy="0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sp>
          <p:nvSpPr>
            <p:cNvPr id="5066" name="글상자"/>
            <p:cNvSpPr/>
            <p:nvPr/>
          </p:nvSpPr>
          <p:spPr>
            <a:xfrm>
              <a:off x="22119362" y="14528318"/>
              <a:ext cx="1179185" cy="25893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20550" tIns="10275" rIns="20550" bIns="10275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1456" b="0" dirty="0">
                  <a:solidFill>
                    <a:srgbClr val="222222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supportedBy</a:t>
              </a:r>
            </a:p>
          </p:txBody>
        </p:sp>
        <p:cxnSp>
          <p:nvCxnSpPr>
            <p:cNvPr id="5067" name="선"/>
            <p:cNvCxnSpPr/>
            <p:nvPr/>
          </p:nvCxnSpPr>
          <p:spPr>
            <a:xfrm flipH="1">
              <a:off x="17211707" y="10157235"/>
              <a:ext cx="277431" cy="0"/>
            </a:xfrm>
            <a:prstGeom prst="line">
              <a:avLst/>
            </a:prstGeom>
            <a:ln w="31750">
              <a:solidFill>
                <a:srgbClr val="3B4A63"/>
              </a:solidFill>
            </a:ln>
          </p:spPr>
        </p:cxnSp>
        <p:cxnSp>
          <p:nvCxnSpPr>
            <p:cNvPr id="5068" name="선"/>
            <p:cNvCxnSpPr/>
            <p:nvPr/>
          </p:nvCxnSpPr>
          <p:spPr>
            <a:xfrm>
              <a:off x="17211707" y="10157235"/>
              <a:ext cx="0" cy="5034862"/>
            </a:xfrm>
            <a:prstGeom prst="line">
              <a:avLst/>
            </a:prstGeom>
            <a:ln w="31750">
              <a:solidFill>
                <a:srgbClr val="3B4A63"/>
              </a:solidFill>
            </a:ln>
          </p:spPr>
        </p:cxnSp>
        <p:cxnSp>
          <p:nvCxnSpPr>
            <p:cNvPr id="5069" name="선"/>
            <p:cNvCxnSpPr/>
            <p:nvPr/>
          </p:nvCxnSpPr>
          <p:spPr>
            <a:xfrm>
              <a:off x="17211707" y="15192097"/>
              <a:ext cx="256881" cy="0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cxnSp>
          <p:nvCxnSpPr>
            <p:cNvPr id="5070" name="선"/>
            <p:cNvCxnSpPr/>
            <p:nvPr/>
          </p:nvCxnSpPr>
          <p:spPr>
            <a:xfrm>
              <a:off x="27918496" y="10157235"/>
              <a:ext cx="102752" cy="0"/>
            </a:xfrm>
            <a:prstGeom prst="line">
              <a:avLst/>
            </a:prstGeom>
            <a:ln w="31750">
              <a:solidFill>
                <a:srgbClr val="3B4A63"/>
              </a:solidFill>
            </a:ln>
          </p:spPr>
        </p:cxnSp>
        <p:cxnSp>
          <p:nvCxnSpPr>
            <p:cNvPr id="5071" name="선"/>
            <p:cNvCxnSpPr/>
            <p:nvPr/>
          </p:nvCxnSpPr>
          <p:spPr>
            <a:xfrm>
              <a:off x="28021248" y="10157235"/>
              <a:ext cx="0" cy="5918532"/>
            </a:xfrm>
            <a:prstGeom prst="line">
              <a:avLst/>
            </a:prstGeom>
            <a:ln w="31750">
              <a:solidFill>
                <a:srgbClr val="3B4A63"/>
              </a:solidFill>
            </a:ln>
          </p:spPr>
        </p:cxnSp>
        <p:cxnSp>
          <p:nvCxnSpPr>
            <p:cNvPr id="5072" name="선"/>
            <p:cNvCxnSpPr/>
            <p:nvPr/>
          </p:nvCxnSpPr>
          <p:spPr>
            <a:xfrm flipH="1">
              <a:off x="20571707" y="16075767"/>
              <a:ext cx="7449541" cy="0"/>
            </a:xfrm>
            <a:prstGeom prst="line">
              <a:avLst/>
            </a:prstGeom>
            <a:ln w="31750">
              <a:solidFill>
                <a:srgbClr val="3B4A63"/>
              </a:solidFill>
            </a:ln>
          </p:spPr>
        </p:cxnSp>
        <p:cxnSp>
          <p:nvCxnSpPr>
            <p:cNvPr id="5073" name="선"/>
            <p:cNvCxnSpPr/>
            <p:nvPr/>
          </p:nvCxnSpPr>
          <p:spPr>
            <a:xfrm flipV="1">
              <a:off x="20571707" y="15808611"/>
              <a:ext cx="0" cy="267156"/>
            </a:xfrm>
            <a:prstGeom prst="line">
              <a:avLst/>
            </a:prstGeom>
            <a:ln w="31750">
              <a:solidFill>
                <a:srgbClr val="3B4A63"/>
              </a:solidFill>
              <a:tailEnd type="triangle" w="med" len="med"/>
            </a:ln>
          </p:spPr>
        </p:cxnSp>
        <p:sp>
          <p:nvSpPr>
            <p:cNvPr id="5074" name="글상자"/>
            <p:cNvSpPr/>
            <p:nvPr/>
          </p:nvSpPr>
          <p:spPr>
            <a:xfrm>
              <a:off x="17026753" y="16199070"/>
              <a:ext cx="11200000" cy="28770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20550" tIns="10275" rIns="20550" bIns="10275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ko-KR" altLang="en-US" sz="1618" b="0" dirty="0">
                  <a:solidFill>
                    <a:srgbClr val="444444"/>
                  </a:solidFill>
                  <a:latin typeface="나눔고딕" pitchFamily="50" charset="-127"/>
                  <a:ea typeface="나눔고딕" pitchFamily="50" charset="-127"/>
                  <a:cs typeface="Arial" panose="020B0604020202020204" pitchFamily="34" charset="0"/>
                </a:rPr>
                <a:t>카드: Class 이름, 개체(Entity) ID, Data Property = 값.   화살표: 관계(Relation) 9종류</a:t>
              </a:r>
            </a:p>
          </p:txBody>
        </p:sp>
      </p:grpSp>
      <p:sp>
        <p:nvSpPr>
          <p:cNvPr id="1022" name="본문"/>
          <p:cNvSpPr txBox="1"/>
          <p:nvPr/>
        </p:nvSpPr>
        <p:spPr>
          <a:xfrm>
            <a:off x="15570184" y="16485125"/>
            <a:ext cx="14113138" cy="6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2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2. 지식그래프의 일부: 충주댐 승인 1368번</a:t>
            </a:r>
          </a:p>
        </p:txBody>
      </p:sp>
      <p:sp>
        <p:nvSpPr>
          <p:cNvPr id="1023" name="본문"/>
          <p:cNvSpPr txBox="1"/>
          <p:nvPr/>
        </p:nvSpPr>
        <p:spPr>
          <a:xfrm>
            <a:off x="15570184" y="17085125"/>
            <a:ext cx="14113138" cy="1005551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개체 264, 관계 418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. 검증에서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승인–댐 관계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의 부재를 발견해 추가하여 승인 80건 모두 댐에서 도달 가능함</a:t>
            </a:r>
          </a:p>
        </p:txBody>
      </p:sp>
      <p:sp>
        <p:nvSpPr>
          <p:cNvPr id="1024" name="직사각형 1"/>
          <p:cNvSpPr/>
          <p:nvPr/>
        </p:nvSpPr>
        <p:spPr>
          <a:xfrm>
            <a:off x="15691431" y="18290676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근거 검색과 근거 묶음</a:t>
            </a:r>
          </a:p>
        </p:txBody>
      </p:sp>
      <p:sp>
        <p:nvSpPr>
          <p:cNvPr id="1025" name="본문"/>
          <p:cNvSpPr txBox="1"/>
          <p:nvPr/>
        </p:nvSpPr>
        <p:spPr>
          <a:xfrm>
            <a:off x="15570184" y="19433700"/>
            <a:ext cx="14113138" cy="1005551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LLM이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의도(복수 가능)·댐·시점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을 뽑아 넘기면 코드가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① 입력 확인 → ② KG 조회(의도별 Cypher) → ③ 측정값·원문 조회 → ④ 근거 묶음 구성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순으로 근거를 모음</a:t>
            </a:r>
          </a:p>
        </p:txBody>
      </p:sp>
      <p:sp>
        <p:nvSpPr>
          <p:cNvPr id="1026" name="직사각형 415"/>
          <p:cNvSpPr/>
          <p:nvPr/>
        </p:nvSpPr>
        <p:spPr>
          <a:xfrm>
            <a:off x="15803042" y="20499251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3. 근거 묶음의 구성 (충주댐 전체 질문)</a:t>
            </a:r>
          </a:p>
        </p:txBody>
      </p:sp>
      <p:graphicFrame>
        <p:nvGraphicFramePr>
          <p:cNvPr id="1027" name="표"/>
          <p:cNvGraphicFramePr>
            <a:graphicFrameLocks noGrp="1"/>
          </p:cNvGraphicFramePr>
          <p:nvPr/>
        </p:nvGraphicFramePr>
        <p:xfrm>
          <a:off x="15670184" y="21235236"/>
          <a:ext cx="13500000" cy="3463000"/>
        </p:xfrm>
        <a:graphic>
          <a:graphicData uri="http://schemas.openxmlformats.org/drawingml/2006/table">
            <a:tbl>
              <a:tblPr firstRow="1" bandRow="1"/>
              <a:tblGrid>
                <a:gridCol w="3700000"/>
                <a:gridCol w="3300000"/>
                <a:gridCol w="6500000"/>
              </a:tblGrid>
              <a:tr h="451625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근거 구역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출처 번호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충주댐의 경우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1 현재 상태 (CQ1)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[MEA:코드:시각]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2026-09-28 23:00, 수위 131.6689 EL.m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 운영기준 (CQ5)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[CRI:번호]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제한수위 138.0 EL.m, 별표3 원문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753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3 운영행위·승인 (CQ3)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[OPR] ← [APR]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운영행위 14개 (예: 2012-08-24 탄력적 방류 ← 승인 1368)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 운영 시각 상태 (CQ2)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[MEA:코드:시각]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각 운영행위 시각의 6개 변수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5 방류 승인 (CQ4)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[APR:번호]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 15건 (예: 승인 1368, 접수방류량 2000㎥/s)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6 출처 (CQ6)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[EVI:…]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한강홍수통제소 승인 기록, 순차번호 1368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028" name="직사각형 1"/>
          <p:cNvSpPr/>
          <p:nvPr/>
        </p:nvSpPr>
        <p:spPr>
          <a:xfrm>
            <a:off x="15691431" y="24898236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답변 생성</a:t>
            </a:r>
          </a:p>
        </p:txBody>
      </p:sp>
      <p:sp>
        <p:nvSpPr>
          <p:cNvPr id="1029" name="본문"/>
          <p:cNvSpPr txBox="1"/>
          <p:nvPr/>
        </p:nvSpPr>
        <p:spPr>
          <a:xfrm>
            <a:off x="15570184" y="26041260"/>
            <a:ext cx="14113138" cy="1005551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LLM에는 근거 묶음과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사용 원칙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(① 근거만 사실로 쓰고 출처 번호를 붙임 ② 비교·해석은 LLM의 판단임을 밝히고 근거를 적음 ③ 근거에 없으면 “자료에 없음”)을 전달함</a:t>
            </a:r>
          </a:p>
        </p:txBody>
      </p:sp>
      <p:sp>
        <p:nvSpPr>
          <p:cNvPr id="1030" name="직사각형 415"/>
          <p:cNvSpPr/>
          <p:nvPr/>
        </p:nvSpPr>
        <p:spPr>
          <a:xfrm>
            <a:off x="15803042" y="27046811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4. 답변의 구성: 근거와 판단의 구분</a:t>
            </a:r>
          </a:p>
        </p:txBody>
      </p:sp>
      <p:graphicFrame>
        <p:nvGraphicFramePr>
          <p:cNvPr id="1031" name="표"/>
          <p:cNvGraphicFramePr>
            <a:graphicFrameLocks noGrp="1"/>
          </p:cNvGraphicFramePr>
          <p:nvPr/>
        </p:nvGraphicFramePr>
        <p:xfrm>
          <a:off x="15670184" y="27782796"/>
          <a:ext cx="13500000" cy="3011375"/>
        </p:xfrm>
        <a:graphic>
          <a:graphicData uri="http://schemas.openxmlformats.org/drawingml/2006/table">
            <a:tbl>
              <a:tblPr firstRow="1" bandRow="1"/>
              <a:tblGrid>
                <a:gridCol w="7400000"/>
                <a:gridCol w="1900000"/>
                <a:gridCol w="4200000"/>
              </a:tblGrid>
              <a:tr h="451625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답변의 문장 (예시)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구분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출처 번호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현재(2026-09-28 23:00) 수위는 131.6689 EL.m이다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근거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[MEA:1003110:2026092823]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홍수기 제한수위는 138.0 EL.m이다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근거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[CRI:CR-02]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 수위는 제한수위보다 6.3311 m 낮다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판단 (LLM)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위 두 근거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1625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2020-09-03 12:00 방류 때 수위는 129.69 EL.m였다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근거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[OPR:3771:1]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753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당시 유입량·총방류량이 현재보다 훨씬 커 비슷한 상태로 보기 어렵다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판단 (LLM)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1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위 근거와 현재 상태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2" name="직사각형 1"/>
          <p:cNvSpPr/>
          <p:nvPr/>
        </p:nvSpPr>
        <p:spPr>
          <a:xfrm>
            <a:off x="15691431" y="30994171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결론</a:t>
            </a:r>
          </a:p>
        </p:txBody>
      </p:sp>
      <p:sp>
        <p:nvSpPr>
          <p:cNvPr id="1033" name="본문"/>
          <p:cNvSpPr txBox="1"/>
          <p:nvPr/>
        </p:nvSpPr>
        <p:spPr>
          <a:xfrm>
            <a:off x="15570184" y="32137195"/>
            <a:ext cx="14113138" cy="2884338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 자료를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Ontology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에 맞춰 6단계로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KG(개체 264, 관계 418)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로 구축하고 수치·원문은 외부 저장소에 둠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의도에 따라 근거를 찾아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출처 번호가 붙은 근거 묶음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으로 정리하고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이 근거와 판단을 나누어 답하는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프레임워크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운영자가 현재 상태, 제한수위, 과거 승인·운영행위를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근거와 함께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확인하여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 의사결정을 지원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함</a:t>
            </a:r>
          </a:p>
        </p:txBody>
      </p:sp>
      <p:sp>
        <p:nvSpPr>
          <p:cNvPr id="1034" name="직사각형 1"/>
          <p:cNvSpPr/>
          <p:nvPr/>
        </p:nvSpPr>
        <p:spPr>
          <a:xfrm>
            <a:off x="15691431" y="35221533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감사의 글</a:t>
            </a:r>
          </a:p>
        </p:txBody>
      </p:sp>
      <p:sp>
        <p:nvSpPr>
          <p:cNvPr id="1035" name="본문"/>
          <p:cNvSpPr txBox="1"/>
          <p:nvPr/>
        </p:nvSpPr>
        <p:spPr>
          <a:xfrm>
            <a:off x="15570184" y="36364557"/>
            <a:ext cx="14113138" cy="71782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16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결과물은 기후에너지환경부의 재원으로 한국환경산업기술원의 기후변화 적응 수재해 관리 기술개발사업(R&amp;D)의 지원을 받아 연구되었습니다(RS-2026-25502939). 본 연구는 기후에너지환경부「기후변화특성화대학원사업」의 지원으로 수행되었습니다.</a:t>
            </a:r>
          </a:p>
        </p:txBody>
      </p:sp>
      <p:sp>
        <p:nvSpPr>
          <p:cNvPr id="1036" name="직사각형 1"/>
          <p:cNvSpPr/>
          <p:nvPr/>
        </p:nvSpPr>
        <p:spPr>
          <a:xfrm>
            <a:off x="15691431" y="37182377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참고문헌</a:t>
            </a:r>
          </a:p>
        </p:txBody>
      </p:sp>
      <p:sp>
        <p:nvSpPr>
          <p:cNvPr id="1037" name="본문"/>
          <p:cNvSpPr txBox="1"/>
          <p:nvPr/>
        </p:nvSpPr>
        <p:spPr>
          <a:xfrm>
            <a:off x="15570184" y="38325401"/>
            <a:ext cx="14113138" cy="399503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150"/>
              </a:spcAft>
              <a:buNone/>
            </a:pPr>
            <a:r>
              <a:rPr lang="ko-KR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1. Noy, N. F. and McGuinness, D. L. (2001). “Ontology development 101: A guide to creating your first ontology.” Stanford Knowledge Systems Laboratory Technical Report KSL-01-05.</a:t>
            </a:r>
          </a:p>
          <a:p>
            <a:pPr marL="0" indent="0">
              <a:lnSpc>
                <a:spcPct val="118000"/>
              </a:lnSpc>
              <a:spcAft>
                <a:spcPts val="150"/>
              </a:spcAft>
              <a:buNone/>
            </a:pPr>
            <a:r>
              <a:rPr lang="ko-KR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2. Huang, J., Hou, W., Zhang, S., Du, Z. and Yin, J. (2026). “Dam defects ontology and knowledge graph construction from multi-source hazard data using large language models.” Advanced Engineering Informatics, Vol. 76, 104987.</a:t>
            </a:r>
          </a:p>
          <a:p>
            <a:pPr marL="0" indent="0">
              <a:lnSpc>
                <a:spcPct val="118000"/>
              </a:lnSpc>
              <a:spcAft>
                <a:spcPts val="150"/>
              </a:spcAft>
              <a:buNone/>
            </a:pPr>
            <a:r>
              <a:rPr lang="ko-KR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3. Zhou, Y., Bao, T., Shu, X., Li, Y. and Li, Y. (2023). “BIM and ontology-based knowledge management for dam safety monitoring.” Automation in Construction, Vol. 145, 104649.</a:t>
            </a:r>
          </a:p>
          <a:p>
            <a:pPr marL="0" indent="0">
              <a:lnSpc>
                <a:spcPct val="118000"/>
              </a:lnSpc>
              <a:spcAft>
                <a:spcPts val="150"/>
              </a:spcAft>
              <a:buNone/>
            </a:pPr>
            <a:r>
              <a:rPr lang="ko-KR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4. Li, S., Erickson, C., Zajac, M., Guo, X., Duan, Q. and Gong, J. (2025). “A semi-automated framework for flood ontology construction with an application in risk communication.” Water, Vol. 17, No. 19, 2801.</a:t>
            </a:r>
          </a:p>
          <a:p>
            <a:pPr marL="0" indent="0">
              <a:lnSpc>
                <a:spcPct val="118000"/>
              </a:lnSpc>
              <a:spcAft>
                <a:spcPts val="150"/>
              </a:spcAft>
              <a:buNone/>
            </a:pPr>
            <a:r>
              <a:rPr lang="ko-KR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5. Zhang, D., Ma, G., Qu, T., Wang, X., Zhou, W. and Wang, X. (2025). “A knowledge graph-enhanced large language model for question answering of hydraulic structure safety management.” Advanced Engineering Informatics, Vol. 66, 103468.</a:t>
            </a:r>
          </a:p>
          <a:p>
            <a:pPr marL="0" indent="0">
              <a:lnSpc>
                <a:spcPct val="118000"/>
              </a:lnSpc>
              <a:spcAft>
                <a:spcPts val="150"/>
              </a:spcAft>
              <a:buNone/>
            </a:pPr>
            <a:r>
              <a:rPr lang="ko-KR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6. Purohit, S., Chin, G., Mackey, P. S. and Cottam, J. A. (2024). “GraphAide: Advanced graph-assisted query and reasoning system.” Proc. IEEE Int. Conf. on Big Data (BigData), pp. 3485-3493.</a:t>
            </a:r>
          </a:p>
          <a:p>
            <a:pPr marL="0" indent="0">
              <a:lnSpc>
                <a:spcPct val="118000"/>
              </a:lnSpc>
              <a:spcAft>
                <a:spcPts val="150"/>
              </a:spcAft>
              <a:buNone/>
            </a:pPr>
            <a:r>
              <a:rPr lang="ko-KR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7. Lewis, P. et al. (2020). “Retrieval-augmented generation for knowledge-intensive NLP tasks.” Advances in Neural Information Processing Systems, Vol. 33, pp. 9459-9474.</a:t>
            </a:r>
          </a:p>
          <a:p>
            <a:pPr marL="0" indent="0">
              <a:lnSpc>
                <a:spcPct val="118000"/>
              </a:lnSpc>
              <a:spcAft>
                <a:spcPts val="150"/>
              </a:spcAft>
              <a:buNone/>
            </a:pPr>
            <a:r>
              <a:rPr lang="ko-KR" altLang="en-US"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8. Angles, R. and Gutierrez, C. (2008). “Survey of graph database models.” ACM Computing Surveys, Vol. 40, No. 1, Article 1.</a:t>
            </a:r>
          </a:p>
        </p:txBody>
      </p:sp>
    </p:spTree>
    <p:extLst>
      <p:ext uri="{BB962C8B-B14F-4D97-AF65-F5344CB8AC3E}">
        <p14:creationId xmlns:p14="http://schemas.microsoft.com/office/powerpoint/2010/main" val="676981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1124</TotalTime>
  <Words>603</Words>
  <Application>Microsoft Office PowerPoint</Application>
  <PresentationFormat>사용자 지정</PresentationFormat>
  <Paragraphs>56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 Unicode MS</vt:lpstr>
      <vt:lpstr>나눔고딕</vt:lpstr>
      <vt:lpstr>나눔고딕 ExtraBold</vt:lpstr>
      <vt:lpstr>맑은 고딕</vt:lpstr>
      <vt:lpstr>Arial</vt:lpstr>
      <vt:lpstr>Verdana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황 혜선</cp:lastModifiedBy>
  <cp:revision>97</cp:revision>
  <cp:lastPrinted>2022-07-13T05:48:17Z</cp:lastPrinted>
  <dcterms:created xsi:type="dcterms:W3CDTF">2018-10-17T01:18:09Z</dcterms:created>
  <dcterms:modified xsi:type="dcterms:W3CDTF">2023-05-25T02:26:58Z</dcterms:modified>
</cp:coreProperties>
</file>