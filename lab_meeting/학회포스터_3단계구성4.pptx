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90053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88307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02610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762086"/>
          <a:ext cx="13500000" cy="5422750"/>
        </p:xfrm>
        <a:graphic>
          <a:graphicData uri="http://schemas.openxmlformats.org/drawingml/2006/table">
            <a:tbl>
              <a:tblPr firstRow="1" bandRow="1"/>
              <a:tblGrid>
                <a:gridCol w="2900000"/>
                <a:gridCol w="10600000"/>
              </a:tblGrid>
              <a:tr h="4516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 / Class / Entity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 운영 분야의 대상 종류(Class, 예: 댐)와 관계·속성을 정리한 의미 구조. Entity는 Class에 속한 실제 개체(예: 충주댐)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그래프. Neo4j(그래프 DB)에 저장하고 Cypher(연결 패턴으로 찾는 질의 언어)로 조회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 전체(측정자료 저장소)와 규정 원문(문서 저장소). KG에는 찾아가는 키만 둠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근거에 출처 번호를 붙여 LLM에 주는 입력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1838483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19527860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1954515" y="20573645"/>
            <a:ext cx="11400000" cy="6384000"/>
            <a:chOff x="1954515" y="20573645"/>
            <a:chExt cx="11400000" cy="6384000"/>
          </a:xfrm>
        </p:grpSpPr>
        <p:sp>
          <p:nvSpPr>
            <p:cNvPr id="5001" name="도형"/>
            <p:cNvSpPr/>
            <p:nvPr/>
          </p:nvSpPr>
          <p:spPr>
            <a:xfrm>
              <a:off x="1954515" y="20573645"/>
              <a:ext cx="3021000" cy="3306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91200" tIns="45600" rIns="91200" bIns="456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068515" y="20642045"/>
              <a:ext cx="27930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2800" tIns="11400" rIns="22800" bIns="114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75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2182515" y="21120845"/>
              <a:ext cx="2565000" cy="114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3459315" y="22283645"/>
              <a:ext cx="0" cy="2508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2182515" y="22557245"/>
              <a:ext cx="2565000" cy="114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203515" y="20573645"/>
              <a:ext cx="8151000" cy="3306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91200" tIns="45600" rIns="91200" bIns="456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317515" y="20642045"/>
              <a:ext cx="79230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2800" tIns="11400" rIns="22800" bIns="114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75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374515" y="21143645"/>
              <a:ext cx="1824000" cy="256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21315" y="22420445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21143645"/>
              <a:ext cx="1938000" cy="256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615315" y="22420445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10048515" y="21098045"/>
              <a:ext cx="3135000" cy="798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10048515" y="22010045"/>
              <a:ext cx="3135000" cy="798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10048515" y="22922045"/>
              <a:ext cx="3135000" cy="798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1954515" y="24335645"/>
              <a:ext cx="11400000" cy="2451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91200" tIns="45600" rIns="91200" bIns="456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068515" y="24404045"/>
              <a:ext cx="111720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2800" tIns="11400" rIns="22800" bIns="114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75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114115" y="25042445"/>
              <a:ext cx="1960800" cy="159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51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54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394115" y="25042445"/>
              <a:ext cx="1960800" cy="159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674115" y="25042445"/>
              <a:ext cx="1960800" cy="159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954115" y="25042445"/>
              <a:ext cx="1960800" cy="159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1234115" y="25042445"/>
              <a:ext cx="1960800" cy="159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1200" tIns="45600" rIns="91200" bIns="45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0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097715" y="25840445"/>
              <a:ext cx="273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377715" y="25840445"/>
              <a:ext cx="273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657715" y="25840445"/>
              <a:ext cx="273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937715" y="25840445"/>
              <a:ext cx="273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1621715" y="23742845"/>
              <a:ext cx="0" cy="3876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24130445"/>
              <a:ext cx="39672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24130445"/>
              <a:ext cx="0" cy="8892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82515" y="24198845"/>
              <a:ext cx="3420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2800" tIns="11400" rIns="22800" bIns="114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9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3" name="본문"/>
          <p:cNvSpPr txBox="1"/>
          <p:nvPr/>
        </p:nvSpPr>
        <p:spPr>
          <a:xfrm>
            <a:off x="597946" y="27017645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4" name="직사각형 1"/>
          <p:cNvSpPr/>
          <p:nvPr/>
        </p:nvSpPr>
        <p:spPr>
          <a:xfrm>
            <a:off x="674157" y="2773764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5" name="본문"/>
          <p:cNvSpPr txBox="1"/>
          <p:nvPr/>
        </p:nvSpPr>
        <p:spPr>
          <a:xfrm>
            <a:off x="597946" y="28880669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6" name="직사각형 415"/>
          <p:cNvSpPr/>
          <p:nvPr/>
        </p:nvSpPr>
        <p:spPr>
          <a:xfrm>
            <a:off x="830804" y="29926454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7" name="표"/>
          <p:cNvGraphicFramePr>
            <a:graphicFrameLocks noGrp="1"/>
          </p:cNvGraphicFramePr>
          <p:nvPr/>
        </p:nvGraphicFramePr>
        <p:xfrm>
          <a:off x="697946" y="30662439"/>
          <a:ext cx="13500000" cy="4200375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833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16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2254515" y="34982814"/>
            <a:ext cx="10800000" cy="5905321"/>
            <a:chOff x="2254515" y="34982814"/>
            <a:chExt cx="10800000" cy="5905321"/>
          </a:xfrm>
        </p:grpSpPr>
        <p:sp>
          <p:nvSpPr>
            <p:cNvPr id="5031" name="도형"/>
            <p:cNvSpPr/>
            <p:nvPr/>
          </p:nvSpPr>
          <p:spPr>
            <a:xfrm>
              <a:off x="2700387" y="34982814"/>
              <a:ext cx="4359633" cy="120880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9266" tIns="39633" rIns="79266" bIns="39633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2700387" y="34982814"/>
              <a:ext cx="4359633" cy="43596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38716" tIns="69358" rIns="138716" bIns="6935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7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2700387" y="35438594"/>
              <a:ext cx="4359633" cy="753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38716" tIns="69358" rIns="138716" bIns="6935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397634" y="34982814"/>
              <a:ext cx="4359633" cy="14862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9266" tIns="39633" rIns="79266" bIns="39633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397634" y="34982814"/>
              <a:ext cx="4359633" cy="43596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38716" tIns="69358" rIns="138716" bIns="6935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7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397634" y="35438594"/>
              <a:ext cx="4359633" cy="10304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38716" tIns="69358" rIns="138716" bIns="6935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2700387" y="37023915"/>
              <a:ext cx="4359633" cy="120880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9266" tIns="39633" rIns="79266" bIns="39633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2700387" y="37023915"/>
              <a:ext cx="4359633" cy="43596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38716" tIns="69358" rIns="138716" bIns="6935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7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2700387" y="37479695"/>
              <a:ext cx="4359633" cy="753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38716" tIns="69358" rIns="138716" bIns="6935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397634" y="37023915"/>
              <a:ext cx="4359633" cy="120880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9266" tIns="39633" rIns="79266" bIns="39633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397634" y="37023915"/>
              <a:ext cx="4359633" cy="43596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38716" tIns="69358" rIns="138716" bIns="6935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7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397634" y="37479695"/>
              <a:ext cx="4359633" cy="753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38716" tIns="69358" rIns="138716" bIns="6935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2700387" y="38787585"/>
              <a:ext cx="4359633" cy="148623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9266" tIns="39633" rIns="79266" bIns="39633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2700387" y="38787585"/>
              <a:ext cx="4359633" cy="43596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38716" tIns="69358" rIns="138716" bIns="6935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7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2700387" y="39243364"/>
              <a:ext cx="4359633" cy="10304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38716" tIns="69358" rIns="138716" bIns="6935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397634" y="38787585"/>
              <a:ext cx="4359633" cy="120880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9266" tIns="39633" rIns="79266" bIns="39633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397634" y="38787585"/>
              <a:ext cx="4359633" cy="43596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38716" tIns="69358" rIns="138716" bIns="69358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7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397634" y="39243364"/>
              <a:ext cx="4359633" cy="753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38716" tIns="69358" rIns="138716" bIns="69358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4880203" y="36211438"/>
              <a:ext cx="0" cy="792661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5133854" y="36406631"/>
              <a:ext cx="1078018" cy="2635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8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7079836" y="35874557"/>
              <a:ext cx="1297982" cy="154568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185062" y="36344208"/>
              <a:ext cx="1137072" cy="2496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7079836" y="37915658"/>
              <a:ext cx="1297982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7128387" y="37593640"/>
              <a:ext cx="1210789" cy="2080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7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0577451" y="36488869"/>
              <a:ext cx="0" cy="515229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0763924" y="36684062"/>
              <a:ext cx="1311457" cy="2635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8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0577451" y="38252539"/>
              <a:ext cx="0" cy="515229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10588152" y="38468539"/>
              <a:ext cx="235658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4880203" y="38252539"/>
              <a:ext cx="0" cy="515229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4976412" y="38447731"/>
              <a:ext cx="1194738" cy="2635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8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7079836" y="39679328"/>
              <a:ext cx="1297982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7165245" y="39336502"/>
              <a:ext cx="1137072" cy="2496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2432864" y="35676392"/>
              <a:ext cx="267523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2432864" y="35676392"/>
              <a:ext cx="0" cy="4300183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2432864" y="39976575"/>
              <a:ext cx="247706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2757267" y="35676392"/>
              <a:ext cx="99083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2856350" y="35676392"/>
              <a:ext cx="0" cy="4874862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5672864" y="40551254"/>
              <a:ext cx="7183486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5672864" y="40293640"/>
              <a:ext cx="0" cy="257615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2254515" y="40670153"/>
              <a:ext cx="10800000" cy="2774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9817" tIns="9908" rIns="19817" bIns="9908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560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이름과 Data Property.   화살표: 관계(Relation) 9종류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597946" y="40948135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Ontology: Class 6개, 관계 9개, Class별 Data Property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85" name="그림 KG 구축 6단계"/>
          <p:cNvGrpSpPr/>
          <p:nvPr/>
        </p:nvGrpSpPr>
        <p:grpSpPr>
          <a:xfrm>
            <a:off x="17126753" y="8538809"/>
            <a:ext cx="11000000" cy="3300000"/>
            <a:chOff x="17126753" y="8538809"/>
            <a:chExt cx="11000000" cy="3300000"/>
          </a:xfrm>
        </p:grpSpPr>
        <p:sp>
          <p:nvSpPr>
            <p:cNvPr id="5072" name="도형"/>
            <p:cNvSpPr/>
            <p:nvPr/>
          </p:nvSpPr>
          <p:spPr>
            <a:xfrm>
              <a:off x="1712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중복·표기 정리, 대상 댐 선택</a:t>
              </a:r>
            </a:p>
          </p:txBody>
        </p:sp>
        <p:sp>
          <p:nvSpPr>
            <p:cNvPr id="5073" name="도형"/>
            <p:cNvSpPr/>
            <p:nvPr/>
          </p:nvSpPr>
          <p:spPr>
            <a:xfrm>
              <a:off x="2097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표의 열·행을 속성·개체로 옮김</a:t>
              </a:r>
            </a:p>
          </p:txBody>
        </p:sp>
        <p:sp>
          <p:nvSpPr>
            <p:cNvPr id="5074" name="도형"/>
            <p:cNvSpPr/>
            <p:nvPr/>
          </p:nvSpPr>
          <p:spPr>
            <a:xfrm>
              <a:off x="24826753" y="8538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규칙으로 추출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712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 관계 생성</a:t>
              </a:r>
            </a:p>
          </p:txBody>
        </p:sp>
        <p:sp>
          <p:nvSpPr>
            <p:cNvPr id="5076" name="도형"/>
            <p:cNvSpPr/>
            <p:nvPr/>
          </p:nvSpPr>
          <p:spPr>
            <a:xfrm>
              <a:off x="2097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허용 규칙으로 점검, Ontology 보완</a:t>
              </a:r>
            </a:p>
          </p:txBody>
        </p:sp>
        <p:sp>
          <p:nvSpPr>
            <p:cNvPr id="5077" name="도형"/>
            <p:cNvSpPr/>
            <p:nvPr/>
          </p:nvSpPr>
          <p:spPr>
            <a:xfrm>
              <a:off x="24826753" y="10463809"/>
              <a:ext cx="3300000" cy="13750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88000" tIns="44000" rIns="88000" bIns="44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5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81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측정값·원문은 저장소</a:t>
              </a:r>
            </a:p>
          </p:txBody>
        </p:sp>
        <p:cxnSp>
          <p:nvCxnSpPr>
            <p:cNvPr id="5078" name="선"/>
            <p:cNvCxnSpPr/>
            <p:nvPr/>
          </p:nvCxnSpPr>
          <p:spPr>
            <a:xfrm>
              <a:off x="20448753" y="9220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9" name="선"/>
            <p:cNvCxnSpPr/>
            <p:nvPr/>
          </p:nvCxnSpPr>
          <p:spPr>
            <a:xfrm>
              <a:off x="24298753" y="9220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0" name="선"/>
            <p:cNvCxnSpPr/>
            <p:nvPr/>
          </p:nvCxnSpPr>
          <p:spPr>
            <a:xfrm>
              <a:off x="26476753" y="9935809"/>
              <a:ext cx="0" cy="25300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1" name="선"/>
            <p:cNvCxnSpPr/>
            <p:nvPr/>
          </p:nvCxnSpPr>
          <p:spPr>
            <a:xfrm flipH="1">
              <a:off x="18776753" y="10188809"/>
              <a:ext cx="7700000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82" name="선"/>
            <p:cNvCxnSpPr/>
            <p:nvPr/>
          </p:nvCxnSpPr>
          <p:spPr>
            <a:xfrm>
              <a:off x="18776753" y="10188809"/>
              <a:ext cx="0" cy="2530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3" name="선"/>
            <p:cNvCxnSpPr/>
            <p:nvPr/>
          </p:nvCxnSpPr>
          <p:spPr>
            <a:xfrm>
              <a:off x="20448753" y="11145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84" name="선"/>
            <p:cNvCxnSpPr/>
            <p:nvPr/>
          </p:nvCxnSpPr>
          <p:spPr>
            <a:xfrm>
              <a:off x="24298753" y="11145809"/>
              <a:ext cx="5060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</p:grpSp>
      <p:sp>
        <p:nvSpPr>
          <p:cNvPr id="1021" name="본문"/>
          <p:cNvSpPr txBox="1"/>
          <p:nvPr/>
        </p:nvSpPr>
        <p:spPr>
          <a:xfrm>
            <a:off x="15570184" y="118988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</a:t>
            </a:r>
          </a:p>
        </p:txBody>
      </p:sp>
      <p:grpSp>
        <p:nvGrpSpPr>
          <p:cNvPr id="5126" name="그림2 KG 예시"/>
          <p:cNvGrpSpPr/>
          <p:nvPr/>
        </p:nvGrpSpPr>
        <p:grpSpPr>
          <a:xfrm>
            <a:off x="17826753" y="12418809"/>
            <a:ext cx="9600000" cy="5988991"/>
            <a:chOff x="17826753" y="12418809"/>
            <a:chExt cx="9600000" cy="5988991"/>
          </a:xfrm>
        </p:grpSpPr>
        <p:sp>
          <p:nvSpPr>
            <p:cNvPr id="5086" name="도형"/>
            <p:cNvSpPr/>
            <p:nvPr/>
          </p:nvSpPr>
          <p:spPr>
            <a:xfrm>
              <a:off x="18223083" y="12418809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87" name="도형"/>
            <p:cNvSpPr/>
            <p:nvPr/>
          </p:nvSpPr>
          <p:spPr>
            <a:xfrm>
              <a:off x="18223083" y="124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88" name="속성"/>
            <p:cNvSpPr/>
            <p:nvPr/>
          </p:nvSpPr>
          <p:spPr>
            <a:xfrm>
              <a:off x="18223083" y="12823947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89" name="도형"/>
            <p:cNvSpPr/>
            <p:nvPr/>
          </p:nvSpPr>
          <p:spPr>
            <a:xfrm>
              <a:off x="23287303" y="12418809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0" name="도형"/>
            <p:cNvSpPr/>
            <p:nvPr/>
          </p:nvSpPr>
          <p:spPr>
            <a:xfrm>
              <a:off x="23287303" y="12418809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91" name="속성"/>
            <p:cNvSpPr/>
            <p:nvPr/>
          </p:nvSpPr>
          <p:spPr>
            <a:xfrm>
              <a:off x="23287303" y="12823947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92" name="도형"/>
            <p:cNvSpPr/>
            <p:nvPr/>
          </p:nvSpPr>
          <p:spPr>
            <a:xfrm>
              <a:off x="18223083" y="144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3" name="도형"/>
            <p:cNvSpPr/>
            <p:nvPr/>
          </p:nvSpPr>
          <p:spPr>
            <a:xfrm>
              <a:off x="18223083" y="144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94" name="속성"/>
            <p:cNvSpPr/>
            <p:nvPr/>
          </p:nvSpPr>
          <p:spPr>
            <a:xfrm>
              <a:off x="18223083" y="148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95" name="도형"/>
            <p:cNvSpPr/>
            <p:nvPr/>
          </p:nvSpPr>
          <p:spPr>
            <a:xfrm>
              <a:off x="23287303" y="14479726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6" name="도형"/>
            <p:cNvSpPr/>
            <p:nvPr/>
          </p:nvSpPr>
          <p:spPr>
            <a:xfrm>
              <a:off x="23287303" y="14479726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97" name="속성"/>
            <p:cNvSpPr/>
            <p:nvPr/>
          </p:nvSpPr>
          <p:spPr>
            <a:xfrm>
              <a:off x="23287303" y="14884864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98" name="도형"/>
            <p:cNvSpPr/>
            <p:nvPr/>
          </p:nvSpPr>
          <p:spPr>
            <a:xfrm>
              <a:off x="18223083" y="16294038"/>
              <a:ext cx="3875229" cy="156770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099" name="도형"/>
            <p:cNvSpPr/>
            <p:nvPr/>
          </p:nvSpPr>
          <p:spPr>
            <a:xfrm>
              <a:off x="18223083" y="162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100" name="속성"/>
            <p:cNvSpPr/>
            <p:nvPr/>
          </p:nvSpPr>
          <p:spPr>
            <a:xfrm>
              <a:off x="18223083" y="16699176"/>
              <a:ext cx="3875229" cy="11625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101" name="도형"/>
            <p:cNvSpPr/>
            <p:nvPr/>
          </p:nvSpPr>
          <p:spPr>
            <a:xfrm>
              <a:off x="23287303" y="16294038"/>
              <a:ext cx="3875229" cy="132110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70459" tIns="35229" rIns="70459" bIns="35229" anchor="ctr">
              <a:noAutofit/>
            </a:bodyPr>
            <a:lstStyle/>
            <a:p>
              <a:endParaRPr lang="ko-KR"/>
            </a:p>
          </p:txBody>
        </p:sp>
        <p:sp>
          <p:nvSpPr>
            <p:cNvPr id="5102" name="도형"/>
            <p:cNvSpPr/>
            <p:nvPr/>
          </p:nvSpPr>
          <p:spPr>
            <a:xfrm>
              <a:off x="23287303" y="16294038"/>
              <a:ext cx="3875229" cy="387523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23303" tIns="61651" rIns="123303" bIns="61651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4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103" name="속성"/>
            <p:cNvSpPr/>
            <p:nvPr/>
          </p:nvSpPr>
          <p:spPr>
            <a:xfrm>
              <a:off x="23287303" y="16699176"/>
              <a:ext cx="3875229" cy="9159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23303" tIns="61651" rIns="123303" bIns="61651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48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20160698" y="13757525"/>
              <a:ext cx="0" cy="704587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글상자"/>
            <p:cNvSpPr/>
            <p:nvPr/>
          </p:nvSpPr>
          <p:spPr>
            <a:xfrm>
              <a:off x="20386166" y="13931029"/>
              <a:ext cx="9582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106" name="선"/>
            <p:cNvCxnSpPr/>
            <p:nvPr/>
          </p:nvCxnSpPr>
          <p:spPr>
            <a:xfrm>
              <a:off x="22115927" y="13211470"/>
              <a:ext cx="1153761" cy="162055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7" name="글상자"/>
            <p:cNvSpPr/>
            <p:nvPr/>
          </p:nvSpPr>
          <p:spPr>
            <a:xfrm>
              <a:off x="22209461" y="13628937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108" name="선"/>
            <p:cNvCxnSpPr/>
            <p:nvPr/>
          </p:nvCxnSpPr>
          <p:spPr>
            <a:xfrm>
              <a:off x="22115927" y="15272387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9" name="글상자"/>
            <p:cNvSpPr/>
            <p:nvPr/>
          </p:nvSpPr>
          <p:spPr>
            <a:xfrm>
              <a:off x="22159083" y="14986148"/>
              <a:ext cx="1076257" cy="1849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4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110" name="선"/>
            <p:cNvCxnSpPr/>
            <p:nvPr/>
          </p:nvCxnSpPr>
          <p:spPr>
            <a:xfrm>
              <a:off x="25224918" y="14004130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1" name="글상자"/>
            <p:cNvSpPr/>
            <p:nvPr/>
          </p:nvSpPr>
          <p:spPr>
            <a:xfrm>
              <a:off x="25390672" y="14177635"/>
              <a:ext cx="116573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112" name="선"/>
            <p:cNvCxnSpPr/>
            <p:nvPr/>
          </p:nvCxnSpPr>
          <p:spPr>
            <a:xfrm>
              <a:off x="25224918" y="158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3" name="글상자"/>
            <p:cNvSpPr/>
            <p:nvPr/>
          </p:nvSpPr>
          <p:spPr>
            <a:xfrm>
              <a:off x="25234430" y="16010442"/>
              <a:ext cx="2094738" cy="197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110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114" name="선"/>
            <p:cNvCxnSpPr/>
            <p:nvPr/>
          </p:nvCxnSpPr>
          <p:spPr>
            <a:xfrm>
              <a:off x="20160698" y="15818442"/>
              <a:ext cx="0" cy="45798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5" name="글상자"/>
            <p:cNvSpPr/>
            <p:nvPr/>
          </p:nvSpPr>
          <p:spPr>
            <a:xfrm>
              <a:off x="20246217" y="15991947"/>
              <a:ext cx="1061989" cy="234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1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6" name="선"/>
            <p:cNvCxnSpPr/>
            <p:nvPr/>
          </p:nvCxnSpPr>
          <p:spPr>
            <a:xfrm flipH="1">
              <a:off x="22115927" y="17086699"/>
              <a:ext cx="115376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17" name="글상자"/>
            <p:cNvSpPr/>
            <p:nvPr/>
          </p:nvSpPr>
          <p:spPr>
            <a:xfrm>
              <a:off x="22191847" y="16781965"/>
              <a:ext cx="1010730" cy="2219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48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118" name="선"/>
            <p:cNvCxnSpPr/>
            <p:nvPr/>
          </p:nvCxnSpPr>
          <p:spPr>
            <a:xfrm flipH="1">
              <a:off x="17985285" y="13035323"/>
              <a:ext cx="237798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19" name="선"/>
            <p:cNvCxnSpPr/>
            <p:nvPr/>
          </p:nvCxnSpPr>
          <p:spPr>
            <a:xfrm>
              <a:off x="17985285" y="13035323"/>
              <a:ext cx="0" cy="4315596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0" name="선"/>
            <p:cNvCxnSpPr/>
            <p:nvPr/>
          </p:nvCxnSpPr>
          <p:spPr>
            <a:xfrm>
              <a:off x="17985285" y="17350919"/>
              <a:ext cx="220183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121" name="선"/>
            <p:cNvCxnSpPr/>
            <p:nvPr/>
          </p:nvCxnSpPr>
          <p:spPr>
            <a:xfrm>
              <a:off x="27162533" y="13035323"/>
              <a:ext cx="88073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2" name="선"/>
            <p:cNvCxnSpPr/>
            <p:nvPr/>
          </p:nvCxnSpPr>
          <p:spPr>
            <a:xfrm>
              <a:off x="27250606" y="13035323"/>
              <a:ext cx="0" cy="5073028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3" name="선"/>
            <p:cNvCxnSpPr/>
            <p:nvPr/>
          </p:nvCxnSpPr>
          <p:spPr>
            <a:xfrm flipH="1">
              <a:off x="20865285" y="18108350"/>
              <a:ext cx="638532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124" name="선"/>
            <p:cNvCxnSpPr/>
            <p:nvPr/>
          </p:nvCxnSpPr>
          <p:spPr>
            <a:xfrm flipV="1">
              <a:off x="20865285" y="17879359"/>
              <a:ext cx="0" cy="228991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5" name="글상자"/>
            <p:cNvSpPr/>
            <p:nvPr/>
          </p:nvSpPr>
          <p:spPr>
            <a:xfrm>
              <a:off x="17826753" y="18214038"/>
              <a:ext cx="9600000" cy="24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615" tIns="8807" rIns="17615" bIns="8807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87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8467800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구축된 KG의 일부 (충주댐 승인 1368번)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18987800"/>
            <a:ext cx="14113138" cy="9695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구축된 KG의 예시: 자료의 한 건이 Class에 맞는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(Approval, Operation, Criterion 등)와 근거자료로 만들어지고, 값이 일치하는 개체끼리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연결됨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015738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21300409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45" name="그림 질의응답 흐름"/>
          <p:cNvGrpSpPr/>
          <p:nvPr/>
        </p:nvGrpSpPr>
        <p:grpSpPr>
          <a:xfrm>
            <a:off x="16926753" y="22759807"/>
            <a:ext cx="11400000" cy="6213000"/>
            <a:chOff x="16926753" y="22759807"/>
            <a:chExt cx="11400000" cy="6213000"/>
          </a:xfrm>
        </p:grpSpPr>
        <p:sp>
          <p:nvSpPr>
            <p:cNvPr id="5127" name="도형"/>
            <p:cNvSpPr/>
            <p:nvPr/>
          </p:nvSpPr>
          <p:spPr>
            <a:xfrm>
              <a:off x="16926753" y="22759807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128" name="선"/>
            <p:cNvCxnSpPr/>
            <p:nvPr/>
          </p:nvCxnSpPr>
          <p:spPr>
            <a:xfrm>
              <a:off x="20392353" y="23124607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29" name="도형"/>
            <p:cNvSpPr/>
            <p:nvPr/>
          </p:nvSpPr>
          <p:spPr>
            <a:xfrm>
              <a:off x="20848353" y="22759807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130" name="도형"/>
            <p:cNvSpPr/>
            <p:nvPr/>
          </p:nvSpPr>
          <p:spPr>
            <a:xfrm>
              <a:off x="16926753" y="23626207"/>
              <a:ext cx="3420000" cy="977664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131" name="선"/>
            <p:cNvCxnSpPr/>
            <p:nvPr/>
          </p:nvCxnSpPr>
          <p:spPr>
            <a:xfrm>
              <a:off x="20392353" y="24115039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2" name="도형"/>
            <p:cNvSpPr/>
            <p:nvPr/>
          </p:nvSpPr>
          <p:spPr>
            <a:xfrm>
              <a:off x="20848353" y="23626207"/>
              <a:ext cx="7478400" cy="97766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133" name="도형"/>
            <p:cNvSpPr/>
            <p:nvPr/>
          </p:nvSpPr>
          <p:spPr>
            <a:xfrm>
              <a:off x="16926753" y="24740671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134" name="선"/>
            <p:cNvCxnSpPr/>
            <p:nvPr/>
          </p:nvCxnSpPr>
          <p:spPr>
            <a:xfrm>
              <a:off x="20392353" y="25105471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5" name="도형"/>
            <p:cNvSpPr/>
            <p:nvPr/>
          </p:nvSpPr>
          <p:spPr>
            <a:xfrm>
              <a:off x="20848353" y="24740671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36" name="도형"/>
            <p:cNvSpPr/>
            <p:nvPr/>
          </p:nvSpPr>
          <p:spPr>
            <a:xfrm>
              <a:off x="16926753" y="25607071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37" name="선"/>
            <p:cNvCxnSpPr/>
            <p:nvPr/>
          </p:nvCxnSpPr>
          <p:spPr>
            <a:xfrm>
              <a:off x="20392353" y="25971871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38" name="도형"/>
            <p:cNvSpPr/>
            <p:nvPr/>
          </p:nvSpPr>
          <p:spPr>
            <a:xfrm>
              <a:off x="20848353" y="25607071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39" name="도형"/>
            <p:cNvSpPr/>
            <p:nvPr/>
          </p:nvSpPr>
          <p:spPr>
            <a:xfrm>
              <a:off x="16926753" y="26473471"/>
              <a:ext cx="3420000" cy="729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40" name="선"/>
            <p:cNvCxnSpPr/>
            <p:nvPr/>
          </p:nvCxnSpPr>
          <p:spPr>
            <a:xfrm>
              <a:off x="20392353" y="26838271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1" name="도형"/>
            <p:cNvSpPr/>
            <p:nvPr/>
          </p:nvSpPr>
          <p:spPr>
            <a:xfrm>
              <a:off x="20848353" y="26473471"/>
              <a:ext cx="7478400" cy="729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42" name="도형"/>
            <p:cNvSpPr/>
            <p:nvPr/>
          </p:nvSpPr>
          <p:spPr>
            <a:xfrm>
              <a:off x="16926753" y="27339871"/>
              <a:ext cx="3420000" cy="159052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154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43" name="선"/>
            <p:cNvCxnSpPr/>
            <p:nvPr/>
          </p:nvCxnSpPr>
          <p:spPr>
            <a:xfrm>
              <a:off x="20392353" y="28135135"/>
              <a:ext cx="410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44" name="도형"/>
            <p:cNvSpPr/>
            <p:nvPr/>
          </p:nvSpPr>
          <p:spPr>
            <a:xfrm>
              <a:off x="20848353" y="27339871"/>
              <a:ext cx="7478400" cy="159052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59600" tIns="79800" rIns="159600" bIns="79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88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6" name="본문"/>
          <p:cNvSpPr txBox="1"/>
          <p:nvPr/>
        </p:nvSpPr>
        <p:spPr>
          <a:xfrm>
            <a:off x="15570184" y="29032807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5. 질의응답의 처리 단계</a:t>
            </a:r>
          </a:p>
        </p:txBody>
      </p:sp>
      <p:sp>
        <p:nvSpPr>
          <p:cNvPr id="1027" name="직사각형 1"/>
          <p:cNvSpPr/>
          <p:nvPr/>
        </p:nvSpPr>
        <p:spPr>
          <a:xfrm>
            <a:off x="15691431" y="2975280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8" name="본문"/>
          <p:cNvSpPr txBox="1"/>
          <p:nvPr/>
        </p:nvSpPr>
        <p:spPr>
          <a:xfrm>
            <a:off x="15570184" y="30895831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구축하고, 수치·원문은 외부 저장소에 두는 방법을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29" name="직사각형 1"/>
          <p:cNvSpPr/>
          <p:nvPr/>
        </p:nvSpPr>
        <p:spPr>
          <a:xfrm>
            <a:off x="15691431" y="3394847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0" name="본문"/>
          <p:cNvSpPr txBox="1"/>
          <p:nvPr/>
        </p:nvSpPr>
        <p:spPr>
          <a:xfrm>
            <a:off x="15570184" y="35091494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31" name="직사각형 1"/>
          <p:cNvSpPr/>
          <p:nvPr/>
        </p:nvSpPr>
        <p:spPr>
          <a:xfrm>
            <a:off x="15691431" y="3590931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32" name="본문"/>
          <p:cNvSpPr txBox="1"/>
          <p:nvPr/>
        </p:nvSpPr>
        <p:spPr>
          <a:xfrm>
            <a:off x="15570184" y="37052338"/>
            <a:ext cx="14113138" cy="399503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Noy, N. F. and McGuinness, D. L. (2001). “Ontology development 101: A guide to creating your first ontology.” Stanford Knowledge Systems Laboratory Technical Report KSL-01-05.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Huang, J., Hou, W., Zhang, S., Du, Z. and Yin, J. (2026). “Dam defects ontology and knowledge graph construction from multi-source hazard data using large language models.” Advanced Engineering Informatics, Vol. 76, 104987.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Zhou, Y., Bao, T., Shu, X., Li, Y. and Li, Y. (2023). “BIM and ontology-based knowledge management for dam safety monitoring.” Automation in Construction, Vol. 145, 104649.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5. Zhang, D., Ma, G., Qu, T., Wang, X., Zhou, W. and Wang, X. (2025). “A knowledge graph-enhanced large language model for question answering of hydraulic structure safety management.” Advanced Engineering Informatics, Vol. 66, 103468.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7. Lewis, P. et al. (2020). “Retrieval-augmented generation for knowledge-intensive NLP tasks.” Advances in Neural Information Processing Systems, Vol. 33, pp. 9459-9474.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8. Angles, R. and Gutierrez, C. (2008). “Survey of graph database models.” ACM Computing Surveys, Vol. 40, No. 1, Article 1.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