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30275213" cy="42803763"/>
  <p:notesSz cx="9926638" cy="14355763"/>
  <p:defaultTextStyle>
    <a:defPPr>
      <a:defRPr lang="ko-KR"/>
    </a:defPPr>
    <a:lvl1pPr marL="0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1pPr>
    <a:lvl2pPr marL="2086792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2pPr>
    <a:lvl3pPr marL="4173583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3pPr>
    <a:lvl4pPr marL="6260376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4pPr>
    <a:lvl5pPr marL="8347166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5pPr>
    <a:lvl6pPr marL="10433959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6pPr>
    <a:lvl7pPr marL="12520752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7pPr>
    <a:lvl8pPr marL="14607544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8pPr>
    <a:lvl9pPr marL="16694334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3063F4"/>
    <a:srgbClr val="3A83B0"/>
    <a:srgbClr val="F6DADA"/>
    <a:srgbClr val="28508C"/>
    <a:srgbClr val="2F5EA3"/>
    <a:srgbClr val="20566E"/>
    <a:srgbClr val="F5A10B"/>
    <a:srgbClr val="EB3D6F"/>
    <a:srgbClr val="7498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71" autoAdjust="0"/>
    <p:restoredTop sz="94142" autoAdjust="0"/>
  </p:normalViewPr>
  <p:slideViewPr>
    <p:cSldViewPr showGuides="1">
      <p:cViewPr>
        <p:scale>
          <a:sx n="33" d="100"/>
          <a:sy n="33" d="100"/>
        </p:scale>
        <p:origin x="2166" y="24"/>
      </p:cViewPr>
      <p:guideLst>
        <p:guide orient="horz" pos="13482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l">
              <a:defRPr sz="18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r">
              <a:defRPr sz="1800"/>
            </a:lvl1pPr>
          </a:lstStyle>
          <a:p>
            <a:fld id="{C3975C9C-AA20-4771-875B-11630C0B0EE9}" type="datetimeFigureOut">
              <a:rPr lang="ko-KR" altLang="en-US" smtClean="0"/>
              <a:t>2023-05-25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51200" y="1793875"/>
            <a:ext cx="3424238" cy="4845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751" tIns="69376" rIns="138751" bIns="69376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4" y="6908711"/>
            <a:ext cx="7941310" cy="5652582"/>
          </a:xfrm>
          <a:prstGeom prst="rect">
            <a:avLst/>
          </a:prstGeom>
        </p:spPr>
        <p:txBody>
          <a:bodyPr vert="horz" lIns="138751" tIns="69376" rIns="138751" bIns="69376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l">
              <a:defRPr sz="18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r">
              <a:defRPr sz="1800"/>
            </a:lvl1pPr>
          </a:lstStyle>
          <a:p>
            <a:fld id="{50A9D8C3-D90B-4640-9792-40BF06B6F7E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4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1pPr>
    <a:lvl2pPr marL="646546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2pPr>
    <a:lvl3pPr marL="1293094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3pPr>
    <a:lvl4pPr marL="1939642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4pPr>
    <a:lvl5pPr marL="2586189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5pPr>
    <a:lvl6pPr marL="3232736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6pPr>
    <a:lvl7pPr marL="3879283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7pPr>
    <a:lvl8pPr marL="4525832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8pPr>
    <a:lvl9pPr marL="5172377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9D8C3-D90B-4640-9792-40BF06B6F7E5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3399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F76B742-CA72-4B76-9A1B-00F13A079611}"/>
              </a:ext>
            </a:extLst>
          </p:cNvPr>
          <p:cNvSpPr/>
          <p:nvPr/>
        </p:nvSpPr>
        <p:spPr>
          <a:xfrm>
            <a:off x="387465" y="6099356"/>
            <a:ext cx="14506964" cy="3618694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585" tIns="43793" rIns="87585" bIns="43793" rtlCol="0" anchor="ctr"/>
          <a:lstStyle/>
          <a:p>
            <a:pPr algn="ctr"/>
            <a:endParaRPr lang="ko-KR" altLang="en-US" sz="5418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E6F6F2-1EEE-4BAA-B7BB-4B058EAAA213}"/>
              </a:ext>
            </a:extLst>
          </p:cNvPr>
          <p:cNvSpPr/>
          <p:nvPr/>
        </p:nvSpPr>
        <p:spPr>
          <a:xfrm>
            <a:off x="15382036" y="6099358"/>
            <a:ext cx="14505719" cy="36186939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585" tIns="43793" rIns="87585" bIns="43793" rtlCol="0" anchor="ctr"/>
          <a:lstStyle/>
          <a:p>
            <a:pPr lvl="0" algn="ctr"/>
            <a:endParaRPr lang="ko-KR" altLang="en-US" sz="5418" dirty="0"/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3" y="35249"/>
            <a:ext cx="30275357" cy="579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811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513764" y="1714136"/>
            <a:ext cx="27247692" cy="7133959"/>
          </a:xfrm>
          <a:prstGeom prst="rect">
            <a:avLst/>
          </a:prstGeom>
        </p:spPr>
        <p:txBody>
          <a:bodyPr vert="horz" lIns="431984" tIns="215993" rIns="431984" bIns="215993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13764" y="9987549"/>
            <a:ext cx="27247692" cy="28248506"/>
          </a:xfrm>
          <a:prstGeom prst="rect">
            <a:avLst/>
          </a:prstGeom>
        </p:spPr>
        <p:txBody>
          <a:bodyPr vert="horz" lIns="431984" tIns="215993" rIns="431984" bIns="215993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513764" y="39672751"/>
            <a:ext cx="7064217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l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D32EA-93D2-422C-9D50-DCDFD5662F59}" type="datetimeFigureOut">
              <a:rPr lang="ko-KR" altLang="en-US" smtClean="0"/>
              <a:t>2023-05-25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344033" y="39672751"/>
            <a:ext cx="9587152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ctr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1697241" y="39672751"/>
            <a:ext cx="7064217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r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A678E-E807-4BC3-8392-26D7FE55F7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9511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ctr" defTabSz="4030263" rtl="0" eaLnBrk="1" latinLnBrk="1" hangingPunct="1">
        <a:spcBef>
          <a:spcPct val="0"/>
        </a:spcBef>
        <a:buNone/>
        <a:defRPr sz="1940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1348" indent="-1511348" algn="l" defTabSz="4030263" rtl="0" eaLnBrk="1" latinLnBrk="1" hangingPunct="1">
        <a:spcBef>
          <a:spcPct val="20000"/>
        </a:spcBef>
        <a:buFont typeface="Arial" pitchFamily="34" charset="0"/>
        <a:buChar char="•"/>
        <a:defRPr sz="14087" kern="1200">
          <a:solidFill>
            <a:schemeClr val="tx1"/>
          </a:solidFill>
          <a:latin typeface="+mn-lt"/>
          <a:ea typeface="+mn-ea"/>
          <a:cs typeface="+mn-cs"/>
        </a:defRPr>
      </a:lvl1pPr>
      <a:lvl2pPr marL="3274587" indent="-1259457" algn="l" defTabSz="4030263" rtl="0" eaLnBrk="1" latinLnBrk="1" hangingPunct="1">
        <a:spcBef>
          <a:spcPct val="20000"/>
        </a:spcBef>
        <a:buFont typeface="Arial" pitchFamily="34" charset="0"/>
        <a:buChar char="–"/>
        <a:defRPr sz="12316" kern="1200">
          <a:solidFill>
            <a:schemeClr val="tx1"/>
          </a:solidFill>
          <a:latin typeface="+mn-lt"/>
          <a:ea typeface="+mn-ea"/>
          <a:cs typeface="+mn-cs"/>
        </a:defRPr>
      </a:lvl2pPr>
      <a:lvl3pPr marL="5037827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10636" kern="1200">
          <a:solidFill>
            <a:schemeClr val="tx1"/>
          </a:solidFill>
          <a:latin typeface="+mn-lt"/>
          <a:ea typeface="+mn-ea"/>
          <a:cs typeface="+mn-cs"/>
        </a:defRPr>
      </a:lvl3pPr>
      <a:lvl4pPr marL="7052959" indent="-1007566" algn="l" defTabSz="4030263" rtl="0" eaLnBrk="1" latinLnBrk="1" hangingPunct="1">
        <a:spcBef>
          <a:spcPct val="20000"/>
        </a:spcBef>
        <a:buFont typeface="Arial" pitchFamily="34" charset="0"/>
        <a:buChar char="–"/>
        <a:defRPr sz="8770" kern="1200">
          <a:solidFill>
            <a:schemeClr val="tx1"/>
          </a:solidFill>
          <a:latin typeface="+mn-lt"/>
          <a:ea typeface="+mn-ea"/>
          <a:cs typeface="+mn-cs"/>
        </a:defRPr>
      </a:lvl4pPr>
      <a:lvl5pPr marL="9068089" indent="-1007566" algn="l" defTabSz="4030263" rtl="0" eaLnBrk="1" latinLnBrk="1" hangingPunct="1">
        <a:spcBef>
          <a:spcPct val="20000"/>
        </a:spcBef>
        <a:buFont typeface="Arial" pitchFamily="34" charset="0"/>
        <a:buChar char="»"/>
        <a:defRPr sz="8770" kern="1200">
          <a:solidFill>
            <a:schemeClr val="tx1"/>
          </a:solidFill>
          <a:latin typeface="+mn-lt"/>
          <a:ea typeface="+mn-ea"/>
          <a:cs typeface="+mn-cs"/>
        </a:defRPr>
      </a:lvl5pPr>
      <a:lvl6pPr marL="11083222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6pPr>
      <a:lvl7pPr marL="13098354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7pPr>
      <a:lvl8pPr marL="15113485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8pPr>
      <a:lvl9pPr marL="17128615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1pPr>
      <a:lvl2pPr marL="2015132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2pPr>
      <a:lvl3pPr marL="4030263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3pPr>
      <a:lvl4pPr marL="6045393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4pPr>
      <a:lvl5pPr marL="8060525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5pPr>
      <a:lvl6pPr marL="10075656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6pPr>
      <a:lvl7pPr marL="12090788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7pPr>
      <a:lvl8pPr marL="14105919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8pPr>
      <a:lvl9pPr marL="16121050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13" Type="http://schemas.openxmlformats.org/officeDocument/2006/relationships/image" Target="../media/poster_rId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>
            <a:grpSpLocks noGrp="1" noUngrp="1" noRot="1" noMove="1" noResize="1"/>
          </p:cNvGrpSpPr>
          <p:nvPr/>
        </p:nvGrpSpPr>
        <p:grpSpPr>
          <a:xfrm>
            <a:off x="375966" y="375545"/>
            <a:ext cx="5141882" cy="1730166"/>
            <a:chOff x="375966" y="375545"/>
            <a:chExt cx="5141882" cy="1730166"/>
          </a:xfrm>
        </p:grpSpPr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E8958C42-464C-487C-8515-D9CD11E802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5966" y="375545"/>
              <a:ext cx="5074637" cy="651765"/>
            </a:xfrm>
            <a:prstGeom prst="rect">
              <a:avLst/>
            </a:prstGeom>
          </p:spPr>
          <p:txBody>
            <a:bodyPr wrap="square" lIns="96819" tIns="48411" rIns="96819" bIns="48411">
              <a:spAutoFit/>
            </a:bodyPr>
            <a:lstStyle/>
            <a:p>
              <a:pPr algn="ctr"/>
              <a:r>
                <a:rPr lang="en-US" altLang="ko-KR" sz="3600" b="1" spc="-300" dirty="0">
                  <a:solidFill>
                    <a:schemeClr val="bg1"/>
                  </a:solidFill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KSCE 2026 CONVENTION</a:t>
              </a:r>
              <a:endParaRPr lang="ko-KR" altLang="en-US" sz="3600" b="1" spc="-300" dirty="0">
                <a:solidFill>
                  <a:schemeClr val="bg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endParaRPr>
            </a:p>
          </p:txBody>
        </p:sp>
        <p:pic>
          <p:nvPicPr>
            <p:cNvPr id="95" name="Picture 3" descr="D:\02.기타 업무\4.각 행사 및 회의\2022\4. 학술대회\11.포스터세션\로고a.png"/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209"/>
            <a:stretch/>
          </p:blipFill>
          <p:spPr bwMode="auto">
            <a:xfrm>
              <a:off x="441848" y="985071"/>
              <a:ext cx="5076000" cy="1120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01" name="직사각형 5"/>
          <p:cNvSpPr/>
          <p:nvPr/>
        </p:nvSpPr>
        <p:spPr>
          <a:xfrm>
            <a:off x="5992955" y="300000"/>
            <a:ext cx="20582661" cy="2700000"/>
          </a:xfrm>
          <a:prstGeom prst="rect">
            <a:avLst/>
          </a:prstGeom>
        </p:spPr>
        <p:txBody>
          <a:bodyPr wrap="square" lIns="103612" tIns="51807" rIns="103612" bIns="51807">
            <a:no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5000" b="1" cap="all" spc="-227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온톨로지 기반 지식그래프를 활용한 댐 운영 의사결정 지원 LLM 프레임워크 구축</a:t>
            </a:r>
          </a:p>
          <a:p>
            <a:pPr algn="ctr">
              <a:lnSpc>
                <a:spcPct val="115000"/>
              </a:lnSpc>
            </a:pPr>
            <a:r>
              <a:rPr lang="en-US" altLang="ko-KR" sz="30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Development of an LLM Framework for Dam Operation Decision Support Using an Ontology-based Knowledge Graph</a:t>
            </a:r>
          </a:p>
        </p:txBody>
      </p:sp>
      <p:sp>
        <p:nvSpPr>
          <p:cNvPr id="1002" name="저자"/>
          <p:cNvSpPr txBox="1"/>
          <p:nvPr/>
        </p:nvSpPr>
        <p:spPr>
          <a:xfrm>
            <a:off x="5992958" y="3080000"/>
            <a:ext cx="20582660" cy="140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문경민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신주영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장상범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조수빈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****</a:t>
            </a: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Moon, Kyeungmin ・ Shin, Ju-Young ・ Jang, Sangbeom ・ Cho, Subin</a:t>
            </a:r>
          </a:p>
        </p:txBody>
      </p:sp>
      <p:sp>
        <p:nvSpPr>
          <p:cNvPr id="1003" name="소속"/>
          <p:cNvSpPr txBox="1"/>
          <p:nvPr/>
        </p:nvSpPr>
        <p:spPr>
          <a:xfrm>
            <a:off x="1327064" y="4600000"/>
            <a:ext cx="275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algn="ctr"/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교수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</a:t>
            </a:r>
          </a:p>
        </p:txBody>
      </p:sp>
      <p:sp>
        <p:nvSpPr>
          <p:cNvPr id="1004" name="로고 배경"/>
          <p:cNvSpPr/>
          <p:nvPr/>
        </p:nvSpPr>
        <p:spPr>
          <a:xfrm>
            <a:off x="26850000" y="600000"/>
            <a:ext cx="3000000" cy="30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1005" name="국민대학교 로고" descr="Kookmin University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950000" y="700000"/>
            <a:ext cx="2800000" cy="2800000"/>
          </a:xfrm>
          <a:prstGeom prst="rect">
            <a:avLst/>
          </a:prstGeom>
          <a:ln w="12700">
            <a:solidFill>
              <a:srgbClr val="BFC5CC"/>
            </a:solidFill>
          </a:ln>
        </p:spPr>
      </p:pic>
      <p:sp>
        <p:nvSpPr>
          <p:cNvPr id="1006" name="직사각형 1"/>
          <p:cNvSpPr/>
          <p:nvPr/>
        </p:nvSpPr>
        <p:spPr>
          <a:xfrm>
            <a:off x="674157" y="635000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서론</a:t>
            </a:r>
          </a:p>
        </p:txBody>
      </p:sp>
      <p:sp>
        <p:nvSpPr>
          <p:cNvPr id="1007" name="본문"/>
          <p:cNvSpPr txBox="1"/>
          <p:nvPr/>
        </p:nvSpPr>
        <p:spPr>
          <a:xfrm>
            <a:off x="597946" y="7493024"/>
            <a:ext cx="14113138" cy="3190053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댐 운영 판단에는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방류 승인 기록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수문·기상 관측 자료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 규정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등 여러 자료를 함께 확인해야 하나, 자료마다 형식과 이름이 달라 사람이 일일이 연결해야 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대규모 언어모델(LLM) 단독 활용은 답변의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근거를 확인하기 어려워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외부 자료를 검색해 답변에 활용하는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검색증강생성(RAG)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이 쓰이나, 자료 간 관계와 출처를 함께 다루려면 구조화된 지식이 필요함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본 연구는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온톨로지 기반 지식그래프(KG)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를 RAG 기반 검색 및 LLM 답변 생성과 연계하여, 운영자의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 기반 의사결정을 지원하는 프레임워크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구축함</a:t>
            </a:r>
          </a:p>
        </p:txBody>
      </p:sp>
      <p:sp>
        <p:nvSpPr>
          <p:cNvPr id="1008" name="직사각형 1"/>
          <p:cNvSpPr/>
          <p:nvPr/>
        </p:nvSpPr>
        <p:spPr>
          <a:xfrm>
            <a:off x="674157" y="10883077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핵심 용어</a:t>
            </a:r>
          </a:p>
        </p:txBody>
      </p:sp>
      <p:sp>
        <p:nvSpPr>
          <p:cNvPr id="1009" name="직사각형 415"/>
          <p:cNvSpPr/>
          <p:nvPr/>
        </p:nvSpPr>
        <p:spPr>
          <a:xfrm>
            <a:off x="830804" y="12026101"/>
            <a:ext cx="13649422" cy="6459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242" tIns="44120" rIns="88242" bIns="44120" spcCol="0" rtlCol="0" anchor="ctr"/>
          <a:lstStyle/>
          <a:p>
            <a:pPr marL="0" lvl="1">
              <a:lnSpc>
                <a:spcPct val="107000"/>
              </a:lnSpc>
            </a:pPr>
            <a:r>
              <a:rPr lang="ko-KR" altLang="en-US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 1. 핵심 용어</a:t>
            </a:r>
          </a:p>
        </p:txBody>
      </p:sp>
      <p:graphicFrame>
        <p:nvGraphicFramePr>
          <p:cNvPr id="1010" name="표"/>
          <p:cNvGraphicFramePr>
            <a:graphicFrameLocks noGrp="1"/>
          </p:cNvGraphicFramePr>
          <p:nvPr/>
        </p:nvGraphicFramePr>
        <p:xfrm>
          <a:off x="697946" y="12762086"/>
          <a:ext cx="13500000" cy="8084058"/>
        </p:xfrm>
        <a:graphic>
          <a:graphicData uri="http://schemas.openxmlformats.org/drawingml/2006/table">
            <a:tbl>
              <a:tblPr firstRow="1" bandRow="1"/>
              <a:tblGrid>
                <a:gridCol w="2900000"/>
                <a:gridCol w="10600000"/>
              </a:tblGrid>
              <a:tr h="427812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용어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설명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42781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온톨로지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댐 운영 분야의 대상(Class)과 관계·속성을 정리한 의미 구조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781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Class / 개체(Entity)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Class는 대상의 종류(예: 댐, 승인), 개체는 Class에 속한 실제 대상(예: 충주댐)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705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관계 / Data Property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관계는 개체 사이의 연결(예: 승인이 운영행위를 허가함), Data Property는 개체가 가진 값(예: 승인일)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5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Competency Question. 온톨로지가 답할 수 있어야 하는 질문으로, 필요한 Class·관계를 정하는 기준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2781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지식그래프 (KG)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온톨로지에 실제 개체·관계·값을 채운 그래프(개체는 점, 관계는 선)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781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Neo4j / Cypher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Neo4j는 KG를 저장하는 그래프 데이터베이스, Cypher는 연결 패턴으로 찾는 질의 언어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2781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승인 / 운영행위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승인은 방류를 허가한 기록, 운영행위는 실제로 수행된 방류 등의 운영(승인 비고에서 규칙으로 읽음)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781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수문·기상 상태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댐의 수위, 유입량, 방류량, 강우량 등 시간별로 측정되는 변수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705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운영기준 / 근거자료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운영기준은 댐에 적용되는 기준(예: 규정 별표3의 홍수기 제한수위), 근거자료는 개체를 확인할 수 있는 출처(승인 기록, 규정 원문 등)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5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구조화 자료 / 문서 자료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구조화 자료는 열·행이 정해진 표, 문서 자료는 글 속에 값이 들어 있는 자료(승인 비고, 규정 별표). 문서 자료의 값은 규칙(키워드, 정규식)으로 추출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2781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외부 저장소 / 키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KG 밖에 둔 측정값(측정자료 저장소)과 규정 원문(문서 저장소). KG에는 이를 찾아가는 키만 저장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781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RAG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질문과 관련된 근거를 검색해 LLM에 함께 주고, 그 근거로 답하게 하는 방식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705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의도 / 근거 묶음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의도는 질문이 CQ1~CQ6 중 무엇을 묻는지의 분류(복수 가능), 근거 묶음은 검색한 근거를 의도별로 모아 LLM에 주는 입력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5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출처 번호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근거 묶음의 항목마다 붙이는 번호(예: APR:1368)로, 답변이 어느 자료에서 나왔는지 확인할 수 있게 함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1011" name="직사각형 1"/>
          <p:cNvSpPr/>
          <p:nvPr/>
        </p:nvSpPr>
        <p:spPr>
          <a:xfrm>
            <a:off x="674157" y="21046144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프레임워크 개요</a:t>
            </a:r>
          </a:p>
        </p:txBody>
      </p:sp>
      <p:sp>
        <p:nvSpPr>
          <p:cNvPr id="1012" name="본문"/>
          <p:cNvSpPr txBox="1"/>
          <p:nvPr/>
        </p:nvSpPr>
        <p:spPr>
          <a:xfrm>
            <a:off x="597946" y="22189168"/>
            <a:ext cx="14113138" cy="10457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프레임워크는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세 단계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구성됨: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① Ontology 설계 → ② KG 구축 → ③ 근거 기반 질의응답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각 단계의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방법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을 설명하고, 이해를 돕기 위해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충주댐 승인 기록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을 예시로 따라감</a:t>
            </a:r>
          </a:p>
        </p:txBody>
      </p:sp>
      <p:grpSp>
        <p:nvGrpSpPr>
          <p:cNvPr id="5030" name="그림1 전체 구조"/>
          <p:cNvGrpSpPr/>
          <p:nvPr/>
        </p:nvGrpSpPr>
        <p:grpSpPr>
          <a:xfrm>
            <a:off x="2854515" y="23234953"/>
            <a:ext cx="9600000" cy="5376000"/>
            <a:chOff x="2854515" y="23234953"/>
            <a:chExt cx="9600000" cy="5376000"/>
          </a:xfrm>
        </p:grpSpPr>
        <p:sp>
          <p:nvSpPr>
            <p:cNvPr id="5001" name="도형"/>
            <p:cNvSpPr/>
            <p:nvPr/>
          </p:nvSpPr>
          <p:spPr>
            <a:xfrm>
              <a:off x="2854515" y="23234953"/>
              <a:ext cx="2544000" cy="2784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76800" tIns="38400" rIns="76800" bIns="38400" anchor="ctr">
              <a:noAutofit/>
            </a:bodyPr>
            <a:lstStyle/>
            <a:p>
              <a:endParaRPr lang="ko-KR"/>
            </a:p>
          </p:txBody>
        </p:sp>
        <p:sp>
          <p:nvSpPr>
            <p:cNvPr id="5002" name="글상자"/>
            <p:cNvSpPr/>
            <p:nvPr/>
          </p:nvSpPr>
          <p:spPr>
            <a:xfrm>
              <a:off x="2950515" y="23292553"/>
              <a:ext cx="23520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9200" tIns="9600" rIns="19200" bIns="9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3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Ontology 설계</a:t>
              </a:r>
            </a:p>
          </p:txBody>
        </p:sp>
        <p:sp>
          <p:nvSpPr>
            <p:cNvPr id="5003" name="도형"/>
            <p:cNvSpPr/>
            <p:nvPr/>
          </p:nvSpPr>
          <p:spPr>
            <a:xfrm>
              <a:off x="3046515" y="23695753"/>
              <a:ext cx="2160000" cy="96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6800" tIns="38400" rIns="76800" bIns="38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965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CQ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전체 질문 1개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세부 질문 6개</a:t>
              </a:r>
            </a:p>
          </p:txBody>
        </p:sp>
        <p:cxnSp>
          <p:nvCxnSpPr>
            <p:cNvPr id="5004" name="선"/>
            <p:cNvCxnSpPr/>
            <p:nvPr/>
          </p:nvCxnSpPr>
          <p:spPr>
            <a:xfrm>
              <a:off x="4121715" y="24674953"/>
              <a:ext cx="0" cy="2112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05" name="도형"/>
            <p:cNvSpPr/>
            <p:nvPr/>
          </p:nvSpPr>
          <p:spPr>
            <a:xfrm>
              <a:off x="3046515" y="24905353"/>
              <a:ext cx="2160000" cy="96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6800" tIns="38400" rIns="76800" bIns="38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965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Class · 관계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Class 6, 관계 9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Data Property</a:t>
              </a:r>
            </a:p>
          </p:txBody>
        </p:sp>
        <p:sp>
          <p:nvSpPr>
            <p:cNvPr id="5006" name="도형"/>
            <p:cNvSpPr/>
            <p:nvPr/>
          </p:nvSpPr>
          <p:spPr>
            <a:xfrm>
              <a:off x="5590515" y="23234953"/>
              <a:ext cx="6864000" cy="2784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76800" tIns="38400" rIns="76800" bIns="38400" anchor="ctr">
              <a:noAutofit/>
            </a:bodyPr>
            <a:lstStyle/>
            <a:p>
              <a:endParaRPr lang="ko-KR"/>
            </a:p>
          </p:txBody>
        </p:sp>
        <p:sp>
          <p:nvSpPr>
            <p:cNvPr id="5007" name="글상자"/>
            <p:cNvSpPr/>
            <p:nvPr/>
          </p:nvSpPr>
          <p:spPr>
            <a:xfrm>
              <a:off x="5686515" y="23292553"/>
              <a:ext cx="66720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9200" tIns="9600" rIns="19200" bIns="9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3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KG 구축</a:t>
              </a:r>
            </a:p>
          </p:txBody>
        </p:sp>
        <p:sp>
          <p:nvSpPr>
            <p:cNvPr id="5008" name="도형"/>
            <p:cNvSpPr/>
            <p:nvPr/>
          </p:nvSpPr>
          <p:spPr>
            <a:xfrm>
              <a:off x="5734515" y="23714953"/>
              <a:ext cx="1536000" cy="216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6800" tIns="38400" rIns="76800" bIns="38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965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원자료 4종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승인 기록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시간 자료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규정 별표3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댐 정보</a:t>
              </a:r>
            </a:p>
          </p:txBody>
        </p:sp>
        <p:cxnSp>
          <p:nvCxnSpPr>
            <p:cNvPr id="5009" name="선"/>
            <p:cNvCxnSpPr/>
            <p:nvPr/>
          </p:nvCxnSpPr>
          <p:spPr>
            <a:xfrm>
              <a:off x="7289715" y="24790153"/>
              <a:ext cx="3456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10" name="도형"/>
            <p:cNvSpPr/>
            <p:nvPr/>
          </p:nvSpPr>
          <p:spPr>
            <a:xfrm>
              <a:off x="7654515" y="23714953"/>
              <a:ext cx="1632000" cy="216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6800" tIns="38400" rIns="76800" bIns="38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965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6단계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전처리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매핑 · 추출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관계 연결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검증 · 저장</a:t>
              </a:r>
            </a:p>
          </p:txBody>
        </p:sp>
        <p:cxnSp>
          <p:nvCxnSpPr>
            <p:cNvPr id="5011" name="선"/>
            <p:cNvCxnSpPr/>
            <p:nvPr/>
          </p:nvCxnSpPr>
          <p:spPr>
            <a:xfrm>
              <a:off x="9305715" y="24790153"/>
              <a:ext cx="3456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12" name="도형"/>
            <p:cNvSpPr/>
            <p:nvPr/>
          </p:nvSpPr>
          <p:spPr>
            <a:xfrm>
              <a:off x="9670515" y="23676553"/>
              <a:ext cx="2640000" cy="672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76800" tIns="38400" rIns="76800" bIns="38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1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 (Neo4j)</a:t>
              </a:r>
            </a:p>
          </p:txBody>
        </p:sp>
        <p:sp>
          <p:nvSpPr>
            <p:cNvPr id="5013" name="도형"/>
            <p:cNvSpPr/>
            <p:nvPr/>
          </p:nvSpPr>
          <p:spPr>
            <a:xfrm>
              <a:off x="9670515" y="24444553"/>
              <a:ext cx="2640000" cy="672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76800" tIns="38400" rIns="76800" bIns="38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1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측정자료 저장소</a:t>
              </a:r>
            </a:p>
          </p:txBody>
        </p:sp>
        <p:sp>
          <p:nvSpPr>
            <p:cNvPr id="5014" name="도형"/>
            <p:cNvSpPr/>
            <p:nvPr/>
          </p:nvSpPr>
          <p:spPr>
            <a:xfrm>
              <a:off x="9670515" y="25212553"/>
              <a:ext cx="2640000" cy="672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76800" tIns="38400" rIns="76800" bIns="38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1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문서 저장소</a:t>
              </a:r>
            </a:p>
          </p:txBody>
        </p:sp>
        <p:sp>
          <p:nvSpPr>
            <p:cNvPr id="5015" name="도형"/>
            <p:cNvSpPr/>
            <p:nvPr/>
          </p:nvSpPr>
          <p:spPr>
            <a:xfrm>
              <a:off x="2854515" y="26402953"/>
              <a:ext cx="9600000" cy="2064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76800" tIns="38400" rIns="76800" bIns="38400" anchor="ctr">
              <a:noAutofit/>
            </a:bodyPr>
            <a:lstStyle/>
            <a:p>
              <a:endParaRPr lang="ko-KR"/>
            </a:p>
          </p:txBody>
        </p:sp>
        <p:sp>
          <p:nvSpPr>
            <p:cNvPr id="5016" name="글상자"/>
            <p:cNvSpPr/>
            <p:nvPr/>
          </p:nvSpPr>
          <p:spPr>
            <a:xfrm>
              <a:off x="2950515" y="26460553"/>
              <a:ext cx="94080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9200" tIns="9600" rIns="19200" bIns="9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3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근거 기반 질의응답</a:t>
              </a:r>
            </a:p>
          </p:txBody>
        </p:sp>
        <p:sp>
          <p:nvSpPr>
            <p:cNvPr id="5017" name="도형"/>
            <p:cNvSpPr/>
            <p:nvPr/>
          </p:nvSpPr>
          <p:spPr>
            <a:xfrm>
              <a:off x="2988915" y="26998153"/>
              <a:ext cx="1651200" cy="1344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6800" tIns="38400" rIns="76800" bIns="38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117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사용자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14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</a:t>
              </a:r>
            </a:p>
          </p:txBody>
        </p:sp>
        <p:sp>
          <p:nvSpPr>
            <p:cNvPr id="5018" name="도형"/>
            <p:cNvSpPr/>
            <p:nvPr/>
          </p:nvSpPr>
          <p:spPr>
            <a:xfrm>
              <a:off x="4908915" y="26998153"/>
              <a:ext cx="1651200" cy="1344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6800" tIns="38400" rIns="76800" bIns="38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965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 해석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43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 CQ1~6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43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댐 · 시점</a:t>
              </a:r>
            </a:p>
          </p:txBody>
        </p:sp>
        <p:sp>
          <p:nvSpPr>
            <p:cNvPr id="5019" name="도형"/>
            <p:cNvSpPr/>
            <p:nvPr/>
          </p:nvSpPr>
          <p:spPr>
            <a:xfrm>
              <a:off x="6828915" y="26998153"/>
              <a:ext cx="1651200" cy="1344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6800" tIns="38400" rIns="76800" bIns="38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965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검색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43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입력 확인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43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 · 저장소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43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조회</a:t>
              </a:r>
            </a:p>
          </p:txBody>
        </p:sp>
        <p:sp>
          <p:nvSpPr>
            <p:cNvPr id="5020" name="도형"/>
            <p:cNvSpPr/>
            <p:nvPr/>
          </p:nvSpPr>
          <p:spPr>
            <a:xfrm>
              <a:off x="8748915" y="26998153"/>
              <a:ext cx="1651200" cy="1344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6800" tIns="38400" rIns="76800" bIns="38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965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43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출처 번호 부착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43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원값 근거</a:t>
              </a:r>
            </a:p>
          </p:txBody>
        </p:sp>
        <p:sp>
          <p:nvSpPr>
            <p:cNvPr id="5021" name="도형"/>
            <p:cNvSpPr/>
            <p:nvPr/>
          </p:nvSpPr>
          <p:spPr>
            <a:xfrm>
              <a:off x="10668915" y="26998153"/>
              <a:ext cx="1651200" cy="1344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6800" tIns="38400" rIns="76800" bIns="38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965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답변 생성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43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/ 판단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43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분리 작성</a:t>
              </a:r>
            </a:p>
          </p:txBody>
        </p:sp>
        <p:cxnSp>
          <p:nvCxnSpPr>
            <p:cNvPr id="5022" name="선"/>
            <p:cNvCxnSpPr/>
            <p:nvPr/>
          </p:nvCxnSpPr>
          <p:spPr>
            <a:xfrm>
              <a:off x="4659315" y="27670153"/>
              <a:ext cx="23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3" name="선"/>
            <p:cNvCxnSpPr/>
            <p:nvPr/>
          </p:nvCxnSpPr>
          <p:spPr>
            <a:xfrm>
              <a:off x="6579315" y="27670153"/>
              <a:ext cx="23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4" name="선"/>
            <p:cNvCxnSpPr/>
            <p:nvPr/>
          </p:nvCxnSpPr>
          <p:spPr>
            <a:xfrm>
              <a:off x="8499315" y="27670153"/>
              <a:ext cx="23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5" name="선"/>
            <p:cNvCxnSpPr/>
            <p:nvPr/>
          </p:nvCxnSpPr>
          <p:spPr>
            <a:xfrm>
              <a:off x="10419315" y="27670153"/>
              <a:ext cx="23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6" name="선"/>
            <p:cNvCxnSpPr/>
            <p:nvPr/>
          </p:nvCxnSpPr>
          <p:spPr>
            <a:xfrm>
              <a:off x="10995315" y="25903753"/>
              <a:ext cx="0" cy="32640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</a:ln>
          </p:spPr>
        </p:cxnSp>
        <p:cxnSp>
          <p:nvCxnSpPr>
            <p:cNvPr id="5027" name="선"/>
            <p:cNvCxnSpPr/>
            <p:nvPr/>
          </p:nvCxnSpPr>
          <p:spPr>
            <a:xfrm flipH="1">
              <a:off x="7654515" y="26230153"/>
              <a:ext cx="3340800" cy="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</a:ln>
          </p:spPr>
        </p:cxnSp>
        <p:cxnSp>
          <p:nvCxnSpPr>
            <p:cNvPr id="5028" name="선"/>
            <p:cNvCxnSpPr/>
            <p:nvPr/>
          </p:nvCxnSpPr>
          <p:spPr>
            <a:xfrm>
              <a:off x="7654515" y="26230153"/>
              <a:ext cx="0" cy="74880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  <a:tailEnd type="triangle" w="med" len="med"/>
            </a:ln>
          </p:spPr>
        </p:cxnSp>
        <p:sp>
          <p:nvSpPr>
            <p:cNvPr id="5029" name="글상자"/>
            <p:cNvSpPr/>
            <p:nvPr/>
          </p:nvSpPr>
          <p:spPr>
            <a:xfrm>
              <a:off x="7846515" y="26287753"/>
              <a:ext cx="2880000" cy="268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9200" tIns="9600" rIns="19200" bIns="9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512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저장소에서 읽어 옴</a:t>
              </a:r>
            </a:p>
          </p:txBody>
        </p:sp>
      </p:grpSp>
      <p:sp>
        <p:nvSpPr>
          <p:cNvPr id="1013" name="본문"/>
          <p:cNvSpPr txBox="1"/>
          <p:nvPr/>
        </p:nvSpPr>
        <p:spPr>
          <a:xfrm>
            <a:off x="597946" y="28670953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1. 연구의 구성</a:t>
            </a:r>
          </a:p>
        </p:txBody>
      </p:sp>
      <p:sp>
        <p:nvSpPr>
          <p:cNvPr id="1014" name="직사각형 1"/>
          <p:cNvSpPr/>
          <p:nvPr/>
        </p:nvSpPr>
        <p:spPr>
          <a:xfrm>
            <a:off x="674157" y="29390953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1. Ontology 설계</a:t>
            </a:r>
          </a:p>
        </p:txBody>
      </p:sp>
      <p:sp>
        <p:nvSpPr>
          <p:cNvPr id="1015" name="본문"/>
          <p:cNvSpPr txBox="1"/>
          <p:nvPr/>
        </p:nvSpPr>
        <p:spPr>
          <a:xfrm>
            <a:off x="597946" y="30533977"/>
            <a:ext cx="14113138" cy="10457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운영자가 확인해야 할 질문을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전체 질문 1개와 세부 질문 6개(CQ1~CQ6)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로 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이 질문에 답하는 데 필요한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Class 6개와 관계 9개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Class별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Data Property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정의함</a:t>
            </a:r>
          </a:p>
        </p:txBody>
      </p:sp>
      <p:sp>
        <p:nvSpPr>
          <p:cNvPr id="1016" name="직사각형 415"/>
          <p:cNvSpPr/>
          <p:nvPr/>
        </p:nvSpPr>
        <p:spPr>
          <a:xfrm>
            <a:off x="830804" y="31579762"/>
            <a:ext cx="13649422" cy="6459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242" tIns="44120" rIns="88242" bIns="44120" spcCol="0" rtlCol="0" anchor="ctr"/>
          <a:lstStyle/>
          <a:p>
            <a:pPr marL="0" lvl="1">
              <a:lnSpc>
                <a:spcPct val="107000"/>
              </a:lnSpc>
            </a:pPr>
            <a:r>
              <a:rPr lang="ko-KR" altLang="en-US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 2. 전체 질문과 세부 질문(CQ)</a:t>
            </a:r>
          </a:p>
        </p:txBody>
      </p:sp>
      <p:graphicFrame>
        <p:nvGraphicFramePr>
          <p:cNvPr id="1017" name="표"/>
          <p:cNvGraphicFramePr>
            <a:graphicFrameLocks noGrp="1"/>
          </p:cNvGraphicFramePr>
          <p:nvPr/>
        </p:nvGraphicFramePr>
        <p:xfrm>
          <a:off x="697946" y="32315747"/>
          <a:ext cx="13500000" cy="3771750"/>
        </p:xfrm>
        <a:graphic>
          <a:graphicData uri="http://schemas.openxmlformats.org/drawingml/2006/table">
            <a:tbl>
              <a:tblPr firstRow="1" bandRow="1"/>
              <a:tblGrid>
                <a:gridCol w="2000000"/>
                <a:gridCol w="11500000"/>
              </a:tblGrid>
              <a:tr h="435750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번호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질문 (Competency Question)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7215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전체 질문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특정 댐의 현재 수문·기상 상태와 운영기준을 확인하고, 선택된 과거 사례의 상태·운영행위·승인·근거를 함께 추적하여 운영 판단을 지원할 수 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5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CQ1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대상 댐의 현재 수문·기상 상태는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35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CQ2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선택된 과거 시점 또는 사례의 수문·기상 상태는 어떠했는가?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5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CQ3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해당 과거 시점 또는 사례에서 수행된 운영행위는 무엇이었는가?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35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CQ4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해당 과거 시점 또는 사례의 방류 승인과 승인 내용은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5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CQ5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현재 대상 댐에 적용되는 운영기준과 기준값은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35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CQ6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위 정보를 확인할 수 있는 공식 자료 또는 근거문서는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5071" name="그림2 KG 예시"/>
          <p:cNvGrpSpPr/>
          <p:nvPr/>
        </p:nvGrpSpPr>
        <p:grpSpPr>
          <a:xfrm>
            <a:off x="3154515" y="36207497"/>
            <a:ext cx="9000000" cy="4921101"/>
            <a:chOff x="3154515" y="36207497"/>
            <a:chExt cx="9000000" cy="4921101"/>
          </a:xfrm>
        </p:grpSpPr>
        <p:sp>
          <p:nvSpPr>
            <p:cNvPr id="5031" name="도형"/>
            <p:cNvSpPr/>
            <p:nvPr/>
          </p:nvSpPr>
          <p:spPr>
            <a:xfrm>
              <a:off x="3526075" y="36207497"/>
              <a:ext cx="3633028" cy="1007339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66055" tIns="33027" rIns="66055" bIns="33027" anchor="ctr">
              <a:noAutofit/>
            </a:bodyPr>
            <a:lstStyle/>
            <a:p>
              <a:endParaRPr lang="ko-KR"/>
            </a:p>
          </p:txBody>
        </p:sp>
        <p:sp>
          <p:nvSpPr>
            <p:cNvPr id="5032" name="도형"/>
            <p:cNvSpPr/>
            <p:nvPr/>
          </p:nvSpPr>
          <p:spPr>
            <a:xfrm>
              <a:off x="3526075" y="36207497"/>
              <a:ext cx="3633028" cy="36330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15596" tIns="57798" rIns="115596" bIns="57798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56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</a:t>
              </a:r>
            </a:p>
          </p:txBody>
        </p:sp>
        <p:sp>
          <p:nvSpPr>
            <p:cNvPr id="5033" name="속성"/>
            <p:cNvSpPr/>
            <p:nvPr/>
          </p:nvSpPr>
          <p:spPr>
            <a:xfrm>
              <a:off x="3526075" y="36587314"/>
              <a:ext cx="3633028" cy="6275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15596" tIns="57798" rIns="115596" bIns="57798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approvalTime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approvalContent</a:t>
              </a:r>
            </a:p>
          </p:txBody>
        </p:sp>
        <p:sp>
          <p:nvSpPr>
            <p:cNvPr id="5034" name="도형"/>
            <p:cNvSpPr/>
            <p:nvPr/>
          </p:nvSpPr>
          <p:spPr>
            <a:xfrm>
              <a:off x="8273781" y="36207497"/>
              <a:ext cx="3633028" cy="1238532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66055" tIns="33027" rIns="66055" bIns="33027" anchor="ctr">
              <a:noAutofit/>
            </a:bodyPr>
            <a:lstStyle/>
            <a:p>
              <a:endParaRPr lang="ko-KR"/>
            </a:p>
          </p:txBody>
        </p:sp>
        <p:sp>
          <p:nvSpPr>
            <p:cNvPr id="5035" name="도형"/>
            <p:cNvSpPr/>
            <p:nvPr/>
          </p:nvSpPr>
          <p:spPr>
            <a:xfrm>
              <a:off x="8273781" y="36207497"/>
              <a:ext cx="3633028" cy="36330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15596" tIns="57798" rIns="115596" bIns="57798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56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</a:t>
              </a:r>
            </a:p>
          </p:txBody>
        </p:sp>
        <p:sp>
          <p:nvSpPr>
            <p:cNvPr id="5036" name="속성"/>
            <p:cNvSpPr/>
            <p:nvPr/>
          </p:nvSpPr>
          <p:spPr>
            <a:xfrm>
              <a:off x="8273781" y="36587314"/>
              <a:ext cx="3633028" cy="858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15596" tIns="57798" rIns="115596" bIns="57798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criterionValue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unit</a:t>
              </a:r>
            </a:p>
          </p:txBody>
        </p:sp>
        <p:sp>
          <p:nvSpPr>
            <p:cNvPr id="5037" name="도형"/>
            <p:cNvSpPr/>
            <p:nvPr/>
          </p:nvSpPr>
          <p:spPr>
            <a:xfrm>
              <a:off x="3526075" y="37908414"/>
              <a:ext cx="3633028" cy="1007339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66055" tIns="33027" rIns="66055" bIns="33027" anchor="ctr">
              <a:noAutofit/>
            </a:bodyPr>
            <a:lstStyle/>
            <a:p>
              <a:endParaRPr lang="ko-KR"/>
            </a:p>
          </p:txBody>
        </p:sp>
        <p:sp>
          <p:nvSpPr>
            <p:cNvPr id="5038" name="도형"/>
            <p:cNvSpPr/>
            <p:nvPr/>
          </p:nvSpPr>
          <p:spPr>
            <a:xfrm>
              <a:off x="3526075" y="37908414"/>
              <a:ext cx="3633028" cy="36330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15596" tIns="57798" rIns="115596" bIns="57798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56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</a:t>
              </a:r>
            </a:p>
          </p:txBody>
        </p:sp>
        <p:sp>
          <p:nvSpPr>
            <p:cNvPr id="5039" name="속성"/>
            <p:cNvSpPr/>
            <p:nvPr/>
          </p:nvSpPr>
          <p:spPr>
            <a:xfrm>
              <a:off x="3526075" y="38288231"/>
              <a:ext cx="3633028" cy="6275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15596" tIns="57798" rIns="115596" bIns="57798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operationTime</a:t>
              </a:r>
            </a:p>
          </p:txBody>
        </p:sp>
        <p:sp>
          <p:nvSpPr>
            <p:cNvPr id="5040" name="도형"/>
            <p:cNvSpPr/>
            <p:nvPr/>
          </p:nvSpPr>
          <p:spPr>
            <a:xfrm>
              <a:off x="8273781" y="37908414"/>
              <a:ext cx="3633028" cy="1007339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66055" tIns="33027" rIns="66055" bIns="33027" anchor="ctr">
              <a:noAutofit/>
            </a:bodyPr>
            <a:lstStyle/>
            <a:p>
              <a:endParaRPr lang="ko-KR"/>
            </a:p>
          </p:txBody>
        </p:sp>
        <p:sp>
          <p:nvSpPr>
            <p:cNvPr id="5041" name="도형"/>
            <p:cNvSpPr/>
            <p:nvPr/>
          </p:nvSpPr>
          <p:spPr>
            <a:xfrm>
              <a:off x="8273781" y="37908414"/>
              <a:ext cx="3633028" cy="36330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15596" tIns="57798" rIns="115596" bIns="57798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56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</a:t>
              </a:r>
            </a:p>
          </p:txBody>
        </p:sp>
        <p:sp>
          <p:nvSpPr>
            <p:cNvPr id="5042" name="속성"/>
            <p:cNvSpPr/>
            <p:nvPr/>
          </p:nvSpPr>
          <p:spPr>
            <a:xfrm>
              <a:off x="8273781" y="38288231"/>
              <a:ext cx="3633028" cy="6275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15596" tIns="57798" rIns="115596" bIns="57798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damName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damType</a:t>
              </a:r>
            </a:p>
          </p:txBody>
        </p:sp>
        <p:sp>
          <p:nvSpPr>
            <p:cNvPr id="5043" name="도형"/>
            <p:cNvSpPr/>
            <p:nvPr/>
          </p:nvSpPr>
          <p:spPr>
            <a:xfrm>
              <a:off x="3526075" y="39378139"/>
              <a:ext cx="3633028" cy="1238532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66055" tIns="33027" rIns="66055" bIns="33027" anchor="ctr">
              <a:noAutofit/>
            </a:bodyPr>
            <a:lstStyle/>
            <a:p>
              <a:endParaRPr lang="ko-KR"/>
            </a:p>
          </p:txBody>
        </p:sp>
        <p:sp>
          <p:nvSpPr>
            <p:cNvPr id="5044" name="도형"/>
            <p:cNvSpPr/>
            <p:nvPr/>
          </p:nvSpPr>
          <p:spPr>
            <a:xfrm>
              <a:off x="3526075" y="39378139"/>
              <a:ext cx="3633028" cy="36330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15596" tIns="57798" rIns="115596" bIns="57798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56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EvidenceSource</a:t>
              </a:r>
            </a:p>
          </p:txBody>
        </p:sp>
        <p:sp>
          <p:nvSpPr>
            <p:cNvPr id="5045" name="속성"/>
            <p:cNvSpPr/>
            <p:nvPr/>
          </p:nvSpPr>
          <p:spPr>
            <a:xfrm>
              <a:off x="3526075" y="39757956"/>
              <a:ext cx="3633028" cy="858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15596" tIns="57798" rIns="115596" bIns="57798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sourceTitle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sourceLocator</a:t>
              </a:r>
            </a:p>
          </p:txBody>
        </p:sp>
        <p:sp>
          <p:nvSpPr>
            <p:cNvPr id="5046" name="도형"/>
            <p:cNvSpPr/>
            <p:nvPr/>
          </p:nvSpPr>
          <p:spPr>
            <a:xfrm>
              <a:off x="8273781" y="39378139"/>
              <a:ext cx="3633028" cy="1007339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66055" tIns="33027" rIns="66055" bIns="33027" anchor="ctr">
              <a:noAutofit/>
            </a:bodyPr>
            <a:lstStyle/>
            <a:p>
              <a:endParaRPr lang="ko-KR"/>
            </a:p>
          </p:txBody>
        </p:sp>
        <p:sp>
          <p:nvSpPr>
            <p:cNvPr id="5047" name="도형"/>
            <p:cNvSpPr/>
            <p:nvPr/>
          </p:nvSpPr>
          <p:spPr>
            <a:xfrm>
              <a:off x="8273781" y="39378139"/>
              <a:ext cx="3633028" cy="36330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15596" tIns="57798" rIns="115596" bIns="57798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56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HydrometeorologicalState</a:t>
              </a:r>
            </a:p>
          </p:txBody>
        </p:sp>
        <p:sp>
          <p:nvSpPr>
            <p:cNvPr id="5048" name="속성"/>
            <p:cNvSpPr/>
            <p:nvPr/>
          </p:nvSpPr>
          <p:spPr>
            <a:xfrm>
              <a:off x="8273781" y="39757956"/>
              <a:ext cx="3633028" cy="6275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15596" tIns="57798" rIns="115596" bIns="57798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variableType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stationCode</a:t>
              </a:r>
            </a:p>
          </p:txBody>
        </p:sp>
        <p:cxnSp>
          <p:nvCxnSpPr>
            <p:cNvPr id="5049" name="선"/>
            <p:cNvCxnSpPr/>
            <p:nvPr/>
          </p:nvCxnSpPr>
          <p:spPr>
            <a:xfrm>
              <a:off x="5342588" y="37231350"/>
              <a:ext cx="0" cy="66055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0" name="글상자"/>
            <p:cNvSpPr/>
            <p:nvPr/>
          </p:nvSpPr>
          <p:spPr>
            <a:xfrm>
              <a:off x="5553965" y="37394011"/>
              <a:ext cx="898349" cy="2196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6514" tIns="8257" rIns="16514" bIns="825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3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authorizes</a:t>
              </a:r>
            </a:p>
          </p:txBody>
        </p:sp>
        <p:cxnSp>
          <p:nvCxnSpPr>
            <p:cNvPr id="5051" name="선"/>
            <p:cNvCxnSpPr/>
            <p:nvPr/>
          </p:nvCxnSpPr>
          <p:spPr>
            <a:xfrm>
              <a:off x="7175616" y="36950616"/>
              <a:ext cx="1081651" cy="1288073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2" name="글상자"/>
            <p:cNvSpPr/>
            <p:nvPr/>
          </p:nvSpPr>
          <p:spPr>
            <a:xfrm>
              <a:off x="7263304" y="37341992"/>
              <a:ext cx="947560" cy="20807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6514" tIns="8257" rIns="16514" bIns="825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concernsDam</a:t>
              </a:r>
            </a:p>
          </p:txBody>
        </p:sp>
        <p:cxnSp>
          <p:nvCxnSpPr>
            <p:cNvPr id="5053" name="선"/>
            <p:cNvCxnSpPr/>
            <p:nvPr/>
          </p:nvCxnSpPr>
          <p:spPr>
            <a:xfrm>
              <a:off x="7175616" y="38651534"/>
              <a:ext cx="1081651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4" name="글상자"/>
            <p:cNvSpPr/>
            <p:nvPr/>
          </p:nvSpPr>
          <p:spPr>
            <a:xfrm>
              <a:off x="7216075" y="38383185"/>
              <a:ext cx="1008991" cy="17339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6514" tIns="8257" rIns="16514" bIns="825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97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performedOnDam</a:t>
              </a:r>
            </a:p>
          </p:txBody>
        </p:sp>
        <p:cxnSp>
          <p:nvCxnSpPr>
            <p:cNvPr id="5055" name="선"/>
            <p:cNvCxnSpPr/>
            <p:nvPr/>
          </p:nvCxnSpPr>
          <p:spPr>
            <a:xfrm>
              <a:off x="10090295" y="37462543"/>
              <a:ext cx="0" cy="429358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6" name="글상자"/>
            <p:cNvSpPr/>
            <p:nvPr/>
          </p:nvSpPr>
          <p:spPr>
            <a:xfrm>
              <a:off x="10245689" y="37625203"/>
              <a:ext cx="1092881" cy="2196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6514" tIns="8257" rIns="16514" bIns="825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3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appliesToDam</a:t>
              </a:r>
            </a:p>
          </p:txBody>
        </p:sp>
        <p:cxnSp>
          <p:nvCxnSpPr>
            <p:cNvPr id="5057" name="선"/>
            <p:cNvCxnSpPr/>
            <p:nvPr/>
          </p:nvCxnSpPr>
          <p:spPr>
            <a:xfrm>
              <a:off x="10090295" y="38932268"/>
              <a:ext cx="0" cy="429358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8" name="글상자"/>
            <p:cNvSpPr/>
            <p:nvPr/>
          </p:nvSpPr>
          <p:spPr>
            <a:xfrm>
              <a:off x="10099212" y="39112268"/>
              <a:ext cx="1963817" cy="1849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6514" tIns="8257" rIns="16514" bIns="825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04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hasHydrometeorologicalState</a:t>
              </a:r>
            </a:p>
          </p:txBody>
        </p:sp>
        <p:cxnSp>
          <p:nvCxnSpPr>
            <p:cNvPr id="5059" name="선"/>
            <p:cNvCxnSpPr/>
            <p:nvPr/>
          </p:nvCxnSpPr>
          <p:spPr>
            <a:xfrm>
              <a:off x="5342588" y="38932268"/>
              <a:ext cx="0" cy="429358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60" name="글상자"/>
            <p:cNvSpPr/>
            <p:nvPr/>
          </p:nvSpPr>
          <p:spPr>
            <a:xfrm>
              <a:off x="5422763" y="39094928"/>
              <a:ext cx="995615" cy="2196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6514" tIns="8257" rIns="16514" bIns="825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3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061" name="선"/>
            <p:cNvCxnSpPr/>
            <p:nvPr/>
          </p:nvCxnSpPr>
          <p:spPr>
            <a:xfrm flipH="1">
              <a:off x="7175616" y="40121258"/>
              <a:ext cx="1081651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62" name="글상자"/>
            <p:cNvSpPr/>
            <p:nvPr/>
          </p:nvSpPr>
          <p:spPr>
            <a:xfrm>
              <a:off x="7246790" y="39835570"/>
              <a:ext cx="947560" cy="20807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6514" tIns="8257" rIns="16514" bIns="825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063" name="선"/>
            <p:cNvCxnSpPr/>
            <p:nvPr/>
          </p:nvCxnSpPr>
          <p:spPr>
            <a:xfrm flipH="1">
              <a:off x="3303139" y="36785479"/>
              <a:ext cx="222936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4" name="선"/>
            <p:cNvCxnSpPr/>
            <p:nvPr/>
          </p:nvCxnSpPr>
          <p:spPr>
            <a:xfrm>
              <a:off x="3303139" y="36785479"/>
              <a:ext cx="0" cy="3583486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5" name="선"/>
            <p:cNvCxnSpPr/>
            <p:nvPr/>
          </p:nvCxnSpPr>
          <p:spPr>
            <a:xfrm>
              <a:off x="3303139" y="40368965"/>
              <a:ext cx="206422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66" name="선"/>
            <p:cNvCxnSpPr/>
            <p:nvPr/>
          </p:nvCxnSpPr>
          <p:spPr>
            <a:xfrm>
              <a:off x="11906809" y="36785479"/>
              <a:ext cx="82569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7" name="선"/>
            <p:cNvCxnSpPr/>
            <p:nvPr/>
          </p:nvCxnSpPr>
          <p:spPr>
            <a:xfrm>
              <a:off x="11989377" y="36785479"/>
              <a:ext cx="0" cy="4062385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8" name="선"/>
            <p:cNvCxnSpPr/>
            <p:nvPr/>
          </p:nvCxnSpPr>
          <p:spPr>
            <a:xfrm flipH="1">
              <a:off x="6003139" y="40847864"/>
              <a:ext cx="5986239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9" name="선"/>
            <p:cNvCxnSpPr/>
            <p:nvPr/>
          </p:nvCxnSpPr>
          <p:spPr>
            <a:xfrm flipV="1">
              <a:off x="6003139" y="40633185"/>
              <a:ext cx="0" cy="214679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70" name="글상자"/>
            <p:cNvSpPr/>
            <p:nvPr/>
          </p:nvSpPr>
          <p:spPr>
            <a:xfrm>
              <a:off x="3154515" y="40946947"/>
              <a:ext cx="9000000" cy="23119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6514" tIns="8257" rIns="16514" bIns="825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카드: Class 이름과 Data Property.   화살표: 관계(Relation) 9종류</a:t>
              </a:r>
            </a:p>
          </p:txBody>
        </p:sp>
      </p:grpSp>
      <p:sp>
        <p:nvSpPr>
          <p:cNvPr id="1018" name="본문"/>
          <p:cNvSpPr txBox="1"/>
          <p:nvPr/>
        </p:nvSpPr>
        <p:spPr>
          <a:xfrm>
            <a:off x="597946" y="41188598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2. Ontology: Class 6개, 관계 9개, Class별 Data Property</a:t>
            </a:r>
          </a:p>
        </p:txBody>
      </p:sp>
      <p:sp>
        <p:nvSpPr>
          <p:cNvPr id="1019" name="직사각형 1"/>
          <p:cNvSpPr/>
          <p:nvPr/>
        </p:nvSpPr>
        <p:spPr>
          <a:xfrm>
            <a:off x="15691431" y="635000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2. KG 구축</a:t>
            </a:r>
          </a:p>
        </p:txBody>
      </p:sp>
      <p:sp>
        <p:nvSpPr>
          <p:cNvPr id="1020" name="본문"/>
          <p:cNvSpPr txBox="1"/>
          <p:nvPr/>
        </p:nvSpPr>
        <p:spPr>
          <a:xfrm>
            <a:off x="15570184" y="7493024"/>
            <a:ext cx="14113138" cy="10457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자료의 형태에 맞게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6단계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처리하여 Ontology에 맞는 개체와 관계로 구축함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측정값 전체와 규정 원문은 KG 밖 저장소에 두고, KG에는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찾아가는 키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만 저장함</a:t>
            </a:r>
          </a:p>
        </p:txBody>
      </p:sp>
      <p:grpSp>
        <p:nvGrpSpPr>
          <p:cNvPr id="5085" name="그림 KG 구축 6단계"/>
          <p:cNvGrpSpPr/>
          <p:nvPr/>
        </p:nvGrpSpPr>
        <p:grpSpPr>
          <a:xfrm>
            <a:off x="16626753" y="8538809"/>
            <a:ext cx="12000000" cy="3600000"/>
            <a:chOff x="16626753" y="8538809"/>
            <a:chExt cx="12000000" cy="3600000"/>
          </a:xfrm>
        </p:grpSpPr>
        <p:sp>
          <p:nvSpPr>
            <p:cNvPr id="5072" name="도형"/>
            <p:cNvSpPr/>
            <p:nvPr/>
          </p:nvSpPr>
          <p:spPr>
            <a:xfrm>
              <a:off x="16626753" y="8538809"/>
              <a:ext cx="3600000" cy="1500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96000" tIns="48000" rIns="96000" bIns="48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457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전처리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98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중복·표기 정리, 대상 댐 선택</a:t>
              </a:r>
            </a:p>
          </p:txBody>
        </p:sp>
        <p:sp>
          <p:nvSpPr>
            <p:cNvPr id="5073" name="도형"/>
            <p:cNvSpPr/>
            <p:nvPr/>
          </p:nvSpPr>
          <p:spPr>
            <a:xfrm>
              <a:off x="20826753" y="8538809"/>
              <a:ext cx="3600000" cy="1500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96000" tIns="48000" rIns="96000" bIns="48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457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구조화 자료 매핑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98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표의 열·행을 속성·개체로 옮김</a:t>
              </a:r>
            </a:p>
          </p:txBody>
        </p:sp>
        <p:sp>
          <p:nvSpPr>
            <p:cNvPr id="5074" name="도형"/>
            <p:cNvSpPr/>
            <p:nvPr/>
          </p:nvSpPr>
          <p:spPr>
            <a:xfrm>
              <a:off x="25026753" y="8538809"/>
              <a:ext cx="3600000" cy="1500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96000" tIns="48000" rIns="96000" bIns="48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457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문서 자료 추출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98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글 속의 값을 규칙으로 추출</a:t>
              </a:r>
            </a:p>
          </p:txBody>
        </p:sp>
        <p:sp>
          <p:nvSpPr>
            <p:cNvPr id="5075" name="도형"/>
            <p:cNvSpPr/>
            <p:nvPr/>
          </p:nvSpPr>
          <p:spPr>
            <a:xfrm>
              <a:off x="16626753" y="10638809"/>
              <a:ext cx="3600000" cy="1500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96000" tIns="48000" rIns="96000" bIns="48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457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4 관계 연결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98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값이 일치하는 개체 쌍에 관계 생성</a:t>
              </a:r>
            </a:p>
          </p:txBody>
        </p:sp>
        <p:sp>
          <p:nvSpPr>
            <p:cNvPr id="5076" name="도형"/>
            <p:cNvSpPr/>
            <p:nvPr/>
          </p:nvSpPr>
          <p:spPr>
            <a:xfrm>
              <a:off x="20826753" y="10638809"/>
              <a:ext cx="3600000" cy="1500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96000" tIns="48000" rIns="96000" bIns="48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457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5 검증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98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허용 규칙으로 점검, Ontology 보완</a:t>
              </a:r>
            </a:p>
          </p:txBody>
        </p:sp>
        <p:sp>
          <p:nvSpPr>
            <p:cNvPr id="5077" name="도형"/>
            <p:cNvSpPr/>
            <p:nvPr/>
          </p:nvSpPr>
          <p:spPr>
            <a:xfrm>
              <a:off x="25026753" y="10638809"/>
              <a:ext cx="3600000" cy="1500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96000" tIns="48000" rIns="96000" bIns="48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457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6 저장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98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KG는 Neo4j, 측정값·원문은 저장소</a:t>
              </a:r>
            </a:p>
          </p:txBody>
        </p:sp>
        <p:cxnSp>
          <p:nvCxnSpPr>
            <p:cNvPr id="5078" name="선"/>
            <p:cNvCxnSpPr/>
            <p:nvPr/>
          </p:nvCxnSpPr>
          <p:spPr>
            <a:xfrm>
              <a:off x="20250753" y="9282809"/>
              <a:ext cx="5520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79" name="선"/>
            <p:cNvCxnSpPr/>
            <p:nvPr/>
          </p:nvCxnSpPr>
          <p:spPr>
            <a:xfrm>
              <a:off x="24450753" y="9282809"/>
              <a:ext cx="5520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80" name="선"/>
            <p:cNvCxnSpPr/>
            <p:nvPr/>
          </p:nvCxnSpPr>
          <p:spPr>
            <a:xfrm>
              <a:off x="26826753" y="10062809"/>
              <a:ext cx="0" cy="27600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81" name="선"/>
            <p:cNvCxnSpPr/>
            <p:nvPr/>
          </p:nvCxnSpPr>
          <p:spPr>
            <a:xfrm flipH="1">
              <a:off x="18426753" y="10338809"/>
              <a:ext cx="8400000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82" name="선"/>
            <p:cNvCxnSpPr/>
            <p:nvPr/>
          </p:nvCxnSpPr>
          <p:spPr>
            <a:xfrm>
              <a:off x="18426753" y="10338809"/>
              <a:ext cx="0" cy="2760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83" name="선"/>
            <p:cNvCxnSpPr/>
            <p:nvPr/>
          </p:nvCxnSpPr>
          <p:spPr>
            <a:xfrm>
              <a:off x="20250753" y="11382809"/>
              <a:ext cx="5520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84" name="선"/>
            <p:cNvCxnSpPr/>
            <p:nvPr/>
          </p:nvCxnSpPr>
          <p:spPr>
            <a:xfrm>
              <a:off x="24450753" y="11382809"/>
              <a:ext cx="5520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</p:grpSp>
      <p:sp>
        <p:nvSpPr>
          <p:cNvPr id="1021" name="본문"/>
          <p:cNvSpPr txBox="1"/>
          <p:nvPr/>
        </p:nvSpPr>
        <p:spPr>
          <a:xfrm>
            <a:off x="15570184" y="12198809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3. KG 구축 6단계</a:t>
            </a:r>
          </a:p>
        </p:txBody>
      </p:sp>
      <p:grpSp>
        <p:nvGrpSpPr>
          <p:cNvPr id="5126" name="그림2 KG 예시"/>
          <p:cNvGrpSpPr/>
          <p:nvPr/>
        </p:nvGrpSpPr>
        <p:grpSpPr>
          <a:xfrm>
            <a:off x="17826753" y="12718809"/>
            <a:ext cx="9600000" cy="5988991"/>
            <a:chOff x="17826753" y="12718809"/>
            <a:chExt cx="9600000" cy="5988991"/>
          </a:xfrm>
        </p:grpSpPr>
        <p:sp>
          <p:nvSpPr>
            <p:cNvPr id="5086" name="도형"/>
            <p:cNvSpPr/>
            <p:nvPr/>
          </p:nvSpPr>
          <p:spPr>
            <a:xfrm>
              <a:off x="18223083" y="12718809"/>
              <a:ext cx="3875229" cy="1321101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0459" tIns="35229" rIns="70459" bIns="35229" anchor="ctr">
              <a:noAutofit/>
            </a:bodyPr>
            <a:lstStyle/>
            <a:p>
              <a:endParaRPr lang="ko-KR"/>
            </a:p>
          </p:txBody>
        </p:sp>
        <p:sp>
          <p:nvSpPr>
            <p:cNvPr id="5087" name="도형"/>
            <p:cNvSpPr/>
            <p:nvPr/>
          </p:nvSpPr>
          <p:spPr>
            <a:xfrm>
              <a:off x="18223083" y="12718809"/>
              <a:ext cx="3875229" cy="38752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3303" tIns="61651" rIns="123303" bIns="61651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4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</a:t>
              </a:r>
            </a:p>
          </p:txBody>
        </p:sp>
        <p:sp>
          <p:nvSpPr>
            <p:cNvPr id="5088" name="속성"/>
            <p:cNvSpPr/>
            <p:nvPr/>
          </p:nvSpPr>
          <p:spPr>
            <a:xfrm>
              <a:off x="18223083" y="13123947"/>
              <a:ext cx="3875229" cy="9159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3303" tIns="61651" rIns="123303" bIns="61651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APR:1368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approvalTime = 2012-08-24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approvalContent = “방류시작 15:00; 2000㎥/s”</a:t>
              </a:r>
            </a:p>
          </p:txBody>
        </p:sp>
        <p:sp>
          <p:nvSpPr>
            <p:cNvPr id="5089" name="도형"/>
            <p:cNvSpPr/>
            <p:nvPr/>
          </p:nvSpPr>
          <p:spPr>
            <a:xfrm>
              <a:off x="23287303" y="12718809"/>
              <a:ext cx="3875229" cy="1567706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0459" tIns="35229" rIns="70459" bIns="35229" anchor="ctr">
              <a:noAutofit/>
            </a:bodyPr>
            <a:lstStyle/>
            <a:p>
              <a:endParaRPr lang="ko-KR"/>
            </a:p>
          </p:txBody>
        </p:sp>
        <p:sp>
          <p:nvSpPr>
            <p:cNvPr id="5090" name="도형"/>
            <p:cNvSpPr/>
            <p:nvPr/>
          </p:nvSpPr>
          <p:spPr>
            <a:xfrm>
              <a:off x="23287303" y="12718809"/>
              <a:ext cx="3875229" cy="38752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3303" tIns="61651" rIns="123303" bIns="61651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4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</a:t>
              </a:r>
            </a:p>
          </p:txBody>
        </p:sp>
        <p:sp>
          <p:nvSpPr>
            <p:cNvPr id="5091" name="속성"/>
            <p:cNvSpPr/>
            <p:nvPr/>
          </p:nvSpPr>
          <p:spPr>
            <a:xfrm>
              <a:off x="23287303" y="13123947"/>
              <a:ext cx="3875229" cy="11625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3303" tIns="61651" rIns="123303" bIns="61651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CRI:CR-02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criterionType = 홍수기 제한수위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criterionValue = 138.0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unit = EL.m</a:t>
              </a:r>
            </a:p>
          </p:txBody>
        </p:sp>
        <p:sp>
          <p:nvSpPr>
            <p:cNvPr id="5092" name="도형"/>
            <p:cNvSpPr/>
            <p:nvPr/>
          </p:nvSpPr>
          <p:spPr>
            <a:xfrm>
              <a:off x="18223083" y="14779726"/>
              <a:ext cx="3875229" cy="1321101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0459" tIns="35229" rIns="70459" bIns="35229" anchor="ctr">
              <a:noAutofit/>
            </a:bodyPr>
            <a:lstStyle/>
            <a:p>
              <a:endParaRPr lang="ko-KR"/>
            </a:p>
          </p:txBody>
        </p:sp>
        <p:sp>
          <p:nvSpPr>
            <p:cNvPr id="5093" name="도형"/>
            <p:cNvSpPr/>
            <p:nvPr/>
          </p:nvSpPr>
          <p:spPr>
            <a:xfrm>
              <a:off x="18223083" y="14779726"/>
              <a:ext cx="3875229" cy="38752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3303" tIns="61651" rIns="123303" bIns="61651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4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</a:t>
              </a:r>
            </a:p>
          </p:txBody>
        </p:sp>
        <p:sp>
          <p:nvSpPr>
            <p:cNvPr id="5094" name="속성"/>
            <p:cNvSpPr/>
            <p:nvPr/>
          </p:nvSpPr>
          <p:spPr>
            <a:xfrm>
              <a:off x="18223083" y="15184864"/>
              <a:ext cx="3875229" cy="9159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3303" tIns="61651" rIns="123303" bIns="61651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OPR:1368:1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operationType = 탄력적 방류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operationTime = 2012-08-24T15:00</a:t>
              </a:r>
            </a:p>
          </p:txBody>
        </p:sp>
        <p:sp>
          <p:nvSpPr>
            <p:cNvPr id="5095" name="도형"/>
            <p:cNvSpPr/>
            <p:nvPr/>
          </p:nvSpPr>
          <p:spPr>
            <a:xfrm>
              <a:off x="23287303" y="14779726"/>
              <a:ext cx="3875229" cy="1321101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0459" tIns="35229" rIns="70459" bIns="35229" anchor="ctr">
              <a:noAutofit/>
            </a:bodyPr>
            <a:lstStyle/>
            <a:p>
              <a:endParaRPr lang="ko-KR"/>
            </a:p>
          </p:txBody>
        </p:sp>
        <p:sp>
          <p:nvSpPr>
            <p:cNvPr id="5096" name="도형"/>
            <p:cNvSpPr/>
            <p:nvPr/>
          </p:nvSpPr>
          <p:spPr>
            <a:xfrm>
              <a:off x="23287303" y="14779726"/>
              <a:ext cx="3875229" cy="38752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3303" tIns="61651" rIns="123303" bIns="61651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4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</a:t>
              </a:r>
            </a:p>
          </p:txBody>
        </p:sp>
        <p:sp>
          <p:nvSpPr>
            <p:cNvPr id="5097" name="속성"/>
            <p:cNvSpPr/>
            <p:nvPr/>
          </p:nvSpPr>
          <p:spPr>
            <a:xfrm>
              <a:off x="23287303" y="15184864"/>
              <a:ext cx="3875229" cy="9159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3303" tIns="61651" rIns="123303" bIns="61651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DAM:1003110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damName = 충주댐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damType = 다목적댐</a:t>
              </a:r>
            </a:p>
          </p:txBody>
        </p:sp>
        <p:sp>
          <p:nvSpPr>
            <p:cNvPr id="5098" name="도형"/>
            <p:cNvSpPr/>
            <p:nvPr/>
          </p:nvSpPr>
          <p:spPr>
            <a:xfrm>
              <a:off x="18223083" y="16594038"/>
              <a:ext cx="3875229" cy="1567706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0459" tIns="35229" rIns="70459" bIns="35229" anchor="ctr">
              <a:noAutofit/>
            </a:bodyPr>
            <a:lstStyle/>
            <a:p>
              <a:endParaRPr lang="ko-KR"/>
            </a:p>
          </p:txBody>
        </p:sp>
        <p:sp>
          <p:nvSpPr>
            <p:cNvPr id="5099" name="도형"/>
            <p:cNvSpPr/>
            <p:nvPr/>
          </p:nvSpPr>
          <p:spPr>
            <a:xfrm>
              <a:off x="18223083" y="16594038"/>
              <a:ext cx="3875229" cy="38752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3303" tIns="61651" rIns="123303" bIns="61651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4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EvidenceSource</a:t>
              </a:r>
            </a:p>
          </p:txBody>
        </p:sp>
        <p:sp>
          <p:nvSpPr>
            <p:cNvPr id="5100" name="속성"/>
            <p:cNvSpPr/>
            <p:nvPr/>
          </p:nvSpPr>
          <p:spPr>
            <a:xfrm>
              <a:off x="18223083" y="16999176"/>
              <a:ext cx="3875229" cy="11625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3303" tIns="61651" rIns="123303" bIns="61651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EVI:AP:1368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sourceTitle = 홍수예보 댐방류승인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sourceType = 승인자료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sourceLocator = 순차번호 1368</a:t>
              </a:r>
            </a:p>
          </p:txBody>
        </p:sp>
        <p:sp>
          <p:nvSpPr>
            <p:cNvPr id="5101" name="도형"/>
            <p:cNvSpPr/>
            <p:nvPr/>
          </p:nvSpPr>
          <p:spPr>
            <a:xfrm>
              <a:off x="23287303" y="16594038"/>
              <a:ext cx="3875229" cy="1321101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0459" tIns="35229" rIns="70459" bIns="35229" anchor="ctr">
              <a:noAutofit/>
            </a:bodyPr>
            <a:lstStyle/>
            <a:p>
              <a:endParaRPr lang="ko-KR"/>
            </a:p>
          </p:txBody>
        </p:sp>
        <p:sp>
          <p:nvSpPr>
            <p:cNvPr id="5102" name="도형"/>
            <p:cNvSpPr/>
            <p:nvPr/>
          </p:nvSpPr>
          <p:spPr>
            <a:xfrm>
              <a:off x="23287303" y="16594038"/>
              <a:ext cx="3875229" cy="38752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3303" tIns="61651" rIns="123303" bIns="61651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4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HydrometeorologicalState</a:t>
              </a:r>
            </a:p>
          </p:txBody>
        </p:sp>
        <p:sp>
          <p:nvSpPr>
            <p:cNvPr id="5103" name="속성"/>
            <p:cNvSpPr/>
            <p:nvPr/>
          </p:nvSpPr>
          <p:spPr>
            <a:xfrm>
              <a:off x="23287303" y="16999176"/>
              <a:ext cx="3875229" cy="9159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3303" tIns="61651" rIns="123303" bIns="61651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HMS:1003110:수위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variableType = 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stationCode = 1003110</a:t>
              </a:r>
            </a:p>
          </p:txBody>
        </p:sp>
        <p:cxnSp>
          <p:nvCxnSpPr>
            <p:cNvPr id="5104" name="선"/>
            <p:cNvCxnSpPr/>
            <p:nvPr/>
          </p:nvCxnSpPr>
          <p:spPr>
            <a:xfrm>
              <a:off x="20160698" y="14057525"/>
              <a:ext cx="0" cy="704587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5" name="글상자"/>
            <p:cNvSpPr/>
            <p:nvPr/>
          </p:nvSpPr>
          <p:spPr>
            <a:xfrm>
              <a:off x="20386166" y="14231029"/>
              <a:ext cx="958239" cy="234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1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authorizes</a:t>
              </a:r>
            </a:p>
          </p:txBody>
        </p:sp>
        <p:cxnSp>
          <p:nvCxnSpPr>
            <p:cNvPr id="5106" name="선"/>
            <p:cNvCxnSpPr/>
            <p:nvPr/>
          </p:nvCxnSpPr>
          <p:spPr>
            <a:xfrm>
              <a:off x="22115927" y="13511470"/>
              <a:ext cx="1153761" cy="162055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7" name="글상자"/>
            <p:cNvSpPr/>
            <p:nvPr/>
          </p:nvSpPr>
          <p:spPr>
            <a:xfrm>
              <a:off x="22209461" y="13928937"/>
              <a:ext cx="1010730" cy="22194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concernsDam</a:t>
              </a:r>
            </a:p>
          </p:txBody>
        </p:sp>
        <p:cxnSp>
          <p:nvCxnSpPr>
            <p:cNvPr id="5108" name="선"/>
            <p:cNvCxnSpPr/>
            <p:nvPr/>
          </p:nvCxnSpPr>
          <p:spPr>
            <a:xfrm>
              <a:off x="22115927" y="15572387"/>
              <a:ext cx="1153761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9" name="글상자"/>
            <p:cNvSpPr/>
            <p:nvPr/>
          </p:nvSpPr>
          <p:spPr>
            <a:xfrm>
              <a:off x="22159083" y="15286148"/>
              <a:ext cx="1076257" cy="1849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04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performedOnDam</a:t>
              </a:r>
            </a:p>
          </p:txBody>
        </p:sp>
        <p:cxnSp>
          <p:nvCxnSpPr>
            <p:cNvPr id="5110" name="선"/>
            <p:cNvCxnSpPr/>
            <p:nvPr/>
          </p:nvCxnSpPr>
          <p:spPr>
            <a:xfrm>
              <a:off x="25224918" y="14304130"/>
              <a:ext cx="0" cy="457982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1" name="글상자"/>
            <p:cNvSpPr/>
            <p:nvPr/>
          </p:nvSpPr>
          <p:spPr>
            <a:xfrm>
              <a:off x="25390672" y="14477635"/>
              <a:ext cx="1165739" cy="234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1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appliesToDam</a:t>
              </a:r>
            </a:p>
          </p:txBody>
        </p:sp>
        <p:cxnSp>
          <p:nvCxnSpPr>
            <p:cNvPr id="5112" name="선"/>
            <p:cNvCxnSpPr/>
            <p:nvPr/>
          </p:nvCxnSpPr>
          <p:spPr>
            <a:xfrm>
              <a:off x="25224918" y="16118442"/>
              <a:ext cx="0" cy="457982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3" name="글상자"/>
            <p:cNvSpPr/>
            <p:nvPr/>
          </p:nvSpPr>
          <p:spPr>
            <a:xfrm>
              <a:off x="25234430" y="16310442"/>
              <a:ext cx="2094738" cy="1972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11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hasHydrometeorologicalState</a:t>
              </a:r>
            </a:p>
          </p:txBody>
        </p:sp>
        <p:cxnSp>
          <p:nvCxnSpPr>
            <p:cNvPr id="5114" name="선"/>
            <p:cNvCxnSpPr/>
            <p:nvPr/>
          </p:nvCxnSpPr>
          <p:spPr>
            <a:xfrm>
              <a:off x="20160698" y="16118442"/>
              <a:ext cx="0" cy="457982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5" name="글상자"/>
            <p:cNvSpPr/>
            <p:nvPr/>
          </p:nvSpPr>
          <p:spPr>
            <a:xfrm>
              <a:off x="20246217" y="16291947"/>
              <a:ext cx="1061989" cy="234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1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116" name="선"/>
            <p:cNvCxnSpPr/>
            <p:nvPr/>
          </p:nvCxnSpPr>
          <p:spPr>
            <a:xfrm flipH="1">
              <a:off x="22115927" y="17386699"/>
              <a:ext cx="1153761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7" name="글상자"/>
            <p:cNvSpPr/>
            <p:nvPr/>
          </p:nvSpPr>
          <p:spPr>
            <a:xfrm>
              <a:off x="22191847" y="17081965"/>
              <a:ext cx="1010730" cy="22194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118" name="선"/>
            <p:cNvCxnSpPr/>
            <p:nvPr/>
          </p:nvCxnSpPr>
          <p:spPr>
            <a:xfrm flipH="1">
              <a:off x="17985285" y="13335323"/>
              <a:ext cx="237798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19" name="선"/>
            <p:cNvCxnSpPr/>
            <p:nvPr/>
          </p:nvCxnSpPr>
          <p:spPr>
            <a:xfrm>
              <a:off x="17985285" y="13335323"/>
              <a:ext cx="0" cy="4315596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0" name="선"/>
            <p:cNvCxnSpPr/>
            <p:nvPr/>
          </p:nvCxnSpPr>
          <p:spPr>
            <a:xfrm>
              <a:off x="17985285" y="17650919"/>
              <a:ext cx="220183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121" name="선"/>
            <p:cNvCxnSpPr/>
            <p:nvPr/>
          </p:nvCxnSpPr>
          <p:spPr>
            <a:xfrm>
              <a:off x="27162533" y="13335323"/>
              <a:ext cx="88073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2" name="선"/>
            <p:cNvCxnSpPr/>
            <p:nvPr/>
          </p:nvCxnSpPr>
          <p:spPr>
            <a:xfrm>
              <a:off x="27250606" y="13335323"/>
              <a:ext cx="0" cy="5073028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3" name="선"/>
            <p:cNvCxnSpPr/>
            <p:nvPr/>
          </p:nvCxnSpPr>
          <p:spPr>
            <a:xfrm flipH="1">
              <a:off x="20865285" y="18408350"/>
              <a:ext cx="6385321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4" name="선"/>
            <p:cNvCxnSpPr/>
            <p:nvPr/>
          </p:nvCxnSpPr>
          <p:spPr>
            <a:xfrm flipV="1">
              <a:off x="20865285" y="18179359"/>
              <a:ext cx="0" cy="228991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25" name="글상자"/>
            <p:cNvSpPr/>
            <p:nvPr/>
          </p:nvSpPr>
          <p:spPr>
            <a:xfrm>
              <a:off x="17826753" y="18514038"/>
              <a:ext cx="9600000" cy="2466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카드: Class 이름, 개체(Entity) ID, Data Property = 값.   화살표: 관계(Relation) 9종류</a:t>
              </a:r>
            </a:p>
          </p:txBody>
        </p:sp>
      </p:grpSp>
      <p:sp>
        <p:nvSpPr>
          <p:cNvPr id="1022" name="본문"/>
          <p:cNvSpPr txBox="1"/>
          <p:nvPr/>
        </p:nvSpPr>
        <p:spPr>
          <a:xfrm>
            <a:off x="15570184" y="18767800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4. 구축된 KG의 일부 (충주댐 승인 1368번)</a:t>
            </a:r>
          </a:p>
        </p:txBody>
      </p:sp>
      <p:sp>
        <p:nvSpPr>
          <p:cNvPr id="1023" name="본문"/>
          <p:cNvSpPr txBox="1"/>
          <p:nvPr/>
        </p:nvSpPr>
        <p:spPr>
          <a:xfrm>
            <a:off x="15570184" y="19287800"/>
            <a:ext cx="14113138" cy="9695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구축된 KG의 예시: 자료의 한 건이 Class에 맞는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개체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(Approval, Operation, Criterion 등)와 근거자료로 만들어지고, 값이 일치하는 개체끼리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관계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연결됨</a:t>
            </a:r>
          </a:p>
        </p:txBody>
      </p:sp>
      <p:sp>
        <p:nvSpPr>
          <p:cNvPr id="1024" name="직사각형 1"/>
          <p:cNvSpPr/>
          <p:nvPr/>
        </p:nvSpPr>
        <p:spPr>
          <a:xfrm>
            <a:off x="15691431" y="20457385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3. 근거 기반 질의응답</a:t>
            </a:r>
          </a:p>
        </p:txBody>
      </p:sp>
      <p:sp>
        <p:nvSpPr>
          <p:cNvPr id="1025" name="본문"/>
          <p:cNvSpPr txBox="1"/>
          <p:nvPr/>
        </p:nvSpPr>
        <p:spPr>
          <a:xfrm>
            <a:off x="15570184" y="21600409"/>
            <a:ext cx="14113138" cy="1459398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질문에서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의도(CQ, 복수 가능)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와 대상(댐·시점)을 뽑고, 의도에 따라 KG와 저장소에서 근거를 찾아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출처 번호가 붙은 근거 묶음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으로 정리함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 묶음을 바탕으로 답변하며,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판단을 나누어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표시함</a:t>
            </a:r>
          </a:p>
        </p:txBody>
      </p:sp>
      <p:grpSp>
        <p:nvGrpSpPr>
          <p:cNvPr id="5145" name="그림 질의응답 흐름"/>
          <p:cNvGrpSpPr/>
          <p:nvPr/>
        </p:nvGrpSpPr>
        <p:grpSpPr>
          <a:xfrm>
            <a:off x="16826753" y="23059807"/>
            <a:ext cx="11600000" cy="6322000"/>
            <a:chOff x="16826753" y="23059807"/>
            <a:chExt cx="11600000" cy="6322000"/>
          </a:xfrm>
        </p:grpSpPr>
        <p:sp>
          <p:nvSpPr>
            <p:cNvPr id="5127" name="도형"/>
            <p:cNvSpPr/>
            <p:nvPr/>
          </p:nvSpPr>
          <p:spPr>
            <a:xfrm>
              <a:off x="16826753" y="23059807"/>
              <a:ext cx="3480000" cy="7424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62400" tIns="81200" rIns="162400" bIns="812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9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 해석</a:t>
              </a:r>
            </a:p>
          </p:txBody>
        </p:sp>
        <p:cxnSp>
          <p:nvCxnSpPr>
            <p:cNvPr id="5128" name="선"/>
            <p:cNvCxnSpPr/>
            <p:nvPr/>
          </p:nvCxnSpPr>
          <p:spPr>
            <a:xfrm>
              <a:off x="20353153" y="23431007"/>
              <a:ext cx="4176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29" name="도형"/>
            <p:cNvSpPr/>
            <p:nvPr/>
          </p:nvSpPr>
          <p:spPr>
            <a:xfrm>
              <a:off x="20817153" y="23059807"/>
              <a:ext cx="7609600" cy="7424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62400" tIns="81200" rIns="162400" bIns="812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91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질문에서 의도(CQ, 복수 가능)와 대상(댐·시점)을 뽑음</a:t>
              </a:r>
            </a:p>
          </p:txBody>
        </p:sp>
        <p:sp>
          <p:nvSpPr>
            <p:cNvPr id="5130" name="도형"/>
            <p:cNvSpPr/>
            <p:nvPr/>
          </p:nvSpPr>
          <p:spPr>
            <a:xfrm>
              <a:off x="16826753" y="23941407"/>
              <a:ext cx="3480000" cy="994816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62400" tIns="81200" rIns="162400" bIns="812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9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입력 확인</a:t>
              </a:r>
            </a:p>
          </p:txBody>
        </p:sp>
        <p:cxnSp>
          <p:nvCxnSpPr>
            <p:cNvPr id="5131" name="선"/>
            <p:cNvCxnSpPr/>
            <p:nvPr/>
          </p:nvCxnSpPr>
          <p:spPr>
            <a:xfrm>
              <a:off x="20353153" y="24438815"/>
              <a:ext cx="4176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32" name="도형"/>
            <p:cNvSpPr/>
            <p:nvPr/>
          </p:nvSpPr>
          <p:spPr>
            <a:xfrm>
              <a:off x="20817153" y="23941407"/>
              <a:ext cx="7609600" cy="994816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62400" tIns="81200" rIns="162400" bIns="812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91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의도·대상이 허용 범위인지 확인하고 표기를 맞춤 (범위 밖이면 조회하지 않음)</a:t>
              </a:r>
            </a:p>
          </p:txBody>
        </p:sp>
        <p:sp>
          <p:nvSpPr>
            <p:cNvPr id="5133" name="도형"/>
            <p:cNvSpPr/>
            <p:nvPr/>
          </p:nvSpPr>
          <p:spPr>
            <a:xfrm>
              <a:off x="16826753" y="25075423"/>
              <a:ext cx="3480000" cy="7424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62400" tIns="81200" rIns="162400" bIns="812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9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KG 조회</a:t>
              </a:r>
            </a:p>
          </p:txBody>
        </p:sp>
        <p:cxnSp>
          <p:nvCxnSpPr>
            <p:cNvPr id="5134" name="선"/>
            <p:cNvCxnSpPr/>
            <p:nvPr/>
          </p:nvCxnSpPr>
          <p:spPr>
            <a:xfrm>
              <a:off x="20353153" y="25446623"/>
              <a:ext cx="4176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35" name="도형"/>
            <p:cNvSpPr/>
            <p:nvPr/>
          </p:nvSpPr>
          <p:spPr>
            <a:xfrm>
              <a:off x="20817153" y="25075423"/>
              <a:ext cx="7609600" cy="7424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62400" tIns="81200" rIns="162400" bIns="812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91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의도별 Cypher 질의 틀로 관계를 따라 개체와 찾아가는 키를 가져옴</a:t>
              </a:r>
            </a:p>
          </p:txBody>
        </p:sp>
        <p:sp>
          <p:nvSpPr>
            <p:cNvPr id="5136" name="도형"/>
            <p:cNvSpPr/>
            <p:nvPr/>
          </p:nvSpPr>
          <p:spPr>
            <a:xfrm>
              <a:off x="16826753" y="25957023"/>
              <a:ext cx="3480000" cy="7424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62400" tIns="81200" rIns="162400" bIns="812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9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저장소 조회</a:t>
              </a:r>
            </a:p>
          </p:txBody>
        </p:sp>
        <p:cxnSp>
          <p:nvCxnSpPr>
            <p:cNvPr id="5137" name="선"/>
            <p:cNvCxnSpPr/>
            <p:nvPr/>
          </p:nvCxnSpPr>
          <p:spPr>
            <a:xfrm>
              <a:off x="20353153" y="26328223"/>
              <a:ext cx="4176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38" name="도형"/>
            <p:cNvSpPr/>
            <p:nvPr/>
          </p:nvSpPr>
          <p:spPr>
            <a:xfrm>
              <a:off x="20817153" y="25957023"/>
              <a:ext cx="7609600" cy="7424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62400" tIns="81200" rIns="162400" bIns="812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91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키로 측정값·규정 원문을 읽음 (값은 원값 그대로)</a:t>
              </a:r>
            </a:p>
          </p:txBody>
        </p:sp>
        <p:sp>
          <p:nvSpPr>
            <p:cNvPr id="5139" name="도형"/>
            <p:cNvSpPr/>
            <p:nvPr/>
          </p:nvSpPr>
          <p:spPr>
            <a:xfrm>
              <a:off x="16826753" y="26838623"/>
              <a:ext cx="3480000" cy="7424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62400" tIns="81200" rIns="162400" bIns="812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9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4 근거 묶음 구성</a:t>
              </a:r>
            </a:p>
          </p:txBody>
        </p:sp>
        <p:cxnSp>
          <p:nvCxnSpPr>
            <p:cNvPr id="5140" name="선"/>
            <p:cNvCxnSpPr/>
            <p:nvPr/>
          </p:nvCxnSpPr>
          <p:spPr>
            <a:xfrm>
              <a:off x="20353153" y="27209823"/>
              <a:ext cx="4176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41" name="도형"/>
            <p:cNvSpPr/>
            <p:nvPr/>
          </p:nvSpPr>
          <p:spPr>
            <a:xfrm>
              <a:off x="20817153" y="26838623"/>
              <a:ext cx="7609600" cy="7424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62400" tIns="81200" rIns="162400" bIns="812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91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의도별 구역으로 모으고 항목마다 출처 번호를 붙임</a:t>
              </a:r>
            </a:p>
          </p:txBody>
        </p:sp>
        <p:sp>
          <p:nvSpPr>
            <p:cNvPr id="5142" name="도형"/>
            <p:cNvSpPr/>
            <p:nvPr/>
          </p:nvSpPr>
          <p:spPr>
            <a:xfrm>
              <a:off x="16826753" y="27720223"/>
              <a:ext cx="3480000" cy="1618432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62400" tIns="81200" rIns="162400" bIns="812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9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답변 생성</a:t>
              </a:r>
            </a:p>
          </p:txBody>
        </p:sp>
        <p:cxnSp>
          <p:nvCxnSpPr>
            <p:cNvPr id="5143" name="선"/>
            <p:cNvCxnSpPr/>
            <p:nvPr/>
          </p:nvCxnSpPr>
          <p:spPr>
            <a:xfrm>
              <a:off x="20353153" y="28529439"/>
              <a:ext cx="4176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44" name="도형"/>
            <p:cNvSpPr/>
            <p:nvPr/>
          </p:nvSpPr>
          <p:spPr>
            <a:xfrm>
              <a:off x="20817153" y="27720223"/>
              <a:ext cx="7609600" cy="1618432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62400" tIns="81200" rIns="162400" bIns="812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91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묶음과 근거 사용 원칙(근거만 사실로, 출처 번호 표기)을 받아 답변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91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근거: 사실과 출처 번호  /  판단: 판단임을 밝히고 근거 표시  /  없는 내용: “자료에 없음”</a:t>
              </a:r>
            </a:p>
          </p:txBody>
        </p:sp>
      </p:grpSp>
      <p:sp>
        <p:nvSpPr>
          <p:cNvPr id="1026" name="본문"/>
          <p:cNvSpPr txBox="1"/>
          <p:nvPr/>
        </p:nvSpPr>
        <p:spPr>
          <a:xfrm>
            <a:off x="15570184" y="29441807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5. 질의응답의 처리 단계</a:t>
            </a:r>
          </a:p>
        </p:txBody>
      </p:sp>
      <p:grpSp>
        <p:nvGrpSpPr>
          <p:cNvPr id="5164" name="그림 근거 묶음과 답변"/>
          <p:cNvGrpSpPr/>
          <p:nvPr/>
        </p:nvGrpSpPr>
        <p:grpSpPr>
          <a:xfrm>
            <a:off x="16726753" y="29961807"/>
            <a:ext cx="11800000" cy="4661000"/>
            <a:chOff x="16726753" y="29961807"/>
            <a:chExt cx="11800000" cy="4661000"/>
          </a:xfrm>
        </p:grpSpPr>
        <p:sp>
          <p:nvSpPr>
            <p:cNvPr id="5146" name="글상자"/>
            <p:cNvSpPr/>
            <p:nvPr/>
          </p:nvSpPr>
          <p:spPr>
            <a:xfrm>
              <a:off x="16726753" y="29961807"/>
              <a:ext cx="5546000" cy="42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3600" tIns="11800" rIns="23600" bIns="11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3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 (구역 / 출처 번호)</a:t>
              </a:r>
            </a:p>
          </p:txBody>
        </p:sp>
        <p:sp>
          <p:nvSpPr>
            <p:cNvPr id="5147" name="도형"/>
            <p:cNvSpPr/>
            <p:nvPr/>
          </p:nvSpPr>
          <p:spPr>
            <a:xfrm>
              <a:off x="16726753" y="30457407"/>
              <a:ext cx="2950000" cy="59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94400" tIns="47200" rIns="94400" bIns="47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5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[MEA:관측소코드:시각]</a:t>
              </a:r>
            </a:p>
          </p:txBody>
        </p:sp>
        <p:sp>
          <p:nvSpPr>
            <p:cNvPr id="5148" name="도형"/>
            <p:cNvSpPr/>
            <p:nvPr/>
          </p:nvSpPr>
          <p:spPr>
            <a:xfrm>
              <a:off x="19676753" y="30457407"/>
              <a:ext cx="2596000" cy="59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41600" tIns="70800" rIns="141600" bIns="70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5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현재 상태 (CQ1)</a:t>
              </a:r>
            </a:p>
          </p:txBody>
        </p:sp>
        <p:sp>
          <p:nvSpPr>
            <p:cNvPr id="5149" name="도형"/>
            <p:cNvSpPr/>
            <p:nvPr/>
          </p:nvSpPr>
          <p:spPr>
            <a:xfrm>
              <a:off x="16726753" y="31141807"/>
              <a:ext cx="2950000" cy="59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94400" tIns="47200" rIns="94400" bIns="47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5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[MEA:관측소코드:시각]</a:t>
              </a:r>
            </a:p>
          </p:txBody>
        </p:sp>
        <p:sp>
          <p:nvSpPr>
            <p:cNvPr id="5150" name="도형"/>
            <p:cNvSpPr/>
            <p:nvPr/>
          </p:nvSpPr>
          <p:spPr>
            <a:xfrm>
              <a:off x="19676753" y="31141807"/>
              <a:ext cx="2596000" cy="59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41600" tIns="70800" rIns="141600" bIns="70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5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운영 시각 상태 (CQ2)</a:t>
              </a:r>
            </a:p>
          </p:txBody>
        </p:sp>
        <p:sp>
          <p:nvSpPr>
            <p:cNvPr id="5151" name="도형"/>
            <p:cNvSpPr/>
            <p:nvPr/>
          </p:nvSpPr>
          <p:spPr>
            <a:xfrm>
              <a:off x="16726753" y="31826207"/>
              <a:ext cx="2950000" cy="59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94400" tIns="47200" rIns="94400" bIns="47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5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[OPR] ← [APR]</a:t>
              </a:r>
            </a:p>
          </p:txBody>
        </p:sp>
        <p:sp>
          <p:nvSpPr>
            <p:cNvPr id="5152" name="도형"/>
            <p:cNvSpPr/>
            <p:nvPr/>
          </p:nvSpPr>
          <p:spPr>
            <a:xfrm>
              <a:off x="19676753" y="31826207"/>
              <a:ext cx="2596000" cy="59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41600" tIns="70800" rIns="141600" bIns="70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5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운영행위·승인 (CQ3)</a:t>
              </a:r>
            </a:p>
          </p:txBody>
        </p:sp>
        <p:sp>
          <p:nvSpPr>
            <p:cNvPr id="5153" name="도형"/>
            <p:cNvSpPr/>
            <p:nvPr/>
          </p:nvSpPr>
          <p:spPr>
            <a:xfrm>
              <a:off x="16726753" y="32510607"/>
              <a:ext cx="2950000" cy="59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94400" tIns="47200" rIns="94400" bIns="47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5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[APR:번호]</a:t>
              </a:r>
            </a:p>
          </p:txBody>
        </p:sp>
        <p:sp>
          <p:nvSpPr>
            <p:cNvPr id="5154" name="도형"/>
            <p:cNvSpPr/>
            <p:nvPr/>
          </p:nvSpPr>
          <p:spPr>
            <a:xfrm>
              <a:off x="19676753" y="32510607"/>
              <a:ext cx="2596000" cy="59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41600" tIns="70800" rIns="141600" bIns="70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5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방류 승인 (CQ4)</a:t>
              </a:r>
            </a:p>
          </p:txBody>
        </p:sp>
        <p:sp>
          <p:nvSpPr>
            <p:cNvPr id="5155" name="도형"/>
            <p:cNvSpPr/>
            <p:nvPr/>
          </p:nvSpPr>
          <p:spPr>
            <a:xfrm>
              <a:off x="16726753" y="33195007"/>
              <a:ext cx="2950000" cy="59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94400" tIns="47200" rIns="94400" bIns="47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5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[CRI:번호]</a:t>
              </a:r>
            </a:p>
          </p:txBody>
        </p:sp>
        <p:sp>
          <p:nvSpPr>
            <p:cNvPr id="5156" name="도형"/>
            <p:cNvSpPr/>
            <p:nvPr/>
          </p:nvSpPr>
          <p:spPr>
            <a:xfrm>
              <a:off x="19676753" y="33195007"/>
              <a:ext cx="2596000" cy="59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41600" tIns="70800" rIns="141600" bIns="70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5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운영기준 (CQ5)</a:t>
              </a:r>
            </a:p>
          </p:txBody>
        </p:sp>
        <p:sp>
          <p:nvSpPr>
            <p:cNvPr id="5157" name="도형"/>
            <p:cNvSpPr/>
            <p:nvPr/>
          </p:nvSpPr>
          <p:spPr>
            <a:xfrm>
              <a:off x="16726753" y="33879407"/>
              <a:ext cx="2950000" cy="59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94400" tIns="47200" rIns="94400" bIns="47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5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[EVI:…]</a:t>
              </a:r>
            </a:p>
          </p:txBody>
        </p:sp>
        <p:sp>
          <p:nvSpPr>
            <p:cNvPr id="5158" name="도형"/>
            <p:cNvSpPr/>
            <p:nvPr/>
          </p:nvSpPr>
          <p:spPr>
            <a:xfrm>
              <a:off x="19676753" y="33879407"/>
              <a:ext cx="2596000" cy="59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41600" tIns="70800" rIns="141600" bIns="70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5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출처 (CQ6)</a:t>
              </a:r>
            </a:p>
          </p:txBody>
        </p:sp>
        <p:cxnSp>
          <p:nvCxnSpPr>
            <p:cNvPr id="5159" name="선"/>
            <p:cNvCxnSpPr/>
            <p:nvPr/>
          </p:nvCxnSpPr>
          <p:spPr>
            <a:xfrm>
              <a:off x="22390753" y="32203807"/>
              <a:ext cx="708000" cy="0"/>
            </a:xfrm>
            <a:prstGeom prst="line">
              <a:avLst/>
            </a:prstGeom>
            <a:ln w="444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60" name="글상자"/>
            <p:cNvSpPr/>
            <p:nvPr/>
          </p:nvSpPr>
          <p:spPr>
            <a:xfrm>
              <a:off x="23216753" y="29961807"/>
              <a:ext cx="5310000" cy="42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3600" tIns="11800" rIns="23600" bIns="11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3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답변 (근거 사용 원칙에 따라 작성)</a:t>
              </a:r>
            </a:p>
          </p:txBody>
        </p:sp>
        <p:sp>
          <p:nvSpPr>
            <p:cNvPr id="5161" name="도형"/>
            <p:cNvSpPr/>
            <p:nvPr/>
          </p:nvSpPr>
          <p:spPr>
            <a:xfrm>
              <a:off x="23216753" y="30457407"/>
              <a:ext cx="5310000" cy="118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65200" tIns="82600" rIns="165200" bIns="82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044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85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사실에 단위·시각과 출처 번호 표기</a:t>
              </a:r>
            </a:p>
          </p:txBody>
        </p:sp>
        <p:sp>
          <p:nvSpPr>
            <p:cNvPr id="5162" name="도형"/>
            <p:cNvSpPr/>
            <p:nvPr/>
          </p:nvSpPr>
          <p:spPr>
            <a:xfrm>
              <a:off x="23216753" y="31731807"/>
              <a:ext cx="5310000" cy="118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65200" tIns="82600" rIns="165200" bIns="82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044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판단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85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판단임을 밝히고, 근거 번호를 함께 적음</a:t>
              </a:r>
            </a:p>
          </p:txBody>
        </p:sp>
        <p:sp>
          <p:nvSpPr>
            <p:cNvPr id="5163" name="도형"/>
            <p:cNvSpPr/>
            <p:nvPr/>
          </p:nvSpPr>
          <p:spPr>
            <a:xfrm>
              <a:off x="23216753" y="33006207"/>
              <a:ext cx="5310000" cy="1180000"/>
            </a:xfrm>
            <a:prstGeom prst="rect">
              <a:avLst/>
            </a:prstGeom>
            <a:solidFill>
              <a:srgbClr val="F4F4F4"/>
            </a:solidFill>
            <a:ln w="22225">
              <a:solidFill>
                <a:srgbClr val="262626"/>
              </a:solidFill>
            </a:ln>
          </p:spPr>
          <p:txBody>
            <a:bodyPr wrap="square" lIns="165200" tIns="82600" rIns="165200" bIns="82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044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자료에 없음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85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묶음에 없는 내용은 단정하지 않음</a:t>
              </a:r>
            </a:p>
          </p:txBody>
        </p:sp>
      </p:grpSp>
      <p:sp>
        <p:nvSpPr>
          <p:cNvPr id="1027" name="본문"/>
          <p:cNvSpPr txBox="1"/>
          <p:nvPr/>
        </p:nvSpPr>
        <p:spPr>
          <a:xfrm>
            <a:off x="15570184" y="34682807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6. 근거 묶음과 답변의 구성</a:t>
            </a:r>
          </a:p>
        </p:txBody>
      </p:sp>
      <p:sp>
        <p:nvSpPr>
          <p:cNvPr id="1028" name="직사각형 1"/>
          <p:cNvSpPr/>
          <p:nvPr/>
        </p:nvSpPr>
        <p:spPr>
          <a:xfrm>
            <a:off x="15691431" y="35402807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결론</a:t>
            </a:r>
          </a:p>
        </p:txBody>
      </p:sp>
      <p:sp>
        <p:nvSpPr>
          <p:cNvPr id="1029" name="본문"/>
          <p:cNvSpPr txBox="1"/>
          <p:nvPr/>
        </p:nvSpPr>
        <p:spPr>
          <a:xfrm>
            <a:off x="15570184" y="36545831"/>
            <a:ext cx="14113138" cy="2852639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 자료를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Ontology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에 맞춰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KG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구축하고, 수치·원문은 외부 저장소에 두는 방법을 정리함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의도에 따라 근거를 찾아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출처 번호가 붙은 근거 묶음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으로 정리하고,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판단을 나누어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답하는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프레임워크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구축함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운영자가 현재 상태, 운영기준, 과거 승인·운영행위를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함께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확인할 수 있어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실무자의 운영 의사결정 지원에 활용할 수 있음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향후 평가 질문 세트로 의도 추출과 답변의 정확도를 검증할 계획임</a:t>
            </a:r>
          </a:p>
        </p:txBody>
      </p:sp>
      <p:sp>
        <p:nvSpPr>
          <p:cNvPr id="1030" name="직사각형 1"/>
          <p:cNvSpPr/>
          <p:nvPr/>
        </p:nvSpPr>
        <p:spPr>
          <a:xfrm>
            <a:off x="15691431" y="3959847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감사의 글</a:t>
            </a:r>
          </a:p>
        </p:txBody>
      </p:sp>
      <p:sp>
        <p:nvSpPr>
          <p:cNvPr id="1031" name="본문"/>
          <p:cNvSpPr txBox="1"/>
          <p:nvPr/>
        </p:nvSpPr>
        <p:spPr>
          <a:xfrm>
            <a:off x="15570184" y="40741494"/>
            <a:ext cx="14113138" cy="71782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본 결과물은 기후에너지환경부의 재원으로 한국환경산업기술원의 기후변화 적응 수재해 관리 기술개발사업(R&amp;D)의 지원을 받아 연구되었습니다(RS-2026-25502939). 본 연구는 기후에너지환경부「기후변화특성화대학원사업」의 지원으로 수행되었습니다.</a:t>
            </a:r>
          </a:p>
        </p:txBody>
      </p:sp>
    </p:spTree>
    <p:extLst>
      <p:ext uri="{BB962C8B-B14F-4D97-AF65-F5344CB8AC3E}">
        <p14:creationId xmlns:p14="http://schemas.microsoft.com/office/powerpoint/2010/main" val="676981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603</Words>
  <Application>Microsoft Office PowerPoint</Application>
  <PresentationFormat>사용자 지정</PresentationFormat>
  <Paragraphs>56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Arial Unicode MS</vt:lpstr>
      <vt:lpstr>나눔고딕</vt:lpstr>
      <vt:lpstr>나눔고딕 ExtraBold</vt:lpstr>
      <vt:lpstr>맑은 고딕</vt:lpstr>
      <vt:lpstr>Arial</vt:lpstr>
      <vt:lpstr>Verdana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황 혜선</cp:lastModifiedBy>
  <cp:revision>97</cp:revision>
  <cp:lastPrinted>2022-07-13T05:48:17Z</cp:lastPrinted>
  <dcterms:created xsi:type="dcterms:W3CDTF">2018-10-17T01:18:09Z</dcterms:created>
  <dcterms:modified xsi:type="dcterms:W3CDTF">2023-05-25T02:26:58Z</dcterms:modified>
</cp:coreProperties>
</file>