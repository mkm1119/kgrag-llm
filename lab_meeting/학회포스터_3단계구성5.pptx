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33" d="100"/>
          <a:sy n="33" d="100"/>
        </p:scale>
        <p:origin x="2166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3" Type="http://schemas.openxmlformats.org/officeDocument/2006/relationships/image" Target="../media/poster_rI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기반 지식그래프를 활용한 댐 운영 의사결정 지원 LLM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30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 Framework for Dam Operation Decision Support Using an Ontology-based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4" name="로고 배경"/>
          <p:cNvSpPr/>
          <p:nvPr/>
        </p:nvSpPr>
        <p:spPr>
          <a:xfrm>
            <a:off x="26850000" y="600000"/>
            <a:ext cx="3000000" cy="3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005" name="국민대학교 로고" descr="Kookmin Universit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0000" y="700000"/>
            <a:ext cx="2800000" cy="28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3190053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판단에는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수문·기상 관측 자료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규정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등 여러 자료를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언어모델(LLM) 단독 활용은 답변의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근거를 확인하기 어려워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외부 자료를 검색해 답변에 활용하는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검색증강생성(RAG)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이 쓰이나, 자료 간 관계와 출처를 함께 다루려면 구조화된 지식이 필요함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 기반 지식그래프(KG)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를 RAG 기반 검색 및 LLM 답변 생성과 연계하여, 운영자의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기반 의사결정을 지원하는 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088307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핵심 용어</a:t>
            </a:r>
          </a:p>
        </p:txBody>
      </p:sp>
      <p:sp>
        <p:nvSpPr>
          <p:cNvPr id="1009" name="직사각형 415"/>
          <p:cNvSpPr/>
          <p:nvPr/>
        </p:nvSpPr>
        <p:spPr>
          <a:xfrm>
            <a:off x="830804" y="12026101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핵심 용어</a:t>
            </a:r>
          </a:p>
        </p:txBody>
      </p:sp>
      <p:graphicFrame>
        <p:nvGraphicFramePr>
          <p:cNvPr id="1010" name="표"/>
          <p:cNvGraphicFramePr>
            <a:graphicFrameLocks noGrp="1"/>
          </p:cNvGraphicFramePr>
          <p:nvPr/>
        </p:nvGraphicFramePr>
        <p:xfrm>
          <a:off x="697946" y="12762086"/>
          <a:ext cx="13500000" cy="8084058"/>
        </p:xfrm>
        <a:graphic>
          <a:graphicData uri="http://schemas.openxmlformats.org/drawingml/2006/table">
            <a:tbl>
              <a:tblPr firstRow="1" bandRow="1"/>
              <a:tblGrid>
                <a:gridCol w="2900000"/>
                <a:gridCol w="10600000"/>
              </a:tblGrid>
              <a:tr h="427812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용어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설명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댐 운영 분야의 대상(Class)과 관계·속성을 정리한 의미 구조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Class / 개체(Entity)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Class는 대상의 종류(예: 댐, 승인), 개체는 Class에 속한 실제 대상(예: 충주댐)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 / Data Property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관계는 개체 사이의 연결(예: 승인이 운영행위를 허가함), Data Property는 개체가 가진 값(예: 승인일)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Competency Question. 온톨로지가 답할 수 있어야 하는 질문으로, 필요한 Class·관계를 정하는 기준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지식그래프 (KG)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온톨로지에 실제 개체·관계·값을 채운 그래프(개체는 점, 관계는 선)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Neo4j / Cypher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Neo4j는 KG를 저장하는 그래프 데이터베이스, Cypher는 연결 패턴으로 찾는 질의 언어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승인 / 운영행위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승인은 방류를 허가한 기록, 운영행위는 실제로 수행된 방류 등의 운영(승인 비고에서 규칙으로 읽음)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수문·기상 상태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댐의 수위, 유입량, 방류량, 강우량 등 시간별로 측정되는 변수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운영기준 / 근거자료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운영기준은 댐에 적용되는 기준(예: 규정 별표3의 홍수기 제한수위), 근거자료는 개체를 확인할 수 있는 출처(승인 기록, 규정 원문 등)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 / 문서 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자료는 열·행이 정해진 표, 문서 자료는 글 속에 값이 들어 있는 자료(승인 비고, 규정 별표). 문서 자료의 값은 규칙(키워드, 정규식)으로 추출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외부 저장소 / 키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KG 밖에 둔 측정값(측정자료 저장소)과 규정 원문(문서 저장소). KG에는 이를 찾아가는 키만 저장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78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질문과 관련된 근거를 검색해 LLM에 함께 주고, 그 근거로 답하게 하는 방식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 / 근거 묶음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의도는 질문이 CQ1~CQ6 중 무엇을 묻는지의 분류(복수 가능), 근거 묶음은 검색한 근거를 의도별로 모아 LLM에 주는 입력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5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출처 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근거 묶음의 항목마다 붙이는 번호(예: APR:1368)로, 답변이 어느 자료에서 나왔는지 확인할 수 있게 함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011" name="직사각형 1"/>
          <p:cNvSpPr/>
          <p:nvPr/>
        </p:nvSpPr>
        <p:spPr>
          <a:xfrm>
            <a:off x="674157" y="2104614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프레임워크 개요</a:t>
            </a:r>
          </a:p>
        </p:txBody>
      </p:sp>
      <p:sp>
        <p:nvSpPr>
          <p:cNvPr id="1012" name="본문"/>
          <p:cNvSpPr txBox="1"/>
          <p:nvPr/>
        </p:nvSpPr>
        <p:spPr>
          <a:xfrm>
            <a:off x="597946" y="22189168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세 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구성됨: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① Ontology 설계 → ② KG 구축 → ③ 근거 기반 질의응답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단계의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설명하고, 이해를 돕기 위해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충주댐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예시로 따라감</a:t>
            </a:r>
          </a:p>
        </p:txBody>
      </p:sp>
      <p:grpSp>
        <p:nvGrpSpPr>
          <p:cNvPr id="5030" name="그림1 전체 구조"/>
          <p:cNvGrpSpPr/>
          <p:nvPr/>
        </p:nvGrpSpPr>
        <p:grpSpPr>
          <a:xfrm>
            <a:off x="2854515" y="23234953"/>
            <a:ext cx="9600000" cy="5376000"/>
            <a:chOff x="2854515" y="23234953"/>
            <a:chExt cx="9600000" cy="5376000"/>
          </a:xfrm>
        </p:grpSpPr>
        <p:sp>
          <p:nvSpPr>
            <p:cNvPr id="5001" name="도형"/>
            <p:cNvSpPr/>
            <p:nvPr/>
          </p:nvSpPr>
          <p:spPr>
            <a:xfrm>
              <a:off x="2854515" y="23234953"/>
              <a:ext cx="2544000" cy="2784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76800" tIns="38400" rIns="76800" bIns="38400" anchor="ctr">
              <a:noAutofit/>
            </a:bodyPr>
            <a:lstStyle/>
            <a:p>
              <a:endParaRPr lang="ko-KR"/>
            </a:p>
          </p:txBody>
        </p:sp>
        <p:sp>
          <p:nvSpPr>
            <p:cNvPr id="5002" name="글상자"/>
            <p:cNvSpPr/>
            <p:nvPr/>
          </p:nvSpPr>
          <p:spPr>
            <a:xfrm>
              <a:off x="2950515" y="23292553"/>
              <a:ext cx="23520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9200" tIns="9600" rIns="19200" bIns="9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3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Ontology 설계</a:t>
              </a:r>
            </a:p>
          </p:txBody>
        </p:sp>
        <p:sp>
          <p:nvSpPr>
            <p:cNvPr id="5003" name="도형"/>
            <p:cNvSpPr/>
            <p:nvPr/>
          </p:nvSpPr>
          <p:spPr>
            <a:xfrm>
              <a:off x="3046515" y="23695753"/>
              <a:ext cx="2160000" cy="9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CQ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질문 1개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세부 질문 6개</a:t>
              </a:r>
            </a:p>
          </p:txBody>
        </p:sp>
        <p:cxnSp>
          <p:nvCxnSpPr>
            <p:cNvPr id="5004" name="선"/>
            <p:cNvCxnSpPr/>
            <p:nvPr/>
          </p:nvCxnSpPr>
          <p:spPr>
            <a:xfrm>
              <a:off x="4121715" y="24674953"/>
              <a:ext cx="0" cy="2112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05" name="도형"/>
            <p:cNvSpPr/>
            <p:nvPr/>
          </p:nvSpPr>
          <p:spPr>
            <a:xfrm>
              <a:off x="3046515" y="24905353"/>
              <a:ext cx="2160000" cy="9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· 관계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6, 관계 9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Data Property</a:t>
              </a:r>
            </a:p>
          </p:txBody>
        </p:sp>
        <p:sp>
          <p:nvSpPr>
            <p:cNvPr id="5006" name="도형"/>
            <p:cNvSpPr/>
            <p:nvPr/>
          </p:nvSpPr>
          <p:spPr>
            <a:xfrm>
              <a:off x="5590515" y="23234953"/>
              <a:ext cx="6864000" cy="2784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76800" tIns="38400" rIns="76800" bIns="38400" anchor="ctr">
              <a:noAutofit/>
            </a:bodyPr>
            <a:lstStyle/>
            <a:p>
              <a:endParaRPr lang="ko-KR"/>
            </a:p>
          </p:txBody>
        </p:sp>
        <p:sp>
          <p:nvSpPr>
            <p:cNvPr id="5007" name="글상자"/>
            <p:cNvSpPr/>
            <p:nvPr/>
          </p:nvSpPr>
          <p:spPr>
            <a:xfrm>
              <a:off x="5686515" y="23292553"/>
              <a:ext cx="66720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9200" tIns="9600" rIns="19200" bIns="9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3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구축</a:t>
              </a:r>
            </a:p>
          </p:txBody>
        </p:sp>
        <p:sp>
          <p:nvSpPr>
            <p:cNvPr id="5008" name="도형"/>
            <p:cNvSpPr/>
            <p:nvPr/>
          </p:nvSpPr>
          <p:spPr>
            <a:xfrm>
              <a:off x="5734515" y="23714953"/>
              <a:ext cx="1536000" cy="21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원자료 4종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승인 기록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시간 자료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규정 별표3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정보</a:t>
              </a:r>
            </a:p>
          </p:txBody>
        </p:sp>
        <p:cxnSp>
          <p:nvCxnSpPr>
            <p:cNvPr id="5009" name="선"/>
            <p:cNvCxnSpPr/>
            <p:nvPr/>
          </p:nvCxnSpPr>
          <p:spPr>
            <a:xfrm>
              <a:off x="7289715" y="24790153"/>
              <a:ext cx="345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0" name="도형"/>
            <p:cNvSpPr/>
            <p:nvPr/>
          </p:nvSpPr>
          <p:spPr>
            <a:xfrm>
              <a:off x="7654515" y="23714953"/>
              <a:ext cx="1632000" cy="21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6단계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매핑 ·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검증 · 저장</a:t>
              </a:r>
            </a:p>
          </p:txBody>
        </p:sp>
        <p:cxnSp>
          <p:nvCxnSpPr>
            <p:cNvPr id="5011" name="선"/>
            <p:cNvCxnSpPr/>
            <p:nvPr/>
          </p:nvCxnSpPr>
          <p:spPr>
            <a:xfrm>
              <a:off x="9305715" y="24790153"/>
              <a:ext cx="345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2" name="도형"/>
            <p:cNvSpPr/>
            <p:nvPr/>
          </p:nvSpPr>
          <p:spPr>
            <a:xfrm>
              <a:off x="9670515" y="23676553"/>
              <a:ext cx="2640000" cy="672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1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(Neo4j)</a:t>
              </a:r>
            </a:p>
          </p:txBody>
        </p:sp>
        <p:sp>
          <p:nvSpPr>
            <p:cNvPr id="5013" name="도형"/>
            <p:cNvSpPr/>
            <p:nvPr/>
          </p:nvSpPr>
          <p:spPr>
            <a:xfrm>
              <a:off x="9670515" y="24444553"/>
              <a:ext cx="2640000" cy="672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1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측정자료 저장소</a:t>
              </a:r>
            </a:p>
          </p:txBody>
        </p:sp>
        <p:sp>
          <p:nvSpPr>
            <p:cNvPr id="5014" name="도형"/>
            <p:cNvSpPr/>
            <p:nvPr/>
          </p:nvSpPr>
          <p:spPr>
            <a:xfrm>
              <a:off x="9670515" y="25212553"/>
              <a:ext cx="2640000" cy="672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1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문서 저장소</a:t>
              </a:r>
            </a:p>
          </p:txBody>
        </p:sp>
        <p:sp>
          <p:nvSpPr>
            <p:cNvPr id="5015" name="도형"/>
            <p:cNvSpPr/>
            <p:nvPr/>
          </p:nvSpPr>
          <p:spPr>
            <a:xfrm>
              <a:off x="2854515" y="26402953"/>
              <a:ext cx="9600000" cy="2064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76800" tIns="38400" rIns="76800" bIns="38400" anchor="ctr">
              <a:noAutofit/>
            </a:bodyPr>
            <a:lstStyle/>
            <a:p>
              <a:endParaRPr lang="ko-KR"/>
            </a:p>
          </p:txBody>
        </p:sp>
        <p:sp>
          <p:nvSpPr>
            <p:cNvPr id="5016" name="글상자"/>
            <p:cNvSpPr/>
            <p:nvPr/>
          </p:nvSpPr>
          <p:spPr>
            <a:xfrm>
              <a:off x="2950515" y="26460553"/>
              <a:ext cx="9408000" cy="326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9200" tIns="9600" rIns="19200" bIns="9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3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근거 기반 질의응답</a:t>
              </a:r>
            </a:p>
          </p:txBody>
        </p:sp>
        <p:sp>
          <p:nvSpPr>
            <p:cNvPr id="5017" name="도형"/>
            <p:cNvSpPr/>
            <p:nvPr/>
          </p:nvSpPr>
          <p:spPr>
            <a:xfrm>
              <a:off x="2988915" y="26998153"/>
              <a:ext cx="1651200" cy="134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17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4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</a:t>
              </a:r>
            </a:p>
          </p:txBody>
        </p:sp>
        <p:sp>
          <p:nvSpPr>
            <p:cNvPr id="5018" name="도형"/>
            <p:cNvSpPr/>
            <p:nvPr/>
          </p:nvSpPr>
          <p:spPr>
            <a:xfrm>
              <a:off x="4908915" y="26998153"/>
              <a:ext cx="1651200" cy="134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 CQ1~6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· 시점</a:t>
              </a:r>
            </a:p>
          </p:txBody>
        </p:sp>
        <p:sp>
          <p:nvSpPr>
            <p:cNvPr id="5019" name="도형"/>
            <p:cNvSpPr/>
            <p:nvPr/>
          </p:nvSpPr>
          <p:spPr>
            <a:xfrm>
              <a:off x="6828915" y="26998153"/>
              <a:ext cx="1651200" cy="134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검색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입력 확인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· 저장소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조회</a:t>
              </a:r>
            </a:p>
          </p:txBody>
        </p:sp>
        <p:sp>
          <p:nvSpPr>
            <p:cNvPr id="5020" name="도형"/>
            <p:cNvSpPr/>
            <p:nvPr/>
          </p:nvSpPr>
          <p:spPr>
            <a:xfrm>
              <a:off x="8748915" y="26998153"/>
              <a:ext cx="1651200" cy="134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번호 부착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원값 근거</a:t>
              </a:r>
            </a:p>
          </p:txBody>
        </p:sp>
        <p:sp>
          <p:nvSpPr>
            <p:cNvPr id="5021" name="도형"/>
            <p:cNvSpPr/>
            <p:nvPr/>
          </p:nvSpPr>
          <p:spPr>
            <a:xfrm>
              <a:off x="10668915" y="26998153"/>
              <a:ext cx="1651200" cy="134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6800" tIns="38400" rIns="76800" bIns="38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65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/ 판단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4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분리 작성</a:t>
              </a:r>
            </a:p>
          </p:txBody>
        </p:sp>
        <p:cxnSp>
          <p:nvCxnSpPr>
            <p:cNvPr id="5022" name="선"/>
            <p:cNvCxnSpPr/>
            <p:nvPr/>
          </p:nvCxnSpPr>
          <p:spPr>
            <a:xfrm>
              <a:off x="4659315" y="27670153"/>
              <a:ext cx="23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3" name="선"/>
            <p:cNvCxnSpPr/>
            <p:nvPr/>
          </p:nvCxnSpPr>
          <p:spPr>
            <a:xfrm>
              <a:off x="6579315" y="27670153"/>
              <a:ext cx="23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4" name="선"/>
            <p:cNvCxnSpPr/>
            <p:nvPr/>
          </p:nvCxnSpPr>
          <p:spPr>
            <a:xfrm>
              <a:off x="8499315" y="27670153"/>
              <a:ext cx="23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5" name="선"/>
            <p:cNvCxnSpPr/>
            <p:nvPr/>
          </p:nvCxnSpPr>
          <p:spPr>
            <a:xfrm>
              <a:off x="10419315" y="27670153"/>
              <a:ext cx="23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6" name="선"/>
            <p:cNvCxnSpPr/>
            <p:nvPr/>
          </p:nvCxnSpPr>
          <p:spPr>
            <a:xfrm>
              <a:off x="10995315" y="25903753"/>
              <a:ext cx="0" cy="3264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7" name="선"/>
            <p:cNvCxnSpPr/>
            <p:nvPr/>
          </p:nvCxnSpPr>
          <p:spPr>
            <a:xfrm flipH="1">
              <a:off x="7654515" y="26230153"/>
              <a:ext cx="3340800" cy="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8" name="선"/>
            <p:cNvCxnSpPr/>
            <p:nvPr/>
          </p:nvCxnSpPr>
          <p:spPr>
            <a:xfrm>
              <a:off x="7654515" y="26230153"/>
              <a:ext cx="0" cy="7488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  <a:tailEnd type="triangle" w="med" len="med"/>
            </a:ln>
          </p:spPr>
        </p:cxnSp>
        <p:sp>
          <p:nvSpPr>
            <p:cNvPr id="5029" name="글상자"/>
            <p:cNvSpPr/>
            <p:nvPr/>
          </p:nvSpPr>
          <p:spPr>
            <a:xfrm>
              <a:off x="7846515" y="26287753"/>
              <a:ext cx="2880000" cy="26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9200" tIns="9600" rIns="19200" bIns="9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12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저장소에서 읽어 옴</a:t>
              </a:r>
            </a:p>
          </p:txBody>
        </p:sp>
      </p:grpSp>
      <p:sp>
        <p:nvSpPr>
          <p:cNvPr id="1013" name="본문"/>
          <p:cNvSpPr txBox="1"/>
          <p:nvPr/>
        </p:nvSpPr>
        <p:spPr>
          <a:xfrm>
            <a:off x="597946" y="28670953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연구의 구성</a:t>
            </a:r>
          </a:p>
        </p:txBody>
      </p:sp>
      <p:sp>
        <p:nvSpPr>
          <p:cNvPr id="1014" name="직사각형 1"/>
          <p:cNvSpPr/>
          <p:nvPr/>
        </p:nvSpPr>
        <p:spPr>
          <a:xfrm>
            <a:off x="674157" y="29390953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1. Ontology 설계</a:t>
            </a:r>
          </a:p>
        </p:txBody>
      </p:sp>
      <p:sp>
        <p:nvSpPr>
          <p:cNvPr id="1015" name="본문"/>
          <p:cNvSpPr txBox="1"/>
          <p:nvPr/>
        </p:nvSpPr>
        <p:spPr>
          <a:xfrm>
            <a:off x="597946" y="30533977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확인해야 할 질문을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전체 질문 1개와 세부 질문 6개(CQ1~CQ6)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질문에 답하는 데 필요한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Class 6개와 관계 9개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Class별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Data Property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정의함</a:t>
            </a:r>
          </a:p>
        </p:txBody>
      </p:sp>
      <p:sp>
        <p:nvSpPr>
          <p:cNvPr id="1016" name="직사각형 415"/>
          <p:cNvSpPr/>
          <p:nvPr/>
        </p:nvSpPr>
        <p:spPr>
          <a:xfrm>
            <a:off x="830804" y="31579762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2. 전체 질문과 세부 질문(CQ)</a:t>
            </a:r>
          </a:p>
        </p:txBody>
      </p:sp>
      <p:graphicFrame>
        <p:nvGraphicFramePr>
          <p:cNvPr id="1017" name="표"/>
          <p:cNvGraphicFramePr>
            <a:graphicFrameLocks noGrp="1"/>
          </p:cNvGraphicFramePr>
          <p:nvPr/>
        </p:nvGraphicFramePr>
        <p:xfrm>
          <a:off x="697946" y="32315747"/>
          <a:ext cx="13500000" cy="3771750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11500000"/>
              </a:tblGrid>
              <a:tr h="43575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(Competency Question)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215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전체 질문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특정 댐의 현재 수문·기상 상태와 운영기준을 확인하고, 선택된 과거 사례의 상태·운영행위·승인·근거를 함께 추적하여 운영 판단을 지원할 수 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 댐의 현재 수문·기상 상태는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선택된 과거 시점 또는 사례의 수문·기상 상태는 어떠했는가?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사례에서 수행된 운영행위는 무엇이었는가?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사례의 방류 승인과 승인 내용은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대상 댐에 적용되는 운영기준과 기준값은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35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위 정보를 확인할 수 있는 공식 자료 또는 근거문서는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071" name="그림2 KG 예시"/>
          <p:cNvGrpSpPr/>
          <p:nvPr/>
        </p:nvGrpSpPr>
        <p:grpSpPr>
          <a:xfrm>
            <a:off x="3154515" y="36207497"/>
            <a:ext cx="9000000" cy="4921101"/>
            <a:chOff x="3154515" y="36207497"/>
            <a:chExt cx="9000000" cy="4921101"/>
          </a:xfrm>
        </p:grpSpPr>
        <p:sp>
          <p:nvSpPr>
            <p:cNvPr id="5031" name="도형"/>
            <p:cNvSpPr/>
            <p:nvPr/>
          </p:nvSpPr>
          <p:spPr>
            <a:xfrm>
              <a:off x="3526075" y="36207497"/>
              <a:ext cx="3633028" cy="100733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32" name="도형"/>
            <p:cNvSpPr/>
            <p:nvPr/>
          </p:nvSpPr>
          <p:spPr>
            <a:xfrm>
              <a:off x="3526075" y="36207497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33" name="속성"/>
            <p:cNvSpPr/>
            <p:nvPr/>
          </p:nvSpPr>
          <p:spPr>
            <a:xfrm>
              <a:off x="3526075" y="36587314"/>
              <a:ext cx="3633028" cy="627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</a:t>
              </a:r>
            </a:p>
          </p:txBody>
        </p:sp>
        <p:sp>
          <p:nvSpPr>
            <p:cNvPr id="5034" name="도형"/>
            <p:cNvSpPr/>
            <p:nvPr/>
          </p:nvSpPr>
          <p:spPr>
            <a:xfrm>
              <a:off x="8273781" y="36207497"/>
              <a:ext cx="3633028" cy="1238532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35" name="도형"/>
            <p:cNvSpPr/>
            <p:nvPr/>
          </p:nvSpPr>
          <p:spPr>
            <a:xfrm>
              <a:off x="8273781" y="36207497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36" name="속성"/>
            <p:cNvSpPr/>
            <p:nvPr/>
          </p:nvSpPr>
          <p:spPr>
            <a:xfrm>
              <a:off x="8273781" y="36587314"/>
              <a:ext cx="3633028" cy="858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5037" name="도형"/>
            <p:cNvSpPr/>
            <p:nvPr/>
          </p:nvSpPr>
          <p:spPr>
            <a:xfrm>
              <a:off x="3526075" y="37908414"/>
              <a:ext cx="3633028" cy="100733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38" name="도형"/>
            <p:cNvSpPr/>
            <p:nvPr/>
          </p:nvSpPr>
          <p:spPr>
            <a:xfrm>
              <a:off x="3526075" y="37908414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39" name="속성"/>
            <p:cNvSpPr/>
            <p:nvPr/>
          </p:nvSpPr>
          <p:spPr>
            <a:xfrm>
              <a:off x="3526075" y="38288231"/>
              <a:ext cx="3633028" cy="627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</a:t>
              </a:r>
            </a:p>
          </p:txBody>
        </p:sp>
        <p:sp>
          <p:nvSpPr>
            <p:cNvPr id="5040" name="도형"/>
            <p:cNvSpPr/>
            <p:nvPr/>
          </p:nvSpPr>
          <p:spPr>
            <a:xfrm>
              <a:off x="8273781" y="37908414"/>
              <a:ext cx="3633028" cy="100733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41" name="도형"/>
            <p:cNvSpPr/>
            <p:nvPr/>
          </p:nvSpPr>
          <p:spPr>
            <a:xfrm>
              <a:off x="8273781" y="37908414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42" name="속성"/>
            <p:cNvSpPr/>
            <p:nvPr/>
          </p:nvSpPr>
          <p:spPr>
            <a:xfrm>
              <a:off x="8273781" y="38288231"/>
              <a:ext cx="3633028" cy="627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</a:t>
              </a:r>
            </a:p>
          </p:txBody>
        </p:sp>
        <p:sp>
          <p:nvSpPr>
            <p:cNvPr id="5043" name="도형"/>
            <p:cNvSpPr/>
            <p:nvPr/>
          </p:nvSpPr>
          <p:spPr>
            <a:xfrm>
              <a:off x="3526075" y="39378139"/>
              <a:ext cx="3633028" cy="1238532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44" name="도형"/>
            <p:cNvSpPr/>
            <p:nvPr/>
          </p:nvSpPr>
          <p:spPr>
            <a:xfrm>
              <a:off x="3526075" y="39378139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045" name="속성"/>
            <p:cNvSpPr/>
            <p:nvPr/>
          </p:nvSpPr>
          <p:spPr>
            <a:xfrm>
              <a:off x="3526075" y="39757956"/>
              <a:ext cx="3633028" cy="858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</a:t>
              </a:r>
            </a:p>
          </p:txBody>
        </p:sp>
        <p:sp>
          <p:nvSpPr>
            <p:cNvPr id="5046" name="도형"/>
            <p:cNvSpPr/>
            <p:nvPr/>
          </p:nvSpPr>
          <p:spPr>
            <a:xfrm>
              <a:off x="8273781" y="39378139"/>
              <a:ext cx="3633028" cy="100733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66055" tIns="33027" rIns="66055" bIns="33027" anchor="ctr">
              <a:noAutofit/>
            </a:bodyPr>
            <a:lstStyle/>
            <a:p>
              <a:endParaRPr lang="ko-KR"/>
            </a:p>
          </p:txBody>
        </p:sp>
        <p:sp>
          <p:nvSpPr>
            <p:cNvPr id="5047" name="도형"/>
            <p:cNvSpPr/>
            <p:nvPr/>
          </p:nvSpPr>
          <p:spPr>
            <a:xfrm>
              <a:off x="8273781" y="39378139"/>
              <a:ext cx="3633028" cy="36330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15596" tIns="57798" rIns="115596" bIns="5779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56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048" name="속성"/>
            <p:cNvSpPr/>
            <p:nvPr/>
          </p:nvSpPr>
          <p:spPr>
            <a:xfrm>
              <a:off x="8273781" y="39757956"/>
              <a:ext cx="3633028" cy="627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15596" tIns="57798" rIns="115596" bIns="5779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</a:t>
              </a:r>
            </a:p>
          </p:txBody>
        </p:sp>
        <p:cxnSp>
          <p:nvCxnSpPr>
            <p:cNvPr id="5049" name="선"/>
            <p:cNvCxnSpPr/>
            <p:nvPr/>
          </p:nvCxnSpPr>
          <p:spPr>
            <a:xfrm>
              <a:off x="5342588" y="37231350"/>
              <a:ext cx="0" cy="66055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0" name="글상자"/>
            <p:cNvSpPr/>
            <p:nvPr/>
          </p:nvSpPr>
          <p:spPr>
            <a:xfrm>
              <a:off x="5553965" y="37394011"/>
              <a:ext cx="898349" cy="2196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3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051" name="선"/>
            <p:cNvCxnSpPr/>
            <p:nvPr/>
          </p:nvCxnSpPr>
          <p:spPr>
            <a:xfrm>
              <a:off x="7175616" y="36950616"/>
              <a:ext cx="1081651" cy="1288073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2" name="글상자"/>
            <p:cNvSpPr/>
            <p:nvPr/>
          </p:nvSpPr>
          <p:spPr>
            <a:xfrm>
              <a:off x="7263304" y="37341992"/>
              <a:ext cx="947560" cy="2080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053" name="선"/>
            <p:cNvCxnSpPr/>
            <p:nvPr/>
          </p:nvCxnSpPr>
          <p:spPr>
            <a:xfrm>
              <a:off x="7175616" y="38651534"/>
              <a:ext cx="108165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4" name="글상자"/>
            <p:cNvSpPr/>
            <p:nvPr/>
          </p:nvSpPr>
          <p:spPr>
            <a:xfrm>
              <a:off x="7216075" y="38383185"/>
              <a:ext cx="1008991" cy="173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97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055" name="선"/>
            <p:cNvCxnSpPr/>
            <p:nvPr/>
          </p:nvCxnSpPr>
          <p:spPr>
            <a:xfrm>
              <a:off x="10090295" y="37462543"/>
              <a:ext cx="0" cy="429358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6" name="글상자"/>
            <p:cNvSpPr/>
            <p:nvPr/>
          </p:nvSpPr>
          <p:spPr>
            <a:xfrm>
              <a:off x="10245689" y="37625203"/>
              <a:ext cx="1092881" cy="2196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3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057" name="선"/>
            <p:cNvCxnSpPr/>
            <p:nvPr/>
          </p:nvCxnSpPr>
          <p:spPr>
            <a:xfrm>
              <a:off x="10090295" y="38932268"/>
              <a:ext cx="0" cy="429358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8" name="글상자"/>
            <p:cNvSpPr/>
            <p:nvPr/>
          </p:nvSpPr>
          <p:spPr>
            <a:xfrm>
              <a:off x="10099212" y="39112268"/>
              <a:ext cx="1963817" cy="1849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4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059" name="선"/>
            <p:cNvCxnSpPr/>
            <p:nvPr/>
          </p:nvCxnSpPr>
          <p:spPr>
            <a:xfrm>
              <a:off x="5342588" y="38932268"/>
              <a:ext cx="0" cy="429358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0" name="글상자"/>
            <p:cNvSpPr/>
            <p:nvPr/>
          </p:nvSpPr>
          <p:spPr>
            <a:xfrm>
              <a:off x="5422763" y="39094928"/>
              <a:ext cx="995615" cy="2196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3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1" name="선"/>
            <p:cNvCxnSpPr/>
            <p:nvPr/>
          </p:nvCxnSpPr>
          <p:spPr>
            <a:xfrm flipH="1">
              <a:off x="7175616" y="40121258"/>
              <a:ext cx="108165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2" name="글상자"/>
            <p:cNvSpPr/>
            <p:nvPr/>
          </p:nvSpPr>
          <p:spPr>
            <a:xfrm>
              <a:off x="7246790" y="39835570"/>
              <a:ext cx="947560" cy="2080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3" name="선"/>
            <p:cNvCxnSpPr/>
            <p:nvPr/>
          </p:nvCxnSpPr>
          <p:spPr>
            <a:xfrm flipH="1">
              <a:off x="3303139" y="36785479"/>
              <a:ext cx="222936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4" name="선"/>
            <p:cNvCxnSpPr/>
            <p:nvPr/>
          </p:nvCxnSpPr>
          <p:spPr>
            <a:xfrm>
              <a:off x="3303139" y="36785479"/>
              <a:ext cx="0" cy="3583486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5" name="선"/>
            <p:cNvCxnSpPr/>
            <p:nvPr/>
          </p:nvCxnSpPr>
          <p:spPr>
            <a:xfrm>
              <a:off x="3303139" y="40368965"/>
              <a:ext cx="206422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66" name="선"/>
            <p:cNvCxnSpPr/>
            <p:nvPr/>
          </p:nvCxnSpPr>
          <p:spPr>
            <a:xfrm>
              <a:off x="11906809" y="36785479"/>
              <a:ext cx="82569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7" name="선"/>
            <p:cNvCxnSpPr/>
            <p:nvPr/>
          </p:nvCxnSpPr>
          <p:spPr>
            <a:xfrm>
              <a:off x="11989377" y="36785479"/>
              <a:ext cx="0" cy="4062385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8" name="선"/>
            <p:cNvCxnSpPr/>
            <p:nvPr/>
          </p:nvCxnSpPr>
          <p:spPr>
            <a:xfrm flipH="1">
              <a:off x="6003139" y="40847864"/>
              <a:ext cx="5986239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9" name="선"/>
            <p:cNvCxnSpPr/>
            <p:nvPr/>
          </p:nvCxnSpPr>
          <p:spPr>
            <a:xfrm flipV="1">
              <a:off x="6003139" y="40633185"/>
              <a:ext cx="0" cy="214679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0" name="글상자"/>
            <p:cNvSpPr/>
            <p:nvPr/>
          </p:nvSpPr>
          <p:spPr>
            <a:xfrm>
              <a:off x="3154515" y="40946947"/>
              <a:ext cx="9000000" cy="2311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6514" tIns="8257" rIns="16514" bIns="825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이름과 Data Property.   화살표: 관계(Relation) 9종류</a:t>
              </a:r>
            </a:p>
          </p:txBody>
        </p:sp>
      </p:grpSp>
      <p:sp>
        <p:nvSpPr>
          <p:cNvPr id="1018" name="본문"/>
          <p:cNvSpPr txBox="1"/>
          <p:nvPr/>
        </p:nvSpPr>
        <p:spPr>
          <a:xfrm>
            <a:off x="597946" y="41188598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Ontology: Class 6개, 관계 9개, Class별 Data Property</a:t>
            </a:r>
          </a:p>
        </p:txBody>
      </p:sp>
      <p:sp>
        <p:nvSpPr>
          <p:cNvPr id="1019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2. KG 구축</a:t>
            </a:r>
          </a:p>
        </p:txBody>
      </p:sp>
      <p:sp>
        <p:nvSpPr>
          <p:cNvPr id="1020" name="본문"/>
          <p:cNvSpPr txBox="1"/>
          <p:nvPr/>
        </p:nvSpPr>
        <p:spPr>
          <a:xfrm>
            <a:off x="15570184" y="7493024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자료의 형태에 맞게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처리하여 Ontology에 맞는 개체와 관계로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측정값 전체와 규정 원문은 KG 밖 저장소에 두고, KG에는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찾아가는 키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만 저장함</a:t>
            </a:r>
          </a:p>
        </p:txBody>
      </p:sp>
      <p:grpSp>
        <p:nvGrpSpPr>
          <p:cNvPr id="5085" name="그림 KG 구축 6단계"/>
          <p:cNvGrpSpPr/>
          <p:nvPr/>
        </p:nvGrpSpPr>
        <p:grpSpPr>
          <a:xfrm>
            <a:off x="17126753" y="8538809"/>
            <a:ext cx="11000000" cy="3300000"/>
            <a:chOff x="17126753" y="8538809"/>
            <a:chExt cx="11000000" cy="3300000"/>
          </a:xfrm>
        </p:grpSpPr>
        <p:sp>
          <p:nvSpPr>
            <p:cNvPr id="5072" name="도형"/>
            <p:cNvSpPr/>
            <p:nvPr/>
          </p:nvSpPr>
          <p:spPr>
            <a:xfrm>
              <a:off x="17126753" y="8538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중복·표기 정리, 대상 댐 선택</a:t>
              </a:r>
            </a:p>
          </p:txBody>
        </p:sp>
        <p:sp>
          <p:nvSpPr>
            <p:cNvPr id="5073" name="도형"/>
            <p:cNvSpPr/>
            <p:nvPr/>
          </p:nvSpPr>
          <p:spPr>
            <a:xfrm>
              <a:off x="20976753" y="8538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구조화 자료 매핑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표의 열·행을 속성·개체로 옮김</a:t>
              </a:r>
            </a:p>
          </p:txBody>
        </p:sp>
        <p:sp>
          <p:nvSpPr>
            <p:cNvPr id="5074" name="도형"/>
            <p:cNvSpPr/>
            <p:nvPr/>
          </p:nvSpPr>
          <p:spPr>
            <a:xfrm>
              <a:off x="24826753" y="8538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문서 자료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글 속의 값을 규칙으로 추출</a:t>
              </a:r>
            </a:p>
          </p:txBody>
        </p:sp>
        <p:sp>
          <p:nvSpPr>
            <p:cNvPr id="5075" name="도형"/>
            <p:cNvSpPr/>
            <p:nvPr/>
          </p:nvSpPr>
          <p:spPr>
            <a:xfrm>
              <a:off x="17126753" y="10463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값이 일치하는 개체 쌍에 관계 생성</a:t>
              </a:r>
            </a:p>
          </p:txBody>
        </p:sp>
        <p:sp>
          <p:nvSpPr>
            <p:cNvPr id="5076" name="도형"/>
            <p:cNvSpPr/>
            <p:nvPr/>
          </p:nvSpPr>
          <p:spPr>
            <a:xfrm>
              <a:off x="20976753" y="10463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5 검증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허용 규칙으로 점검, Ontology 보완</a:t>
              </a:r>
            </a:p>
          </p:txBody>
        </p:sp>
        <p:sp>
          <p:nvSpPr>
            <p:cNvPr id="5077" name="도형"/>
            <p:cNvSpPr/>
            <p:nvPr/>
          </p:nvSpPr>
          <p:spPr>
            <a:xfrm>
              <a:off x="24826753" y="10463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 저장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KG는 Neo4j, 측정값·원문은 저장소</a:t>
              </a:r>
            </a:p>
          </p:txBody>
        </p:sp>
        <p:cxnSp>
          <p:nvCxnSpPr>
            <p:cNvPr id="5078" name="선"/>
            <p:cNvCxnSpPr/>
            <p:nvPr/>
          </p:nvCxnSpPr>
          <p:spPr>
            <a:xfrm>
              <a:off x="20448753" y="9220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79" name="선"/>
            <p:cNvCxnSpPr/>
            <p:nvPr/>
          </p:nvCxnSpPr>
          <p:spPr>
            <a:xfrm>
              <a:off x="24298753" y="9220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0" name="선"/>
            <p:cNvCxnSpPr/>
            <p:nvPr/>
          </p:nvCxnSpPr>
          <p:spPr>
            <a:xfrm>
              <a:off x="26476753" y="9935809"/>
              <a:ext cx="0" cy="2530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1" name="선"/>
            <p:cNvCxnSpPr/>
            <p:nvPr/>
          </p:nvCxnSpPr>
          <p:spPr>
            <a:xfrm flipH="1">
              <a:off x="18776753" y="10188809"/>
              <a:ext cx="770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2" name="선"/>
            <p:cNvCxnSpPr/>
            <p:nvPr/>
          </p:nvCxnSpPr>
          <p:spPr>
            <a:xfrm>
              <a:off x="18776753" y="10188809"/>
              <a:ext cx="0" cy="2530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3" name="선"/>
            <p:cNvCxnSpPr/>
            <p:nvPr/>
          </p:nvCxnSpPr>
          <p:spPr>
            <a:xfrm>
              <a:off x="20448753" y="11145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4" name="선"/>
            <p:cNvCxnSpPr/>
            <p:nvPr/>
          </p:nvCxnSpPr>
          <p:spPr>
            <a:xfrm>
              <a:off x="24298753" y="11145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</p:grpSp>
      <p:sp>
        <p:nvSpPr>
          <p:cNvPr id="1021" name="본문"/>
          <p:cNvSpPr txBox="1"/>
          <p:nvPr/>
        </p:nvSpPr>
        <p:spPr>
          <a:xfrm>
            <a:off x="15570184" y="118988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3. KG 구축 6단계</a:t>
            </a:r>
          </a:p>
        </p:txBody>
      </p:sp>
      <p:grpSp>
        <p:nvGrpSpPr>
          <p:cNvPr id="5126" name="그림2 KG 예시"/>
          <p:cNvGrpSpPr/>
          <p:nvPr/>
        </p:nvGrpSpPr>
        <p:grpSpPr>
          <a:xfrm>
            <a:off x="17826753" y="12418809"/>
            <a:ext cx="9600000" cy="5988991"/>
            <a:chOff x="17826753" y="12418809"/>
            <a:chExt cx="9600000" cy="5988991"/>
          </a:xfrm>
        </p:grpSpPr>
        <p:sp>
          <p:nvSpPr>
            <p:cNvPr id="5086" name="도형"/>
            <p:cNvSpPr/>
            <p:nvPr/>
          </p:nvSpPr>
          <p:spPr>
            <a:xfrm>
              <a:off x="18223083" y="12418809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87" name="도형"/>
            <p:cNvSpPr/>
            <p:nvPr/>
          </p:nvSpPr>
          <p:spPr>
            <a:xfrm>
              <a:off x="18223083" y="12418809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88" name="속성"/>
            <p:cNvSpPr/>
            <p:nvPr/>
          </p:nvSpPr>
          <p:spPr>
            <a:xfrm>
              <a:off x="18223083" y="12823947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APR:1368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 = 2012-08-24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 = “방류시작 15:00; 2000㎥/s”</a:t>
              </a:r>
            </a:p>
          </p:txBody>
        </p:sp>
        <p:sp>
          <p:nvSpPr>
            <p:cNvPr id="5089" name="도형"/>
            <p:cNvSpPr/>
            <p:nvPr/>
          </p:nvSpPr>
          <p:spPr>
            <a:xfrm>
              <a:off x="23287303" y="12418809"/>
              <a:ext cx="3875229" cy="156770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0" name="도형"/>
            <p:cNvSpPr/>
            <p:nvPr/>
          </p:nvSpPr>
          <p:spPr>
            <a:xfrm>
              <a:off x="23287303" y="12418809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91" name="속성"/>
            <p:cNvSpPr/>
            <p:nvPr/>
          </p:nvSpPr>
          <p:spPr>
            <a:xfrm>
              <a:off x="23287303" y="12823947"/>
              <a:ext cx="3875229" cy="116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CRI:CR-02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 = 홍수기 제한수위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 = 138.0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 = EL.m</a:t>
              </a:r>
            </a:p>
          </p:txBody>
        </p:sp>
        <p:sp>
          <p:nvSpPr>
            <p:cNvPr id="5092" name="도형"/>
            <p:cNvSpPr/>
            <p:nvPr/>
          </p:nvSpPr>
          <p:spPr>
            <a:xfrm>
              <a:off x="18223083" y="14479726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3" name="도형"/>
            <p:cNvSpPr/>
            <p:nvPr/>
          </p:nvSpPr>
          <p:spPr>
            <a:xfrm>
              <a:off x="18223083" y="14479726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94" name="속성"/>
            <p:cNvSpPr/>
            <p:nvPr/>
          </p:nvSpPr>
          <p:spPr>
            <a:xfrm>
              <a:off x="18223083" y="14884864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OPR:1368:1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 = 탄력적 방류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 = 2012-08-24T15:00</a:t>
              </a:r>
            </a:p>
          </p:txBody>
        </p:sp>
        <p:sp>
          <p:nvSpPr>
            <p:cNvPr id="5095" name="도형"/>
            <p:cNvSpPr/>
            <p:nvPr/>
          </p:nvSpPr>
          <p:spPr>
            <a:xfrm>
              <a:off x="23287303" y="14479726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6" name="도형"/>
            <p:cNvSpPr/>
            <p:nvPr/>
          </p:nvSpPr>
          <p:spPr>
            <a:xfrm>
              <a:off x="23287303" y="14479726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97" name="속성"/>
            <p:cNvSpPr/>
            <p:nvPr/>
          </p:nvSpPr>
          <p:spPr>
            <a:xfrm>
              <a:off x="23287303" y="14884864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DAM:1003110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 = 충주댐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 = 다목적댐</a:t>
              </a:r>
            </a:p>
          </p:txBody>
        </p:sp>
        <p:sp>
          <p:nvSpPr>
            <p:cNvPr id="5098" name="도형"/>
            <p:cNvSpPr/>
            <p:nvPr/>
          </p:nvSpPr>
          <p:spPr>
            <a:xfrm>
              <a:off x="18223083" y="16294038"/>
              <a:ext cx="3875229" cy="156770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9" name="도형"/>
            <p:cNvSpPr/>
            <p:nvPr/>
          </p:nvSpPr>
          <p:spPr>
            <a:xfrm>
              <a:off x="18223083" y="16294038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100" name="속성"/>
            <p:cNvSpPr/>
            <p:nvPr/>
          </p:nvSpPr>
          <p:spPr>
            <a:xfrm>
              <a:off x="18223083" y="16699176"/>
              <a:ext cx="3875229" cy="116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EVI:AP:1368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 = 홍수예보 댐방류승인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 = 승인자료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 = 순차번호 1368</a:t>
              </a:r>
            </a:p>
          </p:txBody>
        </p:sp>
        <p:sp>
          <p:nvSpPr>
            <p:cNvPr id="5101" name="도형"/>
            <p:cNvSpPr/>
            <p:nvPr/>
          </p:nvSpPr>
          <p:spPr>
            <a:xfrm>
              <a:off x="23287303" y="16294038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102" name="도형"/>
            <p:cNvSpPr/>
            <p:nvPr/>
          </p:nvSpPr>
          <p:spPr>
            <a:xfrm>
              <a:off x="23287303" y="16294038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103" name="속성"/>
            <p:cNvSpPr/>
            <p:nvPr/>
          </p:nvSpPr>
          <p:spPr>
            <a:xfrm>
              <a:off x="23287303" y="16699176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HMS:1003110:수위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 = 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 = 1003110</a:t>
              </a:r>
            </a:p>
          </p:txBody>
        </p:sp>
        <p:cxnSp>
          <p:nvCxnSpPr>
            <p:cNvPr id="5104" name="선"/>
            <p:cNvCxnSpPr/>
            <p:nvPr/>
          </p:nvCxnSpPr>
          <p:spPr>
            <a:xfrm>
              <a:off x="20160698" y="13757525"/>
              <a:ext cx="0" cy="704587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5" name="글상자"/>
            <p:cNvSpPr/>
            <p:nvPr/>
          </p:nvSpPr>
          <p:spPr>
            <a:xfrm>
              <a:off x="20386166" y="13931029"/>
              <a:ext cx="95823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106" name="선"/>
            <p:cNvCxnSpPr/>
            <p:nvPr/>
          </p:nvCxnSpPr>
          <p:spPr>
            <a:xfrm>
              <a:off x="22115927" y="13211470"/>
              <a:ext cx="1153761" cy="162055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7" name="글상자"/>
            <p:cNvSpPr/>
            <p:nvPr/>
          </p:nvSpPr>
          <p:spPr>
            <a:xfrm>
              <a:off x="22209461" y="13628937"/>
              <a:ext cx="1010730" cy="2219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108" name="선"/>
            <p:cNvCxnSpPr/>
            <p:nvPr/>
          </p:nvCxnSpPr>
          <p:spPr>
            <a:xfrm>
              <a:off x="22115927" y="15272387"/>
              <a:ext cx="115376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9" name="글상자"/>
            <p:cNvSpPr/>
            <p:nvPr/>
          </p:nvSpPr>
          <p:spPr>
            <a:xfrm>
              <a:off x="22159083" y="14986148"/>
              <a:ext cx="1076257" cy="1849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4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110" name="선"/>
            <p:cNvCxnSpPr/>
            <p:nvPr/>
          </p:nvCxnSpPr>
          <p:spPr>
            <a:xfrm>
              <a:off x="25224918" y="14004130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1" name="글상자"/>
            <p:cNvSpPr/>
            <p:nvPr/>
          </p:nvSpPr>
          <p:spPr>
            <a:xfrm>
              <a:off x="25390672" y="14177635"/>
              <a:ext cx="116573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112" name="선"/>
            <p:cNvCxnSpPr/>
            <p:nvPr/>
          </p:nvCxnSpPr>
          <p:spPr>
            <a:xfrm>
              <a:off x="25224918" y="15818442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3" name="글상자"/>
            <p:cNvSpPr/>
            <p:nvPr/>
          </p:nvSpPr>
          <p:spPr>
            <a:xfrm>
              <a:off x="25234430" y="16010442"/>
              <a:ext cx="2094738" cy="1972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1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114" name="선"/>
            <p:cNvCxnSpPr/>
            <p:nvPr/>
          </p:nvCxnSpPr>
          <p:spPr>
            <a:xfrm>
              <a:off x="20160698" y="15818442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5" name="글상자"/>
            <p:cNvSpPr/>
            <p:nvPr/>
          </p:nvSpPr>
          <p:spPr>
            <a:xfrm>
              <a:off x="20246217" y="15991947"/>
              <a:ext cx="106198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6" name="선"/>
            <p:cNvCxnSpPr/>
            <p:nvPr/>
          </p:nvCxnSpPr>
          <p:spPr>
            <a:xfrm flipH="1">
              <a:off x="22115927" y="17086699"/>
              <a:ext cx="115376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7" name="글상자"/>
            <p:cNvSpPr/>
            <p:nvPr/>
          </p:nvSpPr>
          <p:spPr>
            <a:xfrm>
              <a:off x="22191847" y="16781965"/>
              <a:ext cx="1010730" cy="2219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8" name="선"/>
            <p:cNvCxnSpPr/>
            <p:nvPr/>
          </p:nvCxnSpPr>
          <p:spPr>
            <a:xfrm flipH="1">
              <a:off x="17985285" y="13035323"/>
              <a:ext cx="237798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19" name="선"/>
            <p:cNvCxnSpPr/>
            <p:nvPr/>
          </p:nvCxnSpPr>
          <p:spPr>
            <a:xfrm>
              <a:off x="17985285" y="13035323"/>
              <a:ext cx="0" cy="4315596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0" name="선"/>
            <p:cNvCxnSpPr/>
            <p:nvPr/>
          </p:nvCxnSpPr>
          <p:spPr>
            <a:xfrm>
              <a:off x="17985285" y="17350919"/>
              <a:ext cx="220183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121" name="선"/>
            <p:cNvCxnSpPr/>
            <p:nvPr/>
          </p:nvCxnSpPr>
          <p:spPr>
            <a:xfrm>
              <a:off x="27162533" y="13035323"/>
              <a:ext cx="88073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2" name="선"/>
            <p:cNvCxnSpPr/>
            <p:nvPr/>
          </p:nvCxnSpPr>
          <p:spPr>
            <a:xfrm>
              <a:off x="27250606" y="13035323"/>
              <a:ext cx="0" cy="5073028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3" name="선"/>
            <p:cNvCxnSpPr/>
            <p:nvPr/>
          </p:nvCxnSpPr>
          <p:spPr>
            <a:xfrm flipH="1">
              <a:off x="20865285" y="18108350"/>
              <a:ext cx="6385321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4" name="선"/>
            <p:cNvCxnSpPr/>
            <p:nvPr/>
          </p:nvCxnSpPr>
          <p:spPr>
            <a:xfrm flipV="1">
              <a:off x="20865285" y="17879359"/>
              <a:ext cx="0" cy="228991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5" name="글상자"/>
            <p:cNvSpPr/>
            <p:nvPr/>
          </p:nvSpPr>
          <p:spPr>
            <a:xfrm>
              <a:off x="17826753" y="18214038"/>
              <a:ext cx="9600000" cy="2466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이름, 개체(Entity) ID, Data Property = 값.   화살표: 관계(Relation) 9종류</a:t>
              </a:r>
            </a:p>
          </p:txBody>
        </p:sp>
      </p:grpSp>
      <p:sp>
        <p:nvSpPr>
          <p:cNvPr id="1022" name="본문"/>
          <p:cNvSpPr txBox="1"/>
          <p:nvPr/>
        </p:nvSpPr>
        <p:spPr>
          <a:xfrm>
            <a:off x="15570184" y="18467800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4. 구축된 KG의 일부 (충주댐 승인 1368번)</a:t>
            </a:r>
          </a:p>
        </p:txBody>
      </p:sp>
      <p:sp>
        <p:nvSpPr>
          <p:cNvPr id="1023" name="본문"/>
          <p:cNvSpPr txBox="1"/>
          <p:nvPr/>
        </p:nvSpPr>
        <p:spPr>
          <a:xfrm>
            <a:off x="15570184" y="18987800"/>
            <a:ext cx="14113138" cy="9695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구축된 KG의 예시: 자료의 한 건이 Class에 맞는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(Approval, Operation, Criterion 등)와 근거자료로 만들어지고, 값이 일치하는 개체끼리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연결됨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20157385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3. 근거 기반 질의응답</a:t>
            </a:r>
          </a:p>
        </p:txBody>
      </p:sp>
      <p:sp>
        <p:nvSpPr>
          <p:cNvPr id="1025" name="본문"/>
          <p:cNvSpPr txBox="1"/>
          <p:nvPr/>
        </p:nvSpPr>
        <p:spPr>
          <a:xfrm>
            <a:off x="15570184" y="21300409"/>
            <a:ext cx="14113138" cy="1459398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질문에서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의도(CQ, 복수 가능)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와 대상(댐·시점)을 뽑고, 의도에 따라 KG와 저장소에서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묶음을 바탕으로 답변하며,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표시함</a:t>
            </a:r>
          </a:p>
        </p:txBody>
      </p:sp>
      <p:grpSp>
        <p:nvGrpSpPr>
          <p:cNvPr id="5145" name="그림 질의응답 흐름"/>
          <p:cNvGrpSpPr/>
          <p:nvPr/>
        </p:nvGrpSpPr>
        <p:grpSpPr>
          <a:xfrm>
            <a:off x="16926753" y="22759807"/>
            <a:ext cx="11400000" cy="6213000"/>
            <a:chOff x="16926753" y="22759807"/>
            <a:chExt cx="11400000" cy="6213000"/>
          </a:xfrm>
        </p:grpSpPr>
        <p:sp>
          <p:nvSpPr>
            <p:cNvPr id="5127" name="도형"/>
            <p:cNvSpPr/>
            <p:nvPr/>
          </p:nvSpPr>
          <p:spPr>
            <a:xfrm>
              <a:off x="16926753" y="22759807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</p:txBody>
        </p:sp>
        <p:cxnSp>
          <p:nvCxnSpPr>
            <p:cNvPr id="5128" name="선"/>
            <p:cNvCxnSpPr/>
            <p:nvPr/>
          </p:nvCxnSpPr>
          <p:spPr>
            <a:xfrm>
              <a:off x="20392353" y="23124607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9" name="도형"/>
            <p:cNvSpPr/>
            <p:nvPr/>
          </p:nvSpPr>
          <p:spPr>
            <a:xfrm>
              <a:off x="20848353" y="22759807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질문에서 의도(CQ, 복수 가능)와 대상(댐·시점)을 뽑음</a:t>
              </a:r>
            </a:p>
          </p:txBody>
        </p:sp>
        <p:sp>
          <p:nvSpPr>
            <p:cNvPr id="5130" name="도형"/>
            <p:cNvSpPr/>
            <p:nvPr/>
          </p:nvSpPr>
          <p:spPr>
            <a:xfrm>
              <a:off x="16926753" y="23626207"/>
              <a:ext cx="3420000" cy="977664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입력 확인</a:t>
              </a:r>
            </a:p>
          </p:txBody>
        </p:sp>
        <p:cxnSp>
          <p:nvCxnSpPr>
            <p:cNvPr id="5131" name="선"/>
            <p:cNvCxnSpPr/>
            <p:nvPr/>
          </p:nvCxnSpPr>
          <p:spPr>
            <a:xfrm>
              <a:off x="20392353" y="24115039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2" name="도형"/>
            <p:cNvSpPr/>
            <p:nvPr/>
          </p:nvSpPr>
          <p:spPr>
            <a:xfrm>
              <a:off x="20848353" y="23626207"/>
              <a:ext cx="7478400" cy="97766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의도·대상이 허용 범위인지 확인하고 표기를 맞춤 (범위 밖이면 조회하지 않음)</a:t>
              </a:r>
            </a:p>
          </p:txBody>
        </p:sp>
        <p:sp>
          <p:nvSpPr>
            <p:cNvPr id="5133" name="도형"/>
            <p:cNvSpPr/>
            <p:nvPr/>
          </p:nvSpPr>
          <p:spPr>
            <a:xfrm>
              <a:off x="16926753" y="24740671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조회</a:t>
              </a:r>
            </a:p>
          </p:txBody>
        </p:sp>
        <p:cxnSp>
          <p:nvCxnSpPr>
            <p:cNvPr id="5134" name="선"/>
            <p:cNvCxnSpPr/>
            <p:nvPr/>
          </p:nvCxnSpPr>
          <p:spPr>
            <a:xfrm>
              <a:off x="20392353" y="25105471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5" name="도형"/>
            <p:cNvSpPr/>
            <p:nvPr/>
          </p:nvSpPr>
          <p:spPr>
            <a:xfrm>
              <a:off x="20848353" y="24740671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Cypher 질의 틀로 관계를 따라 개체와 찾아가는 키를 가져옴</a:t>
              </a:r>
            </a:p>
          </p:txBody>
        </p:sp>
        <p:sp>
          <p:nvSpPr>
            <p:cNvPr id="5136" name="도형"/>
            <p:cNvSpPr/>
            <p:nvPr/>
          </p:nvSpPr>
          <p:spPr>
            <a:xfrm>
              <a:off x="16926753" y="25607071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저장소 조회</a:t>
              </a:r>
            </a:p>
          </p:txBody>
        </p:sp>
        <p:cxnSp>
          <p:nvCxnSpPr>
            <p:cNvPr id="5137" name="선"/>
            <p:cNvCxnSpPr/>
            <p:nvPr/>
          </p:nvCxnSpPr>
          <p:spPr>
            <a:xfrm>
              <a:off x="20392353" y="25971871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8" name="도형"/>
            <p:cNvSpPr/>
            <p:nvPr/>
          </p:nvSpPr>
          <p:spPr>
            <a:xfrm>
              <a:off x="20848353" y="25607071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키로 측정값·규정 원문을 읽음 (값은 원값 그대로)</a:t>
              </a:r>
            </a:p>
          </p:txBody>
        </p:sp>
        <p:sp>
          <p:nvSpPr>
            <p:cNvPr id="5139" name="도형"/>
            <p:cNvSpPr/>
            <p:nvPr/>
          </p:nvSpPr>
          <p:spPr>
            <a:xfrm>
              <a:off x="16926753" y="26473471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근거 묶음 구성</a:t>
              </a:r>
            </a:p>
          </p:txBody>
        </p:sp>
        <p:cxnSp>
          <p:nvCxnSpPr>
            <p:cNvPr id="5140" name="선"/>
            <p:cNvCxnSpPr/>
            <p:nvPr/>
          </p:nvCxnSpPr>
          <p:spPr>
            <a:xfrm>
              <a:off x="20392353" y="26838271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1" name="도형"/>
            <p:cNvSpPr/>
            <p:nvPr/>
          </p:nvSpPr>
          <p:spPr>
            <a:xfrm>
              <a:off x="20848353" y="26473471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구역으로 모으고 항목마다 출처 번호를 붙임</a:t>
              </a:r>
            </a:p>
          </p:txBody>
        </p:sp>
        <p:sp>
          <p:nvSpPr>
            <p:cNvPr id="5142" name="도형"/>
            <p:cNvSpPr/>
            <p:nvPr/>
          </p:nvSpPr>
          <p:spPr>
            <a:xfrm>
              <a:off x="16926753" y="27339871"/>
              <a:ext cx="3420000" cy="1590528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</p:txBody>
        </p:sp>
        <p:cxnSp>
          <p:nvCxnSpPr>
            <p:cNvPr id="5143" name="선"/>
            <p:cNvCxnSpPr/>
            <p:nvPr/>
          </p:nvCxnSpPr>
          <p:spPr>
            <a:xfrm>
              <a:off x="20392353" y="28135135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4" name="도형"/>
            <p:cNvSpPr/>
            <p:nvPr/>
          </p:nvSpPr>
          <p:spPr>
            <a:xfrm>
              <a:off x="20848353" y="27339871"/>
              <a:ext cx="7478400" cy="1590528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묶음과 근거 사용 원칙(근거만 사실로, 출처 번호 표기)을 받아 답변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근거: 사실과 출처 번호  /  판단: 판단임을 밝히고 근거 표시  /  없는 내용: “자료에 없음”</a:t>
              </a:r>
            </a:p>
          </p:txBody>
        </p:sp>
      </p:grpSp>
      <p:sp>
        <p:nvSpPr>
          <p:cNvPr id="1026" name="본문"/>
          <p:cNvSpPr txBox="1"/>
          <p:nvPr/>
        </p:nvSpPr>
        <p:spPr>
          <a:xfrm>
            <a:off x="15570184" y="29032807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5. 질의응답의 처리 단계</a:t>
            </a:r>
          </a:p>
        </p:txBody>
      </p:sp>
      <p:sp>
        <p:nvSpPr>
          <p:cNvPr id="1027" name="직사각형 1"/>
          <p:cNvSpPr/>
          <p:nvPr/>
        </p:nvSpPr>
        <p:spPr>
          <a:xfrm>
            <a:off x="15691431" y="2975280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28" name="본문"/>
          <p:cNvSpPr txBox="1"/>
          <p:nvPr/>
        </p:nvSpPr>
        <p:spPr>
          <a:xfrm>
            <a:off x="15570184" y="30895831"/>
            <a:ext cx="14113138" cy="2852639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자료를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맞춰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구축하고, 수치·원문은 외부 저장소에 두는 방법을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의도에 따라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정리하고,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운영기준, 과거 승인·운영행위를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실무자의 운영 의사결정 지원에 활용할 수 있음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향후 평가 질문 세트로 의도 추출과 답변의 정확도를 검증할 계획임</a:t>
            </a:r>
          </a:p>
        </p:txBody>
      </p:sp>
      <p:sp>
        <p:nvSpPr>
          <p:cNvPr id="1029" name="직사각형 1"/>
          <p:cNvSpPr/>
          <p:nvPr/>
        </p:nvSpPr>
        <p:spPr>
          <a:xfrm>
            <a:off x="15691431" y="3394847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30" name="본문"/>
          <p:cNvSpPr txBox="1"/>
          <p:nvPr/>
        </p:nvSpPr>
        <p:spPr>
          <a:xfrm>
            <a:off x="15570184" y="35091494"/>
            <a:ext cx="14113138" cy="71782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  <p:sp>
        <p:nvSpPr>
          <p:cNvPr id="1031" name="직사각형 1"/>
          <p:cNvSpPr/>
          <p:nvPr/>
        </p:nvSpPr>
        <p:spPr>
          <a:xfrm>
            <a:off x="15691431" y="3590931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참고문헌</a:t>
            </a:r>
          </a:p>
        </p:txBody>
      </p:sp>
      <p:sp>
        <p:nvSpPr>
          <p:cNvPr id="1032" name="본문"/>
          <p:cNvSpPr txBox="1"/>
          <p:nvPr/>
        </p:nvSpPr>
        <p:spPr>
          <a:xfrm>
            <a:off x="15570184" y="37052338"/>
            <a:ext cx="14113138" cy="399503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1. Noy, N. F. and McGuinness, D. L. (2001). “Ontology development 101: A guide to creating your first ontology.” Stanford Knowledge Systems Laboratory Technical Report KSL-01-05.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2. Huang, J., Hou, W., Zhang, S., Du, Z. and Yin, J. (2026). “Dam defects ontology and knowledge graph construction from multi-source hazard data using large language models.” Advanced Engineering Informatics, Vol. 76, 104987.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3. Zhou, Y., Bao, T., Shu, X., Li, Y. and Li, Y. (2023). “BIM and ontology-based knowledge management for dam safety monitoring.” Automation in Construction, Vol. 145, 104649.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4. Li, S., Erickson, C., Zajac, M., Guo, X., Duan, Q. and Gong, J. (2025). “A semi-automated framework for flood ontology construction with an application in risk communication.” Water, Vol. 17, No. 19, 2801.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5. Zhang, D., Ma, G., Qu, T., Wang, X., Zhou, W. and Wang, X. (2025). “A knowledge graph-enhanced large language model for question answering of hydraulic structure safety management.” Advanced Engineering Informatics, Vol. 66, 103468.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6. Purohit, S., Chin, G., Mackey, P. S. and Cottam, J. A. (2024). “GraphAide: Advanced graph-assisted query and reasoning system.” Proc. IEEE Int. Conf. on Big Data (BigData), pp. 3485-3493.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7. Lewis, P. et al. (2020). “Retrieval-augmented generation for knowledge-intensive NLP tasks.” Advances in Neural Information Processing Systems, Vol. 33, pp. 9459-9474.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8. Angles, R. and Gutierrez, C. (2008). “Survey of graph database models.” ACM Computing Surveys, Vol. 40, No. 1, Article 1.</a:t>
            </a:r>
          </a:p>
        </p:txBody>
      </p:sp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603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 Unicode MS</vt:lpstr>
      <vt:lpstr>나눔고딕</vt:lpstr>
      <vt:lpstr>나눔고딕 ExtraBold</vt:lpstr>
      <vt:lpstr>맑은 고딕</vt:lpstr>
      <vt:lpstr>Arial</vt:lpstr>
      <vt:lpstr>Verdana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황 혜선</cp:lastModifiedBy>
  <cp:revision>97</cp:revision>
  <cp:lastPrinted>2022-07-13T05:48:17Z</cp:lastPrinted>
  <dcterms:created xsi:type="dcterms:W3CDTF">2018-10-17T01:18:09Z</dcterms:created>
  <dcterms:modified xsi:type="dcterms:W3CDTF">2023-05-25T02:26:58Z</dcterms:modified>
</cp:coreProperties>
</file>