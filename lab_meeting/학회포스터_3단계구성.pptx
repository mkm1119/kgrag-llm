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9926638" cy="14355763"/>
  <p:defaultTextStyle>
    <a:defPPr>
      <a:defRPr lang="ko-KR"/>
    </a:defPPr>
    <a:lvl1pPr marL="0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1pPr>
    <a:lvl2pPr marL="208679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2pPr>
    <a:lvl3pPr marL="4173583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3pPr>
    <a:lvl4pPr marL="626037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4pPr>
    <a:lvl5pPr marL="834716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5pPr>
    <a:lvl6pPr marL="10433959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6pPr>
    <a:lvl7pPr marL="1252075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7pPr>
    <a:lvl8pPr marL="1460754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8pPr>
    <a:lvl9pPr marL="1669433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063F4"/>
    <a:srgbClr val="3A83B0"/>
    <a:srgbClr val="F6DADA"/>
    <a:srgbClr val="28508C"/>
    <a:srgbClr val="2F5EA3"/>
    <a:srgbClr val="20566E"/>
    <a:srgbClr val="F5A10B"/>
    <a:srgbClr val="EB3D6F"/>
    <a:srgbClr val="749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 autoAdjust="0"/>
    <p:restoredTop sz="94142" autoAdjust="0"/>
  </p:normalViewPr>
  <p:slideViewPr>
    <p:cSldViewPr showGuides="1">
      <p:cViewPr>
        <p:scale>
          <a:sx n="33" d="100"/>
          <a:sy n="33" d="100"/>
        </p:scale>
        <p:origin x="2166" y="24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C3975C9C-AA20-4771-875B-11630C0B0EE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51" tIns="69376" rIns="138751" bIns="6937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</p:spPr>
        <p:txBody>
          <a:bodyPr vert="horz" lIns="138751" tIns="69376" rIns="138751" bIns="6937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50A9D8C3-D90B-4640-9792-40BF06B6F7E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1pPr>
    <a:lvl2pPr marL="64654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2pPr>
    <a:lvl3pPr marL="1293094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3pPr>
    <a:lvl4pPr marL="193964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4pPr>
    <a:lvl5pPr marL="2586189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5pPr>
    <a:lvl6pPr marL="323273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6pPr>
    <a:lvl7pPr marL="3879283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7pPr>
    <a:lvl8pPr marL="452583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8pPr>
    <a:lvl9pPr marL="5172377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9D8C3-D90B-4640-9792-40BF06B6F7E5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39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76B742-CA72-4B76-9A1B-00F13A079611}"/>
              </a:ext>
            </a:extLst>
          </p:cNvPr>
          <p:cNvSpPr/>
          <p:nvPr/>
        </p:nvSpPr>
        <p:spPr>
          <a:xfrm>
            <a:off x="387465" y="6099356"/>
            <a:ext cx="14506964" cy="361869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algn="ctr"/>
            <a:endParaRPr lang="ko-KR" altLang="en-US" sz="541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E6F6F2-1EEE-4BAA-B7BB-4B058EAAA213}"/>
              </a:ext>
            </a:extLst>
          </p:cNvPr>
          <p:cNvSpPr/>
          <p:nvPr/>
        </p:nvSpPr>
        <p:spPr>
          <a:xfrm>
            <a:off x="15382036" y="6099358"/>
            <a:ext cx="14505719" cy="3618693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lvl="0" algn="ctr"/>
            <a:endParaRPr lang="ko-KR" altLang="en-US" sz="5418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" y="35249"/>
            <a:ext cx="30275357" cy="57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11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4" y="1714136"/>
            <a:ext cx="27247692" cy="7133959"/>
          </a:xfrm>
          <a:prstGeom prst="rect">
            <a:avLst/>
          </a:prstGeom>
        </p:spPr>
        <p:txBody>
          <a:bodyPr vert="horz" lIns="431984" tIns="215993" rIns="431984" bIns="21599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4" y="9987549"/>
            <a:ext cx="27247692" cy="28248506"/>
          </a:xfrm>
          <a:prstGeom prst="rect">
            <a:avLst/>
          </a:prstGeom>
        </p:spPr>
        <p:txBody>
          <a:bodyPr vert="horz" lIns="431984" tIns="215993" rIns="431984" bIns="215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4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l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33" y="39672751"/>
            <a:ext cx="9587152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ct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41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030263" rtl="0" eaLnBrk="1" latinLnBrk="1" hangingPunct="1">
        <a:spcBef>
          <a:spcPct val="0"/>
        </a:spcBef>
        <a:buNone/>
        <a:defRPr sz="19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348" indent="-1511348" algn="l" defTabSz="4030263" rtl="0" eaLnBrk="1" latinLnBrk="1" hangingPunct="1">
        <a:spcBef>
          <a:spcPct val="20000"/>
        </a:spcBef>
        <a:buFont typeface="Arial" pitchFamily="34" charset="0"/>
        <a:buChar char="•"/>
        <a:defRPr sz="14087" kern="1200">
          <a:solidFill>
            <a:schemeClr val="tx1"/>
          </a:solidFill>
          <a:latin typeface="+mn-lt"/>
          <a:ea typeface="+mn-ea"/>
          <a:cs typeface="+mn-cs"/>
        </a:defRPr>
      </a:lvl1pPr>
      <a:lvl2pPr marL="3274587" indent="-1259457" algn="l" defTabSz="4030263" rtl="0" eaLnBrk="1" latinLnBrk="1" hangingPunct="1">
        <a:spcBef>
          <a:spcPct val="20000"/>
        </a:spcBef>
        <a:buFont typeface="Arial" pitchFamily="34" charset="0"/>
        <a:buChar char="–"/>
        <a:defRPr sz="12316" kern="1200">
          <a:solidFill>
            <a:schemeClr val="tx1"/>
          </a:solidFill>
          <a:latin typeface="+mn-lt"/>
          <a:ea typeface="+mn-ea"/>
          <a:cs typeface="+mn-cs"/>
        </a:defRPr>
      </a:lvl2pPr>
      <a:lvl3pPr marL="5037827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10636" kern="1200">
          <a:solidFill>
            <a:schemeClr val="tx1"/>
          </a:solidFill>
          <a:latin typeface="+mn-lt"/>
          <a:ea typeface="+mn-ea"/>
          <a:cs typeface="+mn-cs"/>
        </a:defRPr>
      </a:lvl3pPr>
      <a:lvl4pPr marL="7052959" indent="-1007566" algn="l" defTabSz="4030263" rtl="0" eaLnBrk="1" latinLnBrk="1" hangingPunct="1">
        <a:spcBef>
          <a:spcPct val="20000"/>
        </a:spcBef>
        <a:buFont typeface="Arial" pitchFamily="34" charset="0"/>
        <a:buChar char="–"/>
        <a:defRPr sz="8770" kern="1200">
          <a:solidFill>
            <a:schemeClr val="tx1"/>
          </a:solidFill>
          <a:latin typeface="+mn-lt"/>
          <a:ea typeface="+mn-ea"/>
          <a:cs typeface="+mn-cs"/>
        </a:defRPr>
      </a:lvl4pPr>
      <a:lvl5pPr marL="9068089" indent="-1007566" algn="l" defTabSz="4030263" rtl="0" eaLnBrk="1" latinLnBrk="1" hangingPunct="1">
        <a:spcBef>
          <a:spcPct val="20000"/>
        </a:spcBef>
        <a:buFont typeface="Arial" pitchFamily="34" charset="0"/>
        <a:buChar char="»"/>
        <a:defRPr sz="8770" kern="1200">
          <a:solidFill>
            <a:schemeClr val="tx1"/>
          </a:solidFill>
          <a:latin typeface="+mn-lt"/>
          <a:ea typeface="+mn-ea"/>
          <a:cs typeface="+mn-cs"/>
        </a:defRPr>
      </a:lvl5pPr>
      <a:lvl6pPr marL="11083222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6pPr>
      <a:lvl7pPr marL="13098354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7pPr>
      <a:lvl8pPr marL="1511348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8pPr>
      <a:lvl9pPr marL="1712861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1pPr>
      <a:lvl2pPr marL="2015132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2pPr>
      <a:lvl3pPr marL="403026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3pPr>
      <a:lvl4pPr marL="604539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4pPr>
      <a:lvl5pPr marL="8060525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5pPr>
      <a:lvl6pPr marL="10075656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6pPr>
      <a:lvl7pPr marL="12090788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7pPr>
      <a:lvl8pPr marL="14105919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8pPr>
      <a:lvl9pPr marL="1612105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13" Type="http://schemas.openxmlformats.org/officeDocument/2006/relationships/image" Target="../media/poster_rId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>
            <a:grpSpLocks noGrp="1" noUngrp="1" noRot="1" noMove="1" noResize="1"/>
          </p:cNvGrpSpPr>
          <p:nvPr/>
        </p:nvGrpSpPr>
        <p:grpSpPr>
          <a:xfrm>
            <a:off x="375966" y="375545"/>
            <a:ext cx="5141882" cy="1730166"/>
            <a:chOff x="375966" y="375545"/>
            <a:chExt cx="5141882" cy="1730166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8958C42-464C-487C-8515-D9CD11E802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5966" y="375545"/>
              <a:ext cx="5074637" cy="651765"/>
            </a:xfrm>
            <a:prstGeom prst="rect">
              <a:avLst/>
            </a:prstGeom>
          </p:spPr>
          <p:txBody>
            <a:bodyPr wrap="square" lIns="96819" tIns="48411" rIns="96819" bIns="48411">
              <a:spAutoFit/>
            </a:bodyPr>
            <a:lstStyle/>
            <a:p>
              <a:pPr algn="ctr"/>
              <a:r>
                <a:rPr lang="en-US" altLang="ko-KR" sz="3600" b="1" spc="-300" dirty="0">
                  <a:solidFill>
                    <a:schemeClr val="bg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KSCE 2026 CONVENTION</a:t>
              </a:r>
              <a:endParaRPr lang="ko-KR" altLang="en-US" sz="3600" b="1" spc="-300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pic>
          <p:nvPicPr>
            <p:cNvPr id="95" name="Picture 3" descr="D:\02.기타 업무\4.각 행사 및 회의\2022\4. 학술대회\11.포스터세션\로고a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209"/>
            <a:stretch/>
          </p:blipFill>
          <p:spPr bwMode="auto">
            <a:xfrm>
              <a:off x="441848" y="985071"/>
              <a:ext cx="5076000" cy="1120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01" name="직사각형 5"/>
          <p:cNvSpPr/>
          <p:nvPr/>
        </p:nvSpPr>
        <p:spPr>
          <a:xfrm>
            <a:off x="5992955" y="300000"/>
            <a:ext cx="20582661" cy="2700000"/>
          </a:xfrm>
          <a:prstGeom prst="rect">
            <a:avLst/>
          </a:prstGeom>
        </p:spPr>
        <p:txBody>
          <a:bodyPr wrap="square" lIns="103612" tIns="51807" rIns="103612" bIns="51807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5000" b="1" cap="all" spc="-22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온톨로지 기반 지식그래프를 활용한 댐 운영 의사결정 지원 LLM 프레임워크 구축</a:t>
            </a:r>
          </a:p>
          <a:p>
            <a:pPr algn="ctr">
              <a:lnSpc>
                <a:spcPct val="115000"/>
              </a:lnSpc>
            </a:pPr>
            <a:r>
              <a:rPr lang="en-US" altLang="ko-KR" sz="30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Development of an LLM Framework for Dam Operation Decision Support Using an Ontology-based Knowledge Graph</a:t>
            </a:r>
          </a:p>
        </p:txBody>
      </p:sp>
      <p:sp>
        <p:nvSpPr>
          <p:cNvPr id="1002" name="저자"/>
          <p:cNvSpPr txBox="1"/>
          <p:nvPr/>
        </p:nvSpPr>
        <p:spPr>
          <a:xfrm>
            <a:off x="5992958" y="3080000"/>
            <a:ext cx="20582660" cy="14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문경민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신주영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장상범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조수빈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Moon, Kyeungmin ・ Shin, Ju-Young ・ Jang, Sangbeom ・ Cho, Subin</a:t>
            </a:r>
          </a:p>
        </p:txBody>
      </p:sp>
      <p:sp>
        <p:nvSpPr>
          <p:cNvPr id="1003" name="소속"/>
          <p:cNvSpPr txBox="1"/>
          <p:nvPr/>
        </p:nvSpPr>
        <p:spPr>
          <a:xfrm>
            <a:off x="1327064" y="4600000"/>
            <a:ext cx="275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/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교수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</a:t>
            </a:r>
          </a:p>
        </p:txBody>
      </p:sp>
      <p:sp>
        <p:nvSpPr>
          <p:cNvPr id="1004" name="로고 배경"/>
          <p:cNvSpPr/>
          <p:nvPr/>
        </p:nvSpPr>
        <p:spPr>
          <a:xfrm>
            <a:off x="26850000" y="600000"/>
            <a:ext cx="3000000" cy="30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005" name="국민대학교 로고" descr="Kookmin University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0000" y="700000"/>
            <a:ext cx="2800000" cy="2800000"/>
          </a:xfrm>
          <a:prstGeom prst="rect">
            <a:avLst/>
          </a:prstGeom>
          <a:ln w="12700">
            <a:solidFill>
              <a:srgbClr val="BFC5CC"/>
            </a:solidFill>
          </a:ln>
        </p:spPr>
      </p:pic>
      <p:sp>
        <p:nvSpPr>
          <p:cNvPr id="1006" name="직사각형 1"/>
          <p:cNvSpPr/>
          <p:nvPr/>
        </p:nvSpPr>
        <p:spPr>
          <a:xfrm>
            <a:off x="674157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서론</a:t>
            </a:r>
          </a:p>
        </p:txBody>
      </p:sp>
      <p:sp>
        <p:nvSpPr>
          <p:cNvPr id="1007" name="본문"/>
          <p:cNvSpPr txBox="1"/>
          <p:nvPr/>
        </p:nvSpPr>
        <p:spPr>
          <a:xfrm>
            <a:off x="597946" y="7493024"/>
            <a:ext cx="14113138" cy="409348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댐 운영 판단에는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방류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수문기상 시간 자료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규정의 홍수기 제한수위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함께 확인해야 하나, 자료마다 형식과 이름이 달라 사람이 일일이 연결해야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대규모 언어모델(LLM) 단독 활용은 답변의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근거를 확인하기 어려워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외부 자료를 검색해 답변에 활용하는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검색증강생성(RAG)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이 쓰이나, 자료 간 관계와 출처를 함께 다루려면 구조화된 지식이 필요함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연구는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온톨로지 기반 지식그래프(KG)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를 RAG 기반 검색 및 LLM 답변 생성과 연계하여, 운영자의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기반 의사결정을 지원하는 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온톨로지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는 대상(Class)과 관계를 정리한 의미 구조이고,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는 여기에 실제 개체·관계를 채운 그래프이며,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RAG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는 근거를 검색해 LLM에 주고 그 근거로 답하게 하는 방식임</a:t>
            </a:r>
          </a:p>
        </p:txBody>
      </p:sp>
      <p:sp>
        <p:nvSpPr>
          <p:cNvPr id="1008" name="직사각형 1"/>
          <p:cNvSpPr/>
          <p:nvPr/>
        </p:nvSpPr>
        <p:spPr>
          <a:xfrm>
            <a:off x="674157" y="11786504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프레임워크 개요</a:t>
            </a:r>
          </a:p>
        </p:txBody>
      </p:sp>
      <p:sp>
        <p:nvSpPr>
          <p:cNvPr id="1009" name="본문"/>
          <p:cNvSpPr txBox="1"/>
          <p:nvPr/>
        </p:nvSpPr>
        <p:spPr>
          <a:xfrm>
            <a:off x="597946" y="12929528"/>
            <a:ext cx="14113138" cy="2362826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세 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구성됨: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① Ontology 설계 → ② KG 구축 → ③ 근거 기반 질의응답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LLM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은 질문 해석과 답변 생성을 맡고, 그 사이의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입력 확인·조회·근거 묶음 구성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은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정해진 규칙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 따라 처리함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각 단계는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왜 필요한가 → 문헌의 원리 → 우리가 한 방법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순서로 설명하며,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승인 1368번(충주댐)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한 건을 예시로 따라감</a:t>
            </a:r>
          </a:p>
        </p:txBody>
      </p:sp>
      <p:grpSp>
        <p:nvGrpSpPr>
          <p:cNvPr id="5034" name="그림1 전체 구조"/>
          <p:cNvGrpSpPr/>
          <p:nvPr/>
        </p:nvGrpSpPr>
        <p:grpSpPr>
          <a:xfrm>
            <a:off x="2554515" y="15292354"/>
            <a:ext cx="10200000" cy="6630000"/>
            <a:chOff x="2554515" y="15292354"/>
            <a:chExt cx="10200000" cy="6630000"/>
          </a:xfrm>
        </p:grpSpPr>
        <p:sp>
          <p:nvSpPr>
            <p:cNvPr id="5001" name="도형"/>
            <p:cNvSpPr/>
            <p:nvPr/>
          </p:nvSpPr>
          <p:spPr>
            <a:xfrm>
              <a:off x="2554515" y="15292354"/>
              <a:ext cx="2703000" cy="2958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1600" tIns="40800" rIns="81600" bIns="40800" anchor="ctr">
              <a:noAutofit/>
            </a:bodyPr>
            <a:lstStyle/>
            <a:p>
              <a:endParaRPr lang="ko-KR"/>
            </a:p>
          </p:txBody>
        </p:sp>
        <p:sp>
          <p:nvSpPr>
            <p:cNvPr id="5002" name="글상자"/>
            <p:cNvSpPr/>
            <p:nvPr/>
          </p:nvSpPr>
          <p:spPr>
            <a:xfrm>
              <a:off x="2656515" y="15353554"/>
              <a:ext cx="24990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0400" tIns="10200" rIns="20400" bIns="10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76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Ontology 설계</a:t>
              </a:r>
            </a:p>
          </p:txBody>
        </p:sp>
        <p:sp>
          <p:nvSpPr>
            <p:cNvPr id="5003" name="도형"/>
            <p:cNvSpPr/>
            <p:nvPr/>
          </p:nvSpPr>
          <p:spPr>
            <a:xfrm>
              <a:off x="2758515" y="15781954"/>
              <a:ext cx="2295000" cy="102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8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CQ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전체 질문 1개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세부 질문 6개</a:t>
              </a:r>
            </a:p>
          </p:txBody>
        </p:sp>
        <p:cxnSp>
          <p:nvCxnSpPr>
            <p:cNvPr id="5004" name="선"/>
            <p:cNvCxnSpPr/>
            <p:nvPr/>
          </p:nvCxnSpPr>
          <p:spPr>
            <a:xfrm>
              <a:off x="3900915" y="16822354"/>
              <a:ext cx="0" cy="2244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05" name="도형"/>
            <p:cNvSpPr/>
            <p:nvPr/>
          </p:nvSpPr>
          <p:spPr>
            <a:xfrm>
              <a:off x="2758515" y="17067154"/>
              <a:ext cx="2295000" cy="102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8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· 관계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6, 관계 9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Data Property</a:t>
              </a:r>
            </a:p>
          </p:txBody>
        </p:sp>
        <p:sp>
          <p:nvSpPr>
            <p:cNvPr id="5006" name="도형"/>
            <p:cNvSpPr/>
            <p:nvPr/>
          </p:nvSpPr>
          <p:spPr>
            <a:xfrm>
              <a:off x="5461515" y="15292354"/>
              <a:ext cx="7293000" cy="2958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1600" tIns="40800" rIns="81600" bIns="40800" anchor="ctr">
              <a:noAutofit/>
            </a:bodyPr>
            <a:lstStyle/>
            <a:p>
              <a:endParaRPr lang="ko-KR"/>
            </a:p>
          </p:txBody>
        </p:sp>
        <p:sp>
          <p:nvSpPr>
            <p:cNvPr id="5007" name="글상자"/>
            <p:cNvSpPr/>
            <p:nvPr/>
          </p:nvSpPr>
          <p:spPr>
            <a:xfrm>
              <a:off x="5563515" y="15353554"/>
              <a:ext cx="70890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0400" tIns="10200" rIns="20400" bIns="10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76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구축</a:t>
              </a:r>
            </a:p>
          </p:txBody>
        </p:sp>
        <p:sp>
          <p:nvSpPr>
            <p:cNvPr id="5008" name="도형"/>
            <p:cNvSpPr/>
            <p:nvPr/>
          </p:nvSpPr>
          <p:spPr>
            <a:xfrm>
              <a:off x="5614515" y="15802354"/>
              <a:ext cx="1632000" cy="229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8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원자료 4종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승인 기록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시간 자료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규정 별표3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정보</a:t>
              </a:r>
            </a:p>
          </p:txBody>
        </p:sp>
        <p:cxnSp>
          <p:nvCxnSpPr>
            <p:cNvPr id="5009" name="선"/>
            <p:cNvCxnSpPr/>
            <p:nvPr/>
          </p:nvCxnSpPr>
          <p:spPr>
            <a:xfrm>
              <a:off x="7266915" y="16944754"/>
              <a:ext cx="367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0" name="도형"/>
            <p:cNvSpPr/>
            <p:nvPr/>
          </p:nvSpPr>
          <p:spPr>
            <a:xfrm>
              <a:off x="7654515" y="15802354"/>
              <a:ext cx="1734000" cy="229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8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6단계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매핑 ·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검증 · 저장</a:t>
              </a:r>
            </a:p>
          </p:txBody>
        </p:sp>
        <p:cxnSp>
          <p:nvCxnSpPr>
            <p:cNvPr id="5011" name="선"/>
            <p:cNvCxnSpPr/>
            <p:nvPr/>
          </p:nvCxnSpPr>
          <p:spPr>
            <a:xfrm>
              <a:off x="9408915" y="16944754"/>
              <a:ext cx="367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2" name="도형"/>
            <p:cNvSpPr/>
            <p:nvPr/>
          </p:nvSpPr>
          <p:spPr>
            <a:xfrm>
              <a:off x="9796515" y="15761554"/>
              <a:ext cx="2805000" cy="714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2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(Neo4j)</a:t>
              </a:r>
            </a:p>
          </p:txBody>
        </p:sp>
        <p:sp>
          <p:nvSpPr>
            <p:cNvPr id="5013" name="도형"/>
            <p:cNvSpPr/>
            <p:nvPr/>
          </p:nvSpPr>
          <p:spPr>
            <a:xfrm>
              <a:off x="9796515" y="16577554"/>
              <a:ext cx="2805000" cy="714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2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측정자료 저장소</a:t>
              </a:r>
            </a:p>
          </p:txBody>
        </p:sp>
        <p:sp>
          <p:nvSpPr>
            <p:cNvPr id="5014" name="도형"/>
            <p:cNvSpPr/>
            <p:nvPr/>
          </p:nvSpPr>
          <p:spPr>
            <a:xfrm>
              <a:off x="9796515" y="17393554"/>
              <a:ext cx="2805000" cy="714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2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문서 저장소</a:t>
              </a:r>
            </a:p>
          </p:txBody>
        </p:sp>
        <p:sp>
          <p:nvSpPr>
            <p:cNvPr id="5015" name="도형"/>
            <p:cNvSpPr/>
            <p:nvPr/>
          </p:nvSpPr>
          <p:spPr>
            <a:xfrm>
              <a:off x="2554515" y="18658354"/>
              <a:ext cx="10200000" cy="3060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1600" tIns="40800" rIns="81600" bIns="40800" anchor="ctr">
              <a:noAutofit/>
            </a:bodyPr>
            <a:lstStyle/>
            <a:p>
              <a:endParaRPr lang="ko-KR"/>
            </a:p>
          </p:txBody>
        </p:sp>
        <p:sp>
          <p:nvSpPr>
            <p:cNvPr id="5016" name="글상자"/>
            <p:cNvSpPr/>
            <p:nvPr/>
          </p:nvSpPr>
          <p:spPr>
            <a:xfrm>
              <a:off x="2656515" y="18719554"/>
              <a:ext cx="99960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0400" tIns="10200" rIns="20400" bIns="10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76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근거 기반 질의응답 (RAG)</a:t>
              </a:r>
            </a:p>
          </p:txBody>
        </p:sp>
        <p:sp>
          <p:nvSpPr>
            <p:cNvPr id="5017" name="도형"/>
            <p:cNvSpPr/>
            <p:nvPr/>
          </p:nvSpPr>
          <p:spPr>
            <a:xfrm>
              <a:off x="2697315" y="19290754"/>
              <a:ext cx="1754400" cy="142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49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사용자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28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</a:t>
              </a:r>
            </a:p>
          </p:txBody>
        </p:sp>
        <p:sp>
          <p:nvSpPr>
            <p:cNvPr id="5018" name="도형"/>
            <p:cNvSpPr/>
            <p:nvPr/>
          </p:nvSpPr>
          <p:spPr>
            <a:xfrm>
              <a:off x="4737315" y="19290754"/>
              <a:ext cx="1754400" cy="142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44450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8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2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 CQ1~6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2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· 시점</a:t>
              </a:r>
            </a:p>
          </p:txBody>
        </p:sp>
        <p:sp>
          <p:nvSpPr>
            <p:cNvPr id="5019" name="도형"/>
            <p:cNvSpPr/>
            <p:nvPr/>
          </p:nvSpPr>
          <p:spPr>
            <a:xfrm>
              <a:off x="6777315" y="19290754"/>
              <a:ext cx="1754400" cy="142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8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검색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2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입력 확인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2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· 저장소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2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조회</a:t>
              </a:r>
            </a:p>
          </p:txBody>
        </p:sp>
        <p:sp>
          <p:nvSpPr>
            <p:cNvPr id="5020" name="도형"/>
            <p:cNvSpPr/>
            <p:nvPr/>
          </p:nvSpPr>
          <p:spPr>
            <a:xfrm>
              <a:off x="8817315" y="19290754"/>
              <a:ext cx="1754400" cy="142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8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2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번호 부착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2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원값 근거</a:t>
              </a:r>
            </a:p>
          </p:txBody>
        </p:sp>
        <p:sp>
          <p:nvSpPr>
            <p:cNvPr id="5021" name="도형"/>
            <p:cNvSpPr/>
            <p:nvPr/>
          </p:nvSpPr>
          <p:spPr>
            <a:xfrm>
              <a:off x="10857315" y="19290754"/>
              <a:ext cx="1754400" cy="142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44450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8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2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/ 판단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2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분리 작성</a:t>
              </a:r>
            </a:p>
          </p:txBody>
        </p:sp>
        <p:cxnSp>
          <p:nvCxnSpPr>
            <p:cNvPr id="5022" name="선"/>
            <p:cNvCxnSpPr/>
            <p:nvPr/>
          </p:nvCxnSpPr>
          <p:spPr>
            <a:xfrm>
              <a:off x="4472115" y="20004754"/>
              <a:ext cx="244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3" name="선"/>
            <p:cNvCxnSpPr/>
            <p:nvPr/>
          </p:nvCxnSpPr>
          <p:spPr>
            <a:xfrm>
              <a:off x="6512115" y="20004754"/>
              <a:ext cx="244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4" name="선"/>
            <p:cNvCxnSpPr/>
            <p:nvPr/>
          </p:nvCxnSpPr>
          <p:spPr>
            <a:xfrm>
              <a:off x="8552115" y="20004754"/>
              <a:ext cx="244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5" name="선"/>
            <p:cNvCxnSpPr/>
            <p:nvPr/>
          </p:nvCxnSpPr>
          <p:spPr>
            <a:xfrm>
              <a:off x="10592115" y="20004754"/>
              <a:ext cx="244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6" name="선"/>
            <p:cNvCxnSpPr/>
            <p:nvPr/>
          </p:nvCxnSpPr>
          <p:spPr>
            <a:xfrm>
              <a:off x="11204115" y="18127954"/>
              <a:ext cx="0" cy="3468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7" name="선"/>
            <p:cNvCxnSpPr/>
            <p:nvPr/>
          </p:nvCxnSpPr>
          <p:spPr>
            <a:xfrm flipH="1">
              <a:off x="7654515" y="18474754"/>
              <a:ext cx="3549600" cy="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8" name="선"/>
            <p:cNvCxnSpPr/>
            <p:nvPr/>
          </p:nvCxnSpPr>
          <p:spPr>
            <a:xfrm>
              <a:off x="7654515" y="18474754"/>
              <a:ext cx="0" cy="7956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  <a:tailEnd type="triangle" w="med" len="med"/>
            </a:ln>
          </p:spPr>
        </p:cxnSp>
        <p:sp>
          <p:nvSpPr>
            <p:cNvPr id="5029" name="글상자"/>
            <p:cNvSpPr/>
            <p:nvPr/>
          </p:nvSpPr>
          <p:spPr>
            <a:xfrm>
              <a:off x="7858515" y="18535954"/>
              <a:ext cx="30600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0400" tIns="10200" rIns="20400" bIns="10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저장소에서 읽어 옴</a:t>
              </a:r>
            </a:p>
          </p:txBody>
        </p:sp>
        <p:sp>
          <p:nvSpPr>
            <p:cNvPr id="5030" name="도형"/>
            <p:cNvSpPr/>
            <p:nvPr/>
          </p:nvSpPr>
          <p:spPr>
            <a:xfrm>
              <a:off x="4737315" y="20881954"/>
              <a:ext cx="1754400" cy="408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44450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2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LLM</a:t>
              </a:r>
            </a:p>
          </p:txBody>
        </p:sp>
        <p:sp>
          <p:nvSpPr>
            <p:cNvPr id="5031" name="도형"/>
            <p:cNvSpPr/>
            <p:nvPr/>
          </p:nvSpPr>
          <p:spPr>
            <a:xfrm>
              <a:off x="6777315" y="20881954"/>
              <a:ext cx="3794400" cy="408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2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자동 처리 (규칙)</a:t>
              </a:r>
            </a:p>
          </p:txBody>
        </p:sp>
        <p:sp>
          <p:nvSpPr>
            <p:cNvPr id="5032" name="도형"/>
            <p:cNvSpPr/>
            <p:nvPr/>
          </p:nvSpPr>
          <p:spPr>
            <a:xfrm>
              <a:off x="10857315" y="20881954"/>
              <a:ext cx="1754400" cy="408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44450">
              <a:solidFill>
                <a:srgbClr val="262626"/>
              </a:solidFill>
            </a:ln>
          </p:spPr>
          <p:txBody>
            <a:bodyPr wrap="square" lIns="81600" tIns="40800" rIns="81600" bIns="4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2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LLM</a:t>
              </a:r>
            </a:p>
          </p:txBody>
        </p:sp>
        <p:sp>
          <p:nvSpPr>
            <p:cNvPr id="5033" name="글상자"/>
            <p:cNvSpPr/>
            <p:nvPr/>
          </p:nvSpPr>
          <p:spPr>
            <a:xfrm>
              <a:off x="2554515" y="21371554"/>
              <a:ext cx="102000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0400" tIns="10200" rIns="20400" bIns="10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굵은 테두리: LLM,  가는 테두리: 정해진 규칙으로 처리</a:t>
              </a:r>
            </a:p>
          </p:txBody>
        </p:sp>
      </p:grpSp>
      <p:sp>
        <p:nvSpPr>
          <p:cNvPr id="1010" name="본문"/>
          <p:cNvSpPr txBox="1"/>
          <p:nvPr/>
        </p:nvSpPr>
        <p:spPr>
          <a:xfrm>
            <a:off x="597946" y="21982354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1. 연구의 구성</a:t>
            </a:r>
          </a:p>
        </p:txBody>
      </p:sp>
      <p:sp>
        <p:nvSpPr>
          <p:cNvPr id="1011" name="직사각형 1"/>
          <p:cNvSpPr/>
          <p:nvPr/>
        </p:nvSpPr>
        <p:spPr>
          <a:xfrm>
            <a:off x="674157" y="22702354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1. Ontology 설계</a:t>
            </a:r>
          </a:p>
        </p:txBody>
      </p:sp>
      <p:sp>
        <p:nvSpPr>
          <p:cNvPr id="1012" name="본문"/>
          <p:cNvSpPr txBox="1"/>
          <p:nvPr/>
        </p:nvSpPr>
        <p:spPr>
          <a:xfrm>
            <a:off x="597946" y="23845378"/>
            <a:ext cx="14113138" cy="1949212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왜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운영자가 확인해야 할 질문이 정해져야 필요한 Class와 관계가 정해짐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원리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답해야 할 질문(CQ)에서 출발하여 Class·관계·속성을 정의함 (Noy &amp; McGuinness)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전체 질문 1개와 세부 질문 6개(CQ1~CQ6)를 정하고, 이에 답하는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Class 6개와 관계 9개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정의함</a:t>
            </a:r>
          </a:p>
        </p:txBody>
      </p:sp>
      <p:sp>
        <p:nvSpPr>
          <p:cNvPr id="1013" name="직사각형 415"/>
          <p:cNvSpPr/>
          <p:nvPr/>
        </p:nvSpPr>
        <p:spPr>
          <a:xfrm>
            <a:off x="830804" y="25794590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1. 전체 질문과 세부 질문(CQ)</a:t>
            </a:r>
          </a:p>
        </p:txBody>
      </p:sp>
      <p:graphicFrame>
        <p:nvGraphicFramePr>
          <p:cNvPr id="1014" name="표"/>
          <p:cNvGraphicFramePr>
            <a:graphicFrameLocks noGrp="1"/>
          </p:cNvGraphicFramePr>
          <p:nvPr/>
        </p:nvGraphicFramePr>
        <p:xfrm>
          <a:off x="697946" y="26530575"/>
          <a:ext cx="13500000" cy="3771750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11500000"/>
              </a:tblGrid>
              <a:tr h="43575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번호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 (Competency Question)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7215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전체 질문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특정 댐의 현재 수문·기상 상태와 운영기준을 확인하고, 선택된 과거 사례의 상태·운영행위·승인·근거를 함께 추적하여 운영 판단을 지원할 수 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CQ1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대상 댐의 현재 수문·기상 상태는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CQ2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선택된 과거 시점 또는 사례의 수문·기상 상태는 어떠했는가?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CQ3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사례에서 수행된 운영행위는 무엇이었는가?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CQ4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사례의 방류 승인과 승인 내용은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CQ5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현재 대상 댐에 적용되는 운영기준과 기준값은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CQ6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위 정보를 확인할 수 있는 공식 자료 또는 근거문서는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075" name="그림2 KG 예시"/>
          <p:cNvGrpSpPr/>
          <p:nvPr/>
        </p:nvGrpSpPr>
        <p:grpSpPr>
          <a:xfrm>
            <a:off x="2754515" y="30422325"/>
            <a:ext cx="9800000" cy="6113761"/>
            <a:chOff x="2754515" y="30422325"/>
            <a:chExt cx="9800000" cy="6113761"/>
          </a:xfrm>
        </p:grpSpPr>
        <p:sp>
          <p:nvSpPr>
            <p:cNvPr id="5035" name="도형"/>
            <p:cNvSpPr/>
            <p:nvPr/>
          </p:nvSpPr>
          <p:spPr>
            <a:xfrm>
              <a:off x="3159102" y="30422325"/>
              <a:ext cx="3955963" cy="134862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1927" tIns="35963" rIns="71927" bIns="35963" anchor="ctr">
              <a:noAutofit/>
            </a:bodyPr>
            <a:lstStyle/>
            <a:p>
              <a:endParaRPr lang="ko-KR"/>
            </a:p>
          </p:txBody>
        </p:sp>
        <p:sp>
          <p:nvSpPr>
            <p:cNvPr id="5036" name="도형"/>
            <p:cNvSpPr/>
            <p:nvPr/>
          </p:nvSpPr>
          <p:spPr>
            <a:xfrm>
              <a:off x="3159102" y="30422325"/>
              <a:ext cx="3955963" cy="395596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5872" tIns="62936" rIns="125872" bIns="62936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99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37" name="속성"/>
            <p:cNvSpPr/>
            <p:nvPr/>
          </p:nvSpPr>
          <p:spPr>
            <a:xfrm>
              <a:off x="3159102" y="30835903"/>
              <a:ext cx="3955963" cy="935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5872" tIns="62936" rIns="125872" bIns="62936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7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APR:1368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 = 2012-08-24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 = “방류시작 15:00; 2000㎥/s”</a:t>
              </a:r>
            </a:p>
          </p:txBody>
        </p:sp>
        <p:sp>
          <p:nvSpPr>
            <p:cNvPr id="5038" name="도형"/>
            <p:cNvSpPr/>
            <p:nvPr/>
          </p:nvSpPr>
          <p:spPr>
            <a:xfrm>
              <a:off x="8328827" y="30422325"/>
              <a:ext cx="3955963" cy="1600367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1927" tIns="35963" rIns="71927" bIns="35963" anchor="ctr">
              <a:noAutofit/>
            </a:bodyPr>
            <a:lstStyle/>
            <a:p>
              <a:endParaRPr lang="ko-KR"/>
            </a:p>
          </p:txBody>
        </p:sp>
        <p:sp>
          <p:nvSpPr>
            <p:cNvPr id="5039" name="도형"/>
            <p:cNvSpPr/>
            <p:nvPr/>
          </p:nvSpPr>
          <p:spPr>
            <a:xfrm>
              <a:off x="8328827" y="30422325"/>
              <a:ext cx="3955963" cy="395596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5872" tIns="62936" rIns="125872" bIns="62936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99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40" name="속성"/>
            <p:cNvSpPr/>
            <p:nvPr/>
          </p:nvSpPr>
          <p:spPr>
            <a:xfrm>
              <a:off x="8328827" y="30835903"/>
              <a:ext cx="3955963" cy="11867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5872" tIns="62936" rIns="125872" bIns="62936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7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CRI:CR-02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 = 홍수기 제한수위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 = 138.0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 = EL.m</a:t>
              </a:r>
            </a:p>
          </p:txBody>
        </p:sp>
        <p:sp>
          <p:nvSpPr>
            <p:cNvPr id="5041" name="도형"/>
            <p:cNvSpPr/>
            <p:nvPr/>
          </p:nvSpPr>
          <p:spPr>
            <a:xfrm>
              <a:off x="3159102" y="32526178"/>
              <a:ext cx="3955963" cy="134862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1927" tIns="35963" rIns="71927" bIns="35963" anchor="ctr">
              <a:noAutofit/>
            </a:bodyPr>
            <a:lstStyle/>
            <a:p>
              <a:endParaRPr lang="ko-KR"/>
            </a:p>
          </p:txBody>
        </p:sp>
        <p:sp>
          <p:nvSpPr>
            <p:cNvPr id="5042" name="도형"/>
            <p:cNvSpPr/>
            <p:nvPr/>
          </p:nvSpPr>
          <p:spPr>
            <a:xfrm>
              <a:off x="3159102" y="32526178"/>
              <a:ext cx="3955963" cy="395596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5872" tIns="62936" rIns="125872" bIns="62936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99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43" name="속성"/>
            <p:cNvSpPr/>
            <p:nvPr/>
          </p:nvSpPr>
          <p:spPr>
            <a:xfrm>
              <a:off x="3159102" y="32939756"/>
              <a:ext cx="3955963" cy="935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5872" tIns="62936" rIns="125872" bIns="62936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7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OPR:1368:1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 = 탄력적 방류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 = 2012-08-24T15:00</a:t>
              </a:r>
            </a:p>
          </p:txBody>
        </p:sp>
        <p:sp>
          <p:nvSpPr>
            <p:cNvPr id="5044" name="도형"/>
            <p:cNvSpPr/>
            <p:nvPr/>
          </p:nvSpPr>
          <p:spPr>
            <a:xfrm>
              <a:off x="8328827" y="32526178"/>
              <a:ext cx="3955963" cy="134862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1927" tIns="35963" rIns="71927" bIns="35963" anchor="ctr">
              <a:noAutofit/>
            </a:bodyPr>
            <a:lstStyle/>
            <a:p>
              <a:endParaRPr lang="ko-KR"/>
            </a:p>
          </p:txBody>
        </p:sp>
        <p:sp>
          <p:nvSpPr>
            <p:cNvPr id="5045" name="도형"/>
            <p:cNvSpPr/>
            <p:nvPr/>
          </p:nvSpPr>
          <p:spPr>
            <a:xfrm>
              <a:off x="8328827" y="32526178"/>
              <a:ext cx="3955963" cy="395596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5872" tIns="62936" rIns="125872" bIns="62936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99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46" name="속성"/>
            <p:cNvSpPr/>
            <p:nvPr/>
          </p:nvSpPr>
          <p:spPr>
            <a:xfrm>
              <a:off x="8328827" y="32939756"/>
              <a:ext cx="3955963" cy="935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5872" tIns="62936" rIns="125872" bIns="62936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7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DAM:1003110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 = 충주댐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 = 다목적댐</a:t>
              </a:r>
            </a:p>
          </p:txBody>
        </p:sp>
        <p:sp>
          <p:nvSpPr>
            <p:cNvPr id="5047" name="도형"/>
            <p:cNvSpPr/>
            <p:nvPr/>
          </p:nvSpPr>
          <p:spPr>
            <a:xfrm>
              <a:off x="3159102" y="34378288"/>
              <a:ext cx="3955963" cy="1600367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1927" tIns="35963" rIns="71927" bIns="35963" anchor="ctr">
              <a:noAutofit/>
            </a:bodyPr>
            <a:lstStyle/>
            <a:p>
              <a:endParaRPr lang="ko-KR"/>
            </a:p>
          </p:txBody>
        </p:sp>
        <p:sp>
          <p:nvSpPr>
            <p:cNvPr id="5048" name="도형"/>
            <p:cNvSpPr/>
            <p:nvPr/>
          </p:nvSpPr>
          <p:spPr>
            <a:xfrm>
              <a:off x="3159102" y="34378288"/>
              <a:ext cx="3955963" cy="395596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5872" tIns="62936" rIns="125872" bIns="62936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99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049" name="속성"/>
            <p:cNvSpPr/>
            <p:nvPr/>
          </p:nvSpPr>
          <p:spPr>
            <a:xfrm>
              <a:off x="3159102" y="34791866"/>
              <a:ext cx="3955963" cy="11867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5872" tIns="62936" rIns="125872" bIns="62936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7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EVI:AP:1368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 = 홍수예보 댐방류승인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 = 승인자료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 = 순차번호 1368</a:t>
              </a:r>
            </a:p>
          </p:txBody>
        </p:sp>
        <p:sp>
          <p:nvSpPr>
            <p:cNvPr id="5050" name="도형"/>
            <p:cNvSpPr/>
            <p:nvPr/>
          </p:nvSpPr>
          <p:spPr>
            <a:xfrm>
              <a:off x="8328827" y="34378288"/>
              <a:ext cx="3955963" cy="134862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1927" tIns="35963" rIns="71927" bIns="35963" anchor="ctr">
              <a:noAutofit/>
            </a:bodyPr>
            <a:lstStyle/>
            <a:p>
              <a:endParaRPr lang="ko-KR"/>
            </a:p>
          </p:txBody>
        </p:sp>
        <p:sp>
          <p:nvSpPr>
            <p:cNvPr id="5051" name="도형"/>
            <p:cNvSpPr/>
            <p:nvPr/>
          </p:nvSpPr>
          <p:spPr>
            <a:xfrm>
              <a:off x="8328827" y="34378288"/>
              <a:ext cx="3955963" cy="395596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5872" tIns="62936" rIns="125872" bIns="62936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99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052" name="속성"/>
            <p:cNvSpPr/>
            <p:nvPr/>
          </p:nvSpPr>
          <p:spPr>
            <a:xfrm>
              <a:off x="8328827" y="34791866"/>
              <a:ext cx="3955963" cy="935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5872" tIns="62936" rIns="125872" bIns="62936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7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HMS:1003110:수위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 = 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 = 1003110</a:t>
              </a:r>
            </a:p>
          </p:txBody>
        </p:sp>
        <p:cxnSp>
          <p:nvCxnSpPr>
            <p:cNvPr id="5053" name="선"/>
            <p:cNvCxnSpPr/>
            <p:nvPr/>
          </p:nvCxnSpPr>
          <p:spPr>
            <a:xfrm>
              <a:off x="5137084" y="31788931"/>
              <a:ext cx="0" cy="719266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4" name="글상자"/>
            <p:cNvSpPr/>
            <p:nvPr/>
          </p:nvSpPr>
          <p:spPr>
            <a:xfrm>
              <a:off x="5367249" y="31966050"/>
              <a:ext cx="978202" cy="2391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982" tIns="8991" rIns="17982" bIns="8991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4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055" name="선"/>
            <p:cNvCxnSpPr/>
            <p:nvPr/>
          </p:nvCxnSpPr>
          <p:spPr>
            <a:xfrm>
              <a:off x="7133047" y="31231499"/>
              <a:ext cx="1177798" cy="165431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6" name="글상자"/>
            <p:cNvSpPr/>
            <p:nvPr/>
          </p:nvSpPr>
          <p:spPr>
            <a:xfrm>
              <a:off x="7228530" y="31657664"/>
              <a:ext cx="1031787" cy="2265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982" tIns="8991" rIns="17982" bIns="8991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057" name="선"/>
            <p:cNvCxnSpPr/>
            <p:nvPr/>
          </p:nvCxnSpPr>
          <p:spPr>
            <a:xfrm>
              <a:off x="7133047" y="33335353"/>
              <a:ext cx="1177798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8" name="글상자"/>
            <p:cNvSpPr/>
            <p:nvPr/>
          </p:nvSpPr>
          <p:spPr>
            <a:xfrm>
              <a:off x="7177102" y="33043151"/>
              <a:ext cx="1098679" cy="1888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982" tIns="8991" rIns="17982" bIns="8991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6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059" name="선"/>
            <p:cNvCxnSpPr/>
            <p:nvPr/>
          </p:nvCxnSpPr>
          <p:spPr>
            <a:xfrm>
              <a:off x="10306809" y="32040674"/>
              <a:ext cx="0" cy="467523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0" name="글상자"/>
            <p:cNvSpPr/>
            <p:nvPr/>
          </p:nvSpPr>
          <p:spPr>
            <a:xfrm>
              <a:off x="10476016" y="32217793"/>
              <a:ext cx="1190026" cy="2391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982" tIns="8991" rIns="17982" bIns="8991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4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061" name="선"/>
            <p:cNvCxnSpPr/>
            <p:nvPr/>
          </p:nvCxnSpPr>
          <p:spPr>
            <a:xfrm>
              <a:off x="10306809" y="33892784"/>
              <a:ext cx="0" cy="467523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2" name="글상자"/>
            <p:cNvSpPr/>
            <p:nvPr/>
          </p:nvSpPr>
          <p:spPr>
            <a:xfrm>
              <a:off x="10316519" y="34088784"/>
              <a:ext cx="2138378" cy="201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982" tIns="8991" rIns="17982" bIns="8991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133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063" name="선"/>
            <p:cNvCxnSpPr/>
            <p:nvPr/>
          </p:nvCxnSpPr>
          <p:spPr>
            <a:xfrm>
              <a:off x="5137084" y="33892784"/>
              <a:ext cx="0" cy="467523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4" name="글상자"/>
            <p:cNvSpPr/>
            <p:nvPr/>
          </p:nvSpPr>
          <p:spPr>
            <a:xfrm>
              <a:off x="5224385" y="34069903"/>
              <a:ext cx="1084114" cy="2391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982" tIns="8991" rIns="17982" bIns="8991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4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5" name="선"/>
            <p:cNvCxnSpPr/>
            <p:nvPr/>
          </p:nvCxnSpPr>
          <p:spPr>
            <a:xfrm flipH="1">
              <a:off x="7133047" y="35187463"/>
              <a:ext cx="1177798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6" name="글상자"/>
            <p:cNvSpPr/>
            <p:nvPr/>
          </p:nvSpPr>
          <p:spPr>
            <a:xfrm>
              <a:off x="7210548" y="34876380"/>
              <a:ext cx="1031787" cy="2265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982" tIns="8991" rIns="17982" bIns="8991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7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7" name="선"/>
            <p:cNvCxnSpPr/>
            <p:nvPr/>
          </p:nvCxnSpPr>
          <p:spPr>
            <a:xfrm flipH="1">
              <a:off x="2916350" y="31051683"/>
              <a:ext cx="242752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8" name="선"/>
            <p:cNvCxnSpPr/>
            <p:nvPr/>
          </p:nvCxnSpPr>
          <p:spPr>
            <a:xfrm>
              <a:off x="2916350" y="31051683"/>
              <a:ext cx="0" cy="4405505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9" name="선"/>
            <p:cNvCxnSpPr/>
            <p:nvPr/>
          </p:nvCxnSpPr>
          <p:spPr>
            <a:xfrm>
              <a:off x="2916350" y="35457187"/>
              <a:ext cx="22477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70" name="선"/>
            <p:cNvCxnSpPr/>
            <p:nvPr/>
          </p:nvCxnSpPr>
          <p:spPr>
            <a:xfrm>
              <a:off x="12284790" y="31051683"/>
              <a:ext cx="89908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71" name="선"/>
            <p:cNvCxnSpPr/>
            <p:nvPr/>
          </p:nvCxnSpPr>
          <p:spPr>
            <a:xfrm>
              <a:off x="12374698" y="31051683"/>
              <a:ext cx="0" cy="5178716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72" name="선"/>
            <p:cNvCxnSpPr/>
            <p:nvPr/>
          </p:nvCxnSpPr>
          <p:spPr>
            <a:xfrm flipH="1">
              <a:off x="5856350" y="36230398"/>
              <a:ext cx="6518349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73" name="선"/>
            <p:cNvCxnSpPr/>
            <p:nvPr/>
          </p:nvCxnSpPr>
          <p:spPr>
            <a:xfrm flipV="1">
              <a:off x="5856350" y="35996637"/>
              <a:ext cx="0" cy="233761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74" name="글상자"/>
            <p:cNvSpPr/>
            <p:nvPr/>
          </p:nvSpPr>
          <p:spPr>
            <a:xfrm>
              <a:off x="2754515" y="36338288"/>
              <a:ext cx="9800000" cy="2517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7982" tIns="8991" rIns="17982" bIns="8991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1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이름, 개체(Entity) ID, Data Property = 값.   화살표: 관계(Relation) 9종류</a:t>
              </a:r>
            </a:p>
          </p:txBody>
        </p:sp>
      </p:grpSp>
      <p:sp>
        <p:nvSpPr>
          <p:cNvPr id="1015" name="본문"/>
          <p:cNvSpPr txBox="1"/>
          <p:nvPr/>
        </p:nvSpPr>
        <p:spPr>
          <a:xfrm>
            <a:off x="597946" y="36596086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2. Ontology의 Class·관계와 개체 예시(충주댐 승인 1368번)</a:t>
            </a:r>
          </a:p>
        </p:txBody>
      </p:sp>
      <p:sp>
        <p:nvSpPr>
          <p:cNvPr id="1016" name="직사각형 1"/>
          <p:cNvSpPr/>
          <p:nvPr/>
        </p:nvSpPr>
        <p:spPr>
          <a:xfrm>
            <a:off x="674157" y="37316086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결론</a:t>
            </a:r>
          </a:p>
        </p:txBody>
      </p:sp>
      <p:sp>
        <p:nvSpPr>
          <p:cNvPr id="1017" name="본문"/>
          <p:cNvSpPr txBox="1"/>
          <p:nvPr/>
        </p:nvSpPr>
        <p:spPr>
          <a:xfrm>
            <a:off x="597946" y="38459110"/>
            <a:ext cx="14113138" cy="3266253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자료를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Ontology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 맞춰 6단계로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KG(개체 264, 관계 418)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로 구축하고 수치·원문은 외부 저장소에 둠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의도에 따라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정리하고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LLM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 근거와 판단을 나누어 답하는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현재 상태, 제한수위, 과거 승인·운영행위를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함께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확인할 수 있어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실무자의 운영 의사결정 지원에 활용할 수 있음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향후 평가 질문 세트로 의도 추출과 답변의 정확도를 검증할 계획임</a:t>
            </a:r>
          </a:p>
        </p:txBody>
      </p:sp>
      <p:sp>
        <p:nvSpPr>
          <p:cNvPr id="1018" name="직사각형 1"/>
          <p:cNvSpPr/>
          <p:nvPr/>
        </p:nvSpPr>
        <p:spPr>
          <a:xfrm>
            <a:off x="15691431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2. KG 구축</a:t>
            </a:r>
          </a:p>
        </p:txBody>
      </p:sp>
      <p:sp>
        <p:nvSpPr>
          <p:cNvPr id="1019" name="본문"/>
          <p:cNvSpPr txBox="1"/>
          <p:nvPr/>
        </p:nvSpPr>
        <p:spPr>
          <a:xfrm>
            <a:off x="15570184" y="7493024"/>
            <a:ext cx="14113138" cy="2776439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왜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자료마다 형식과 이름이 달라 사람이 연결해야 하므로, 자료를 Ontology에 맞춰 개체와 관계로 구조화함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원리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표는 열·행을 Class 속성·개체에 대응(OntoDSMS), 글 속의 값은 규칙으로 추출(DDKG), 값이 일치하는 쌍에만 관계를 만들고 검증으로 Ontology를 보완함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자료 형태에 맞게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처리하고, 측정값 전체와 원문은 KG 밖 저장소에 두어 KG에는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찾아가는 키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만 저장함</a:t>
            </a:r>
          </a:p>
        </p:txBody>
      </p:sp>
      <p:grpSp>
        <p:nvGrpSpPr>
          <p:cNvPr id="5094" name="그림 KG 구축 6단계"/>
          <p:cNvGrpSpPr/>
          <p:nvPr/>
        </p:nvGrpSpPr>
        <p:grpSpPr>
          <a:xfrm>
            <a:off x="15926753" y="10269463"/>
            <a:ext cx="13400000" cy="9205800"/>
            <a:chOff x="15926753" y="10269463"/>
            <a:chExt cx="13400000" cy="9205800"/>
          </a:xfrm>
        </p:grpSpPr>
        <p:sp>
          <p:nvSpPr>
            <p:cNvPr id="5076" name="도형"/>
            <p:cNvSpPr/>
            <p:nvPr/>
          </p:nvSpPr>
          <p:spPr>
            <a:xfrm>
              <a:off x="15926753" y="10269463"/>
              <a:ext cx="4020000" cy="1509376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전처리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99" b="0" dirty="0">
                  <a:solidFill>
                    <a:srgbClr val="555555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DDKG 3.2.1</a:t>
              </a:r>
            </a:p>
          </p:txBody>
        </p:sp>
        <p:cxnSp>
          <p:nvCxnSpPr>
            <p:cNvPr id="5077" name="선"/>
            <p:cNvCxnSpPr/>
            <p:nvPr/>
          </p:nvCxnSpPr>
          <p:spPr>
            <a:xfrm>
              <a:off x="20000353" y="11024151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78" name="도형"/>
            <p:cNvSpPr/>
            <p:nvPr/>
          </p:nvSpPr>
          <p:spPr>
            <a:xfrm>
              <a:off x="20536353" y="10269463"/>
              <a:ext cx="8790400" cy="150937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중복 행 제거, 시각 표기 통일, 4개 댐 선택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예) 승인 기록 한 행: 순차번호 1368, 충주, 방류시작 2012-08-24 15:00, 접수방류량 2000, 비고 “이내 탄력적 조정”</a:t>
              </a:r>
            </a:p>
          </p:txBody>
        </p:sp>
        <p:sp>
          <p:nvSpPr>
            <p:cNvPr id="5079" name="도형"/>
            <p:cNvSpPr/>
            <p:nvPr/>
          </p:nvSpPr>
          <p:spPr>
            <a:xfrm>
              <a:off x="15926753" y="11939639"/>
              <a:ext cx="4020000" cy="11591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구조화 자료 매핑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99" b="0" dirty="0">
                  <a:solidFill>
                    <a:srgbClr val="555555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OntoDSMS</a:t>
              </a:r>
            </a:p>
          </p:txBody>
        </p:sp>
        <p:cxnSp>
          <p:nvCxnSpPr>
            <p:cNvPr id="5080" name="선"/>
            <p:cNvCxnSpPr/>
            <p:nvPr/>
          </p:nvCxnSpPr>
          <p:spPr>
            <a:xfrm>
              <a:off x="20000353" y="12519189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81" name="도형"/>
            <p:cNvSpPr/>
            <p:nvPr/>
          </p:nvSpPr>
          <p:spPr>
            <a:xfrm>
              <a:off x="20536353" y="11939639"/>
              <a:ext cx="8790400" cy="11591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열 → Data Property, 행 → 개체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예) Approval APR:1368, EvidenceSource EVI:AP:1368</a:t>
              </a:r>
            </a:p>
          </p:txBody>
        </p:sp>
        <p:sp>
          <p:nvSpPr>
            <p:cNvPr id="5082" name="도형"/>
            <p:cNvSpPr/>
            <p:nvPr/>
          </p:nvSpPr>
          <p:spPr>
            <a:xfrm>
              <a:off x="15926753" y="13259539"/>
              <a:ext cx="4020000" cy="1509376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문서 자료 추출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99" b="0" dirty="0">
                  <a:solidFill>
                    <a:srgbClr val="555555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DDKG 3.2.2</a:t>
              </a:r>
            </a:p>
          </p:txBody>
        </p:sp>
        <p:cxnSp>
          <p:nvCxnSpPr>
            <p:cNvPr id="5083" name="선"/>
            <p:cNvCxnSpPr/>
            <p:nvPr/>
          </p:nvCxnSpPr>
          <p:spPr>
            <a:xfrm>
              <a:off x="20000353" y="14014227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84" name="도형"/>
            <p:cNvSpPr/>
            <p:nvPr/>
          </p:nvSpPr>
          <p:spPr>
            <a:xfrm>
              <a:off x="20536353" y="13259539"/>
              <a:ext cx="8790400" cy="150937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글 속의 값을 규칙(키워드, 정규식)으로 추출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예) 비고 “탄력” → Operation OPR:1368:1 (탄력적 방류), 별표3 → Criterion CRI:CR-02 (제한수위 138.0 EL.m)</a:t>
              </a:r>
            </a:p>
          </p:txBody>
        </p:sp>
        <p:sp>
          <p:nvSpPr>
            <p:cNvPr id="5085" name="도형"/>
            <p:cNvSpPr/>
            <p:nvPr/>
          </p:nvSpPr>
          <p:spPr>
            <a:xfrm>
              <a:off x="15926753" y="14929715"/>
              <a:ext cx="4020000" cy="1509376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관계 연결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99" b="0" dirty="0">
                  <a:solidFill>
                    <a:srgbClr val="555555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Noy &amp; McGuinness Step 7, DDKG ⑦, Li 2025</a:t>
              </a:r>
            </a:p>
          </p:txBody>
        </p:sp>
        <p:cxnSp>
          <p:nvCxnSpPr>
            <p:cNvPr id="5086" name="선"/>
            <p:cNvCxnSpPr/>
            <p:nvPr/>
          </p:nvCxnSpPr>
          <p:spPr>
            <a:xfrm>
              <a:off x="20000353" y="15684403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87" name="도형"/>
            <p:cNvSpPr/>
            <p:nvPr/>
          </p:nvSpPr>
          <p:spPr>
            <a:xfrm>
              <a:off x="20536353" y="14929715"/>
              <a:ext cx="8790400" cy="150937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값이 일치하는 개체 쌍에만 관계 생성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예) 관측소코드 1003110 = 댐 코드 1003110 → APR:1368 ─concernsDam→ DAM:1003110</a:t>
              </a:r>
            </a:p>
          </p:txBody>
        </p:sp>
        <p:sp>
          <p:nvSpPr>
            <p:cNvPr id="5088" name="도형"/>
            <p:cNvSpPr/>
            <p:nvPr/>
          </p:nvSpPr>
          <p:spPr>
            <a:xfrm>
              <a:off x="15926753" y="16599891"/>
              <a:ext cx="4020000" cy="1509376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5 검증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99" b="0" dirty="0">
                  <a:solidFill>
                    <a:srgbClr val="555555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DDKG 3.2.3, Noy &amp; McGuinness Step 6</a:t>
              </a:r>
            </a:p>
          </p:txBody>
        </p:sp>
        <p:cxnSp>
          <p:nvCxnSpPr>
            <p:cNvPr id="5089" name="선"/>
            <p:cNvCxnSpPr/>
            <p:nvPr/>
          </p:nvCxnSpPr>
          <p:spPr>
            <a:xfrm>
              <a:off x="20000353" y="17354579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90" name="도형"/>
            <p:cNvSpPr/>
            <p:nvPr/>
          </p:nvSpPr>
          <p:spPr>
            <a:xfrm>
              <a:off x="20536353" y="16599891"/>
              <a:ext cx="8790400" cy="150937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Ontology의 허용 규칙으로 점검하고, 문제는 Ontology 보완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예) 승인–댐 연결 부재를 발견해 관계 추가 (8개 → 9개), 도달 가능한 승인 80/80건</a:t>
              </a:r>
            </a:p>
          </p:txBody>
        </p:sp>
        <p:sp>
          <p:nvSpPr>
            <p:cNvPr id="5091" name="도형"/>
            <p:cNvSpPr/>
            <p:nvPr/>
          </p:nvSpPr>
          <p:spPr>
            <a:xfrm>
              <a:off x="15926753" y="18270067"/>
              <a:ext cx="4020000" cy="11591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 저장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99" b="0" dirty="0">
                  <a:solidFill>
                    <a:srgbClr val="555555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DDKG 3.3</a:t>
              </a:r>
            </a:p>
          </p:txBody>
        </p:sp>
        <p:cxnSp>
          <p:nvCxnSpPr>
            <p:cNvPr id="5092" name="선"/>
            <p:cNvCxnSpPr/>
            <p:nvPr/>
          </p:nvCxnSpPr>
          <p:spPr>
            <a:xfrm>
              <a:off x="20000353" y="18849617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93" name="도형"/>
            <p:cNvSpPr/>
            <p:nvPr/>
          </p:nvSpPr>
          <p:spPr>
            <a:xfrm>
              <a:off x="20536353" y="18270067"/>
              <a:ext cx="8790400" cy="11591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KG는 Neo4j, 수치·원문은 외부 저장소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개체 264, 관계 418 / 측정자료 508,246행 / 규정 별표3 원문</a:t>
              </a:r>
            </a:p>
          </p:txBody>
        </p:sp>
      </p:grpSp>
      <p:sp>
        <p:nvSpPr>
          <p:cNvPr id="1020" name="본문"/>
          <p:cNvSpPr txBox="1"/>
          <p:nvPr/>
        </p:nvSpPr>
        <p:spPr>
          <a:xfrm>
            <a:off x="15570184" y="19535263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3. KG 구축 6단계와 승인 1368번의 적용</a:t>
            </a:r>
          </a:p>
        </p:txBody>
      </p:sp>
      <p:sp>
        <p:nvSpPr>
          <p:cNvPr id="1021" name="직사각형 1"/>
          <p:cNvSpPr/>
          <p:nvPr/>
        </p:nvSpPr>
        <p:spPr>
          <a:xfrm>
            <a:off x="15691431" y="20255263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3. 근거 기반 질의응답</a:t>
            </a:r>
          </a:p>
        </p:txBody>
      </p:sp>
      <p:sp>
        <p:nvSpPr>
          <p:cNvPr id="1022" name="본문"/>
          <p:cNvSpPr txBox="1"/>
          <p:nvPr/>
        </p:nvSpPr>
        <p:spPr>
          <a:xfrm>
            <a:off x="15570184" y="21398287"/>
            <a:ext cx="14113138" cy="2776439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왜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LLM이 근거 없이 답하면 사실 여부를 확인할 수 없으므로, 근거를 먼저 찾아 LLM에 주고 그 근거로 답하게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원리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질문의 의도를 파악해 질의로 바꾸고 KG 지식을 LLM에 전달(Zhang), 외부 자료를 문맥에 더함(GraphAide)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질문 해석과 답변 생성은 LLM, 중간 단계는 정해진 규칙으로 처리하며, 답변은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작성함</a:t>
            </a:r>
          </a:p>
        </p:txBody>
      </p:sp>
      <p:grpSp>
        <p:nvGrpSpPr>
          <p:cNvPr id="5113" name="그림 질의응답 흐름"/>
          <p:cNvGrpSpPr/>
          <p:nvPr/>
        </p:nvGrpSpPr>
        <p:grpSpPr>
          <a:xfrm>
            <a:off x="15926753" y="24174726"/>
            <a:ext cx="13400000" cy="8870800"/>
            <a:chOff x="15926753" y="24174726"/>
            <a:chExt cx="13400000" cy="8870800"/>
          </a:xfrm>
        </p:grpSpPr>
        <p:sp>
          <p:nvSpPr>
            <p:cNvPr id="5095" name="도형"/>
            <p:cNvSpPr/>
            <p:nvPr/>
          </p:nvSpPr>
          <p:spPr>
            <a:xfrm>
              <a:off x="15926753" y="24174726"/>
              <a:ext cx="4020000" cy="11591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44450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 (LLM)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99" b="0" dirty="0">
                  <a:solidFill>
                    <a:srgbClr val="555555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Zhang 3.3</a:t>
              </a:r>
            </a:p>
          </p:txBody>
        </p:sp>
        <p:cxnSp>
          <p:nvCxnSpPr>
            <p:cNvPr id="5096" name="선"/>
            <p:cNvCxnSpPr/>
            <p:nvPr/>
          </p:nvCxnSpPr>
          <p:spPr>
            <a:xfrm>
              <a:off x="20000353" y="24754276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97" name="도형"/>
            <p:cNvSpPr/>
            <p:nvPr/>
          </p:nvSpPr>
          <p:spPr>
            <a:xfrm>
              <a:off x="20536353" y="24174726"/>
              <a:ext cx="8790400" cy="11591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질문에서 의도(CQ, 복수 가능)와 댐·시점을 뽑음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예) “충주댐의 과거 방류 승인은?” → 의도 CQ4, 댐 충주댐, 기간 전체</a:t>
              </a:r>
            </a:p>
          </p:txBody>
        </p:sp>
        <p:sp>
          <p:nvSpPr>
            <p:cNvPr id="5098" name="도형"/>
            <p:cNvSpPr/>
            <p:nvPr/>
          </p:nvSpPr>
          <p:spPr>
            <a:xfrm>
              <a:off x="15926753" y="25494626"/>
              <a:ext cx="4020000" cy="11591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입력 확인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99" b="0" dirty="0">
                  <a:solidFill>
                    <a:srgbClr val="555555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Zhang 3.3</a:t>
              </a:r>
            </a:p>
          </p:txBody>
        </p:sp>
        <p:cxnSp>
          <p:nvCxnSpPr>
            <p:cNvPr id="5099" name="선"/>
            <p:cNvCxnSpPr/>
            <p:nvPr/>
          </p:nvCxnSpPr>
          <p:spPr>
            <a:xfrm>
              <a:off x="20000353" y="26074176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0" name="도형"/>
            <p:cNvSpPr/>
            <p:nvPr/>
          </p:nvSpPr>
          <p:spPr>
            <a:xfrm>
              <a:off x="20536353" y="25494626"/>
              <a:ext cx="8790400" cy="11591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의도·댐·시점이 허용 범위인지 확인하고 표기를 맞춤 (범위 밖이면 조회하지 않음)</a:t>
              </a:r>
            </a:p>
          </p:txBody>
        </p:sp>
        <p:sp>
          <p:nvSpPr>
            <p:cNvPr id="5101" name="도형"/>
            <p:cNvSpPr/>
            <p:nvPr/>
          </p:nvSpPr>
          <p:spPr>
            <a:xfrm>
              <a:off x="15926753" y="26814526"/>
              <a:ext cx="4020000" cy="11591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조회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99" b="0" dirty="0">
                  <a:solidFill>
                    <a:srgbClr val="555555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Zhang 3.4, DDKG 4.3.2</a:t>
              </a:r>
            </a:p>
          </p:txBody>
        </p:sp>
        <p:cxnSp>
          <p:nvCxnSpPr>
            <p:cNvPr id="5102" name="선"/>
            <p:cNvCxnSpPr/>
            <p:nvPr/>
          </p:nvCxnSpPr>
          <p:spPr>
            <a:xfrm>
              <a:off x="20000353" y="27394076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3" name="도형"/>
            <p:cNvSpPr/>
            <p:nvPr/>
          </p:nvSpPr>
          <p:spPr>
            <a:xfrm>
              <a:off x="20536353" y="26814526"/>
              <a:ext cx="8790400" cy="11591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Cypher 질의 틀로 관계를 따라 개체와 찾아가는 키를 가져옴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예) CQ4: Dam ← concernsDam ← Approval</a:t>
              </a:r>
            </a:p>
          </p:txBody>
        </p:sp>
        <p:sp>
          <p:nvSpPr>
            <p:cNvPr id="5104" name="도형"/>
            <p:cNvSpPr/>
            <p:nvPr/>
          </p:nvSpPr>
          <p:spPr>
            <a:xfrm>
              <a:off x="15926753" y="28134426"/>
              <a:ext cx="4020000" cy="11591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저장소 조회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99" b="0" dirty="0">
                  <a:solidFill>
                    <a:srgbClr val="555555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GraphAide</a:t>
              </a:r>
            </a:p>
          </p:txBody>
        </p:sp>
        <p:cxnSp>
          <p:nvCxnSpPr>
            <p:cNvPr id="5105" name="선"/>
            <p:cNvCxnSpPr/>
            <p:nvPr/>
          </p:nvCxnSpPr>
          <p:spPr>
            <a:xfrm>
              <a:off x="20000353" y="28713976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6" name="도형"/>
            <p:cNvSpPr/>
            <p:nvPr/>
          </p:nvSpPr>
          <p:spPr>
            <a:xfrm>
              <a:off x="20536353" y="28134426"/>
              <a:ext cx="8790400" cy="11591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키로 측정값·규정 원문을 읽음 (값은 원값 그대로)</a:t>
              </a:r>
            </a:p>
          </p:txBody>
        </p:sp>
        <p:sp>
          <p:nvSpPr>
            <p:cNvPr id="5107" name="도형"/>
            <p:cNvSpPr/>
            <p:nvPr/>
          </p:nvSpPr>
          <p:spPr>
            <a:xfrm>
              <a:off x="15926753" y="29454326"/>
              <a:ext cx="4020000" cy="1509376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근거 묶음 구성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99" b="0" dirty="0">
                  <a:solidFill>
                    <a:srgbClr val="555555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Zhang 3.4, GraphAide</a:t>
              </a:r>
            </a:p>
          </p:txBody>
        </p:sp>
        <p:cxnSp>
          <p:nvCxnSpPr>
            <p:cNvPr id="5108" name="선"/>
            <p:cNvCxnSpPr/>
            <p:nvPr/>
          </p:nvCxnSpPr>
          <p:spPr>
            <a:xfrm>
              <a:off x="20000353" y="30209014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9" name="도형"/>
            <p:cNvSpPr/>
            <p:nvPr/>
          </p:nvSpPr>
          <p:spPr>
            <a:xfrm>
              <a:off x="20536353" y="29454326"/>
              <a:ext cx="8790400" cy="150937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구역으로 모으고 출처 번호를 붙임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예) [APR:1368] 승인일 2012-08-24: 방류시작 2012-08-24 15:00; 접수방류량 2000㎥/s; 비고: 이내 탄력적 조정</a:t>
              </a:r>
            </a:p>
          </p:txBody>
        </p:sp>
        <p:sp>
          <p:nvSpPr>
            <p:cNvPr id="5110" name="도형"/>
            <p:cNvSpPr/>
            <p:nvPr/>
          </p:nvSpPr>
          <p:spPr>
            <a:xfrm>
              <a:off x="15926753" y="31124502"/>
              <a:ext cx="4020000" cy="1869568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44450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 (LLM)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99" b="0" dirty="0">
                  <a:solidFill>
                    <a:srgbClr val="555555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Zhang 3.4, GraphAide</a:t>
              </a:r>
            </a:p>
          </p:txBody>
        </p:sp>
        <p:cxnSp>
          <p:nvCxnSpPr>
            <p:cNvPr id="5111" name="선"/>
            <p:cNvCxnSpPr/>
            <p:nvPr/>
          </p:nvCxnSpPr>
          <p:spPr>
            <a:xfrm>
              <a:off x="20000353" y="32059286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2" name="도형"/>
            <p:cNvSpPr/>
            <p:nvPr/>
          </p:nvSpPr>
          <p:spPr>
            <a:xfrm>
              <a:off x="20536353" y="31124502"/>
              <a:ext cx="8790400" cy="1869568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묶음과 근거 사용 원칙(근거만 사실로, 출처 번호 표기)을 받아 답변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근거: 사실과 출처 번호  /  판단: LLM의 판단임을 밝히고 근거 표시  /  없는 내용: “자료에 없음”</a:t>
              </a:r>
            </a:p>
          </p:txBody>
        </p:sp>
      </p:grpSp>
      <p:sp>
        <p:nvSpPr>
          <p:cNvPr id="1023" name="본문"/>
          <p:cNvSpPr txBox="1"/>
          <p:nvPr/>
        </p:nvSpPr>
        <p:spPr>
          <a:xfrm>
            <a:off x="15570184" y="33105526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4. 질의응답 흐름과 단계별 처리</a:t>
            </a:r>
          </a:p>
        </p:txBody>
      </p:sp>
      <p:sp>
        <p:nvSpPr>
          <p:cNvPr id="1024" name="직사각형 1"/>
          <p:cNvSpPr/>
          <p:nvPr/>
        </p:nvSpPr>
        <p:spPr>
          <a:xfrm>
            <a:off x="15691431" y="33825526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감사의 글</a:t>
            </a:r>
          </a:p>
        </p:txBody>
      </p:sp>
      <p:sp>
        <p:nvSpPr>
          <p:cNvPr id="1025" name="본문"/>
          <p:cNvSpPr txBox="1"/>
          <p:nvPr/>
        </p:nvSpPr>
        <p:spPr>
          <a:xfrm>
            <a:off x="15570184" y="34968550"/>
            <a:ext cx="14113138" cy="71782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결과물은 기후에너지환경부의 재원으로 한국환경산업기술원의 기후변화 적응 수재해 관리 기술개발사업(R&amp;D)의 지원을 받아 연구되었습니다(RS-2026-25502939). 본 연구는 기후에너지환경부「기후변화특성화대학원사업」의 지원으로 수행되었습니다.</a:t>
            </a:r>
          </a:p>
        </p:txBody>
      </p:sp>
      <p:sp>
        <p:nvSpPr>
          <p:cNvPr id="1026" name="직사각형 1"/>
          <p:cNvSpPr/>
          <p:nvPr/>
        </p:nvSpPr>
        <p:spPr>
          <a:xfrm>
            <a:off x="15691431" y="3578637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참고문헌</a:t>
            </a:r>
          </a:p>
        </p:txBody>
      </p:sp>
      <p:sp>
        <p:nvSpPr>
          <p:cNvPr id="1027" name="본문"/>
          <p:cNvSpPr txBox="1"/>
          <p:nvPr/>
        </p:nvSpPr>
        <p:spPr>
          <a:xfrm>
            <a:off x="15570184" y="36929394"/>
            <a:ext cx="14113138" cy="399503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1. Noy, N. F. and McGuinness, D. L. (2001). “Ontology development 101: A guide to creating your first ontology.” Stanford Knowledge Systems Laboratory Technical Report KSL-01-05.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2. Huang, J., Hou, W., Zhang, S., Du, Z. and Yin, J. (2026). “Dam defects ontology and knowledge graph construction from multi-source hazard data using large language models.” Advanced Engineering Informatics, Vol. 76, 104987.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3. Zhou, Y., Bao, T., Shu, X., Li, Y. and Li, Y. (2023). “BIM and ontology-based knowledge management for dam safety monitoring.” Automation in Construction, Vol. 145, 104649.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4. Li, S., Erickson, C., Zajac, M., Guo, X., Duan, Q. and Gong, J. (2025). “A semi-automated framework for flood ontology construction with an application in risk communication.” Water, Vol. 17, No. 19, 2801.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5. Zhang, D., Ma, G., Qu, T., Wang, X., Zhou, W. and Wang, X. (2025). “A knowledge graph-enhanced large language model for question answering of hydraulic structure safety management.” Advanced Engineering Informatics, Vol. 66, 103468.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6. Purohit, S., Chin, G., Mackey, P. S. and Cottam, J. A. (2024). “GraphAide: Advanced graph-assisted query and reasoning system.” Proc. IEEE Int. Conf. on Big Data (BigData), pp. 3485-3493.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7. Lewis, P. et al. (2020). “Retrieval-augmented generation for knowledge-intensive NLP tasks.” Advances in Neural Information Processing Systems, Vol. 33, pp. 9459-9474.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8. Angles, R. and Gutierrez, C. (2008). “Survey of graph database models.” ACM Computing Surveys, Vol. 40, No. 1, Article 1.</a:t>
            </a:r>
          </a:p>
        </p:txBody>
      </p:sp>
    </p:spTree>
    <p:extLst>
      <p:ext uri="{BB962C8B-B14F-4D97-AF65-F5344CB8AC3E}">
        <p14:creationId xmlns:p14="http://schemas.microsoft.com/office/powerpoint/2010/main" val="6769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603</Words>
  <Application>Microsoft Office PowerPoint</Application>
  <PresentationFormat>사용자 지정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 Unicode MS</vt:lpstr>
      <vt:lpstr>나눔고딕</vt:lpstr>
      <vt:lpstr>나눔고딕 ExtraBold</vt:lpstr>
      <vt:lpstr>맑은 고딕</vt:lpstr>
      <vt:lpstr>Arial</vt:lpstr>
      <vt:lpstr>Verdana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황 혜선</cp:lastModifiedBy>
  <cp:revision>97</cp:revision>
  <cp:lastPrinted>2022-07-13T05:48:17Z</cp:lastPrinted>
  <dcterms:created xsi:type="dcterms:W3CDTF">2018-10-17T01:18:09Z</dcterms:created>
  <dcterms:modified xsi:type="dcterms:W3CDTF">2023-05-25T02:26:58Z</dcterms:modified>
</cp:coreProperties>
</file>