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31593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수문기상 시간 자료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규정의 홍수기 제한수위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RAG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기반 검색 및 LLM 답변 생성과 연계하여, 운영자의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100895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핵심 용어</a:t>
            </a:r>
          </a:p>
        </p:txBody>
      </p:sp>
      <p:sp>
        <p:nvSpPr>
          <p:cNvPr id="1009" name="직사각형 415"/>
          <p:cNvSpPr/>
          <p:nvPr/>
        </p:nvSpPr>
        <p:spPr>
          <a:xfrm>
            <a:off x="830804" y="12151983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핵심 용어</a:t>
            </a:r>
          </a:p>
        </p:txBody>
      </p:sp>
      <p:graphicFrame>
        <p:nvGraphicFramePr>
          <p:cNvPr id="1010" name="표"/>
          <p:cNvGraphicFramePr>
            <a:graphicFrameLocks noGrp="1"/>
          </p:cNvGraphicFramePr>
          <p:nvPr/>
        </p:nvGraphicFramePr>
        <p:xfrm>
          <a:off x="697946" y="12887968"/>
          <a:ext cx="13500000" cy="6176000"/>
        </p:xfrm>
        <a:graphic>
          <a:graphicData uri="http://schemas.openxmlformats.org/drawingml/2006/table">
            <a:tbl>
              <a:tblPr firstRow="1" bandRow="1"/>
              <a:tblGrid>
                <a:gridCol w="2900000"/>
                <a:gridCol w="10600000"/>
              </a:tblGrid>
              <a:tr h="4516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용어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설명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 / Class / Entity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댐 운영 분야의 대상 종류(Class, 예: 댐)와 관계·속성을 정리한 의미 구조. Entity는 Class에 속한 실제 개체(예: 충주댐)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 / Data Property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관계는 개체 사이의 연결(예: 승인이 운영행위를 허가함), Data Property는 개체가 가진 값(예: 승인일)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Competency Question. 온톨로지가 답할 수 있어야 하는 질문으로, 필요한 Class·관계를 정하는 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지식그래프 (KG)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온톨로지에 실제 개체·관계·값을 채운 그래프. Neo4j(그래프 DB)에 저장하고 Cypher(연결 패턴으로 찾는 질의 언어)로 조회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구조화 자료 / 문서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표(구조화 자료)는 규칙으로 개체·속성에 옮기고, 글 속의 값(승인 비고, 규정 별표)은 규칙으로 추출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외부 저장소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밖에 둔 측정값 전체(측정자료 저장소)와 규정 원문(문서 저장소). KG에는 찾아가는 키만 둠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RAG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질문과 관련된 근거를 검색해 LLM에 함께 주고, 그 근거로 답하게 하는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 / 근거 묶음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의도는 질문이 CQ1~CQ6 중 무엇을 묻는지의 분류(복수 가능), 근거 묶음은 검색한 근거에 출처 번호를 붙여 LLM에 주는 입력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11" name="직사각형 1"/>
          <p:cNvSpPr/>
          <p:nvPr/>
        </p:nvSpPr>
        <p:spPr>
          <a:xfrm>
            <a:off x="674157" y="19263968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사용 데이터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0406992"/>
            <a:ext cx="14113138" cy="2528941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한강홍수통제소, 충주·소양강·횡성·광동 4개 댐 승인 80건 (2010-09 ~ 2021-07)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수문기상 시간 자료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K-water, 508,246행 (수위, 저수량, 강우량, 유입량, 총방류량, 저수율)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규정 별표3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연계운영규정의 홍수기 제한수위 (현행)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기본 정보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K-water, 4개 댐의 댐 코드·이름·유형</a:t>
            </a:r>
          </a:p>
        </p:txBody>
      </p:sp>
      <p:sp>
        <p:nvSpPr>
          <p:cNvPr id="1013" name="직사각형 1"/>
          <p:cNvSpPr/>
          <p:nvPr/>
        </p:nvSpPr>
        <p:spPr>
          <a:xfrm>
            <a:off x="674157" y="2313593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연구 질문과 Ontology</a:t>
            </a:r>
          </a:p>
        </p:txBody>
      </p:sp>
      <p:sp>
        <p:nvSpPr>
          <p:cNvPr id="1014" name="직사각형 415"/>
          <p:cNvSpPr/>
          <p:nvPr/>
        </p:nvSpPr>
        <p:spPr>
          <a:xfrm>
            <a:off x="830804" y="24278957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전체 질문과 세부 질문(CQ)</a:t>
            </a:r>
          </a:p>
        </p:txBody>
      </p:sp>
      <p:graphicFrame>
        <p:nvGraphicFramePr>
          <p:cNvPr id="1015" name="표"/>
          <p:cNvGraphicFramePr>
            <a:graphicFrameLocks noGrp="1"/>
          </p:cNvGraphicFramePr>
          <p:nvPr/>
        </p:nvGraphicFramePr>
        <p:xfrm>
          <a:off x="697946" y="25014942"/>
          <a:ext cx="13500000" cy="391462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516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6" name="본문"/>
          <p:cNvSpPr txBox="1"/>
          <p:nvPr/>
        </p:nvSpPr>
        <p:spPr>
          <a:xfrm>
            <a:off x="597946" y="29049567"/>
            <a:ext cx="14113138" cy="1005551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위 질문에 필요한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와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 9개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 (그림 2)</a:t>
            </a:r>
          </a:p>
        </p:txBody>
      </p:sp>
      <p:sp>
        <p:nvSpPr>
          <p:cNvPr id="1017" name="직사각형 1"/>
          <p:cNvSpPr/>
          <p:nvPr/>
        </p:nvSpPr>
        <p:spPr>
          <a:xfrm>
            <a:off x="674157" y="30255118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방법론 개요</a:t>
            </a:r>
          </a:p>
        </p:txBody>
      </p:sp>
      <p:grpSp>
        <p:nvGrpSpPr>
          <p:cNvPr id="5034" name="그림1 전체 구조"/>
          <p:cNvGrpSpPr/>
          <p:nvPr/>
        </p:nvGrpSpPr>
        <p:grpSpPr>
          <a:xfrm>
            <a:off x="2354515" y="31398142"/>
            <a:ext cx="10600000" cy="6890000"/>
            <a:chOff x="2354515" y="31398142"/>
            <a:chExt cx="10600000" cy="6890000"/>
          </a:xfrm>
        </p:grpSpPr>
        <p:sp>
          <p:nvSpPr>
            <p:cNvPr id="5001" name="도형"/>
            <p:cNvSpPr/>
            <p:nvPr/>
          </p:nvSpPr>
          <p:spPr>
            <a:xfrm>
              <a:off x="2354515" y="31398142"/>
              <a:ext cx="2809000" cy="307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4800" tIns="42400" rIns="84800" bIns="42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2460515" y="31461742"/>
              <a:ext cx="2597000" cy="39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200" tIns="10600" rIns="21200" bIns="10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(a)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2566515" y="31906942"/>
              <a:ext cx="2385000" cy="10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3753715" y="32988142"/>
              <a:ext cx="0" cy="2332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2566515" y="33242542"/>
              <a:ext cx="2385000" cy="106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5375515" y="31398142"/>
              <a:ext cx="7579000" cy="3074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4800" tIns="42400" rIns="84800" bIns="424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5481515" y="31461742"/>
              <a:ext cx="7367000" cy="39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200" tIns="10600" rIns="21200" bIns="10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(b) 지식그래프(KG)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534515" y="31928142"/>
              <a:ext cx="1696000" cy="238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251715" y="33115342"/>
              <a:ext cx="381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31928142"/>
              <a:ext cx="1802000" cy="238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477715" y="33115342"/>
              <a:ext cx="3816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9880515" y="31885742"/>
              <a:ext cx="2915000" cy="74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9880515" y="32733742"/>
              <a:ext cx="2915000" cy="74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9880515" y="33581742"/>
              <a:ext cx="2915000" cy="742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2354515" y="34896142"/>
              <a:ext cx="10600000" cy="3180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84800" tIns="42400" rIns="84800" bIns="424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2460515" y="34959742"/>
              <a:ext cx="10388000" cy="392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200" tIns="10600" rIns="21200" bIns="10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(c) 질문 응답 (RAG)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2502915" y="35553342"/>
              <a:ext cx="1823200" cy="148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337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00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4622915" y="35553342"/>
              <a:ext cx="1823200" cy="148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742915" y="35553342"/>
              <a:ext cx="1823200" cy="148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8862915" y="35553342"/>
              <a:ext cx="1823200" cy="148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0982915" y="35553342"/>
              <a:ext cx="1823200" cy="1484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17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58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4347315" y="36295342"/>
              <a:ext cx="254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467315" y="36295342"/>
              <a:ext cx="254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587315" y="36295342"/>
              <a:ext cx="254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0707315" y="36295342"/>
              <a:ext cx="254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1343315" y="34344942"/>
              <a:ext cx="0" cy="3604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34705342"/>
              <a:ext cx="36888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34705342"/>
              <a:ext cx="0" cy="826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866515" y="34768942"/>
              <a:ext cx="3180000" cy="29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200" tIns="10600" rIns="21200" bIns="106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69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  <p:sp>
          <p:nvSpPr>
            <p:cNvPr id="5030" name="도형"/>
            <p:cNvSpPr/>
            <p:nvPr/>
          </p:nvSpPr>
          <p:spPr>
            <a:xfrm>
              <a:off x="4622915" y="37206942"/>
              <a:ext cx="1823200" cy="42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LLM</a:t>
              </a:r>
            </a:p>
          </p:txBody>
        </p:sp>
        <p:sp>
          <p:nvSpPr>
            <p:cNvPr id="5031" name="도형"/>
            <p:cNvSpPr/>
            <p:nvPr/>
          </p:nvSpPr>
          <p:spPr>
            <a:xfrm>
              <a:off x="6742915" y="37206942"/>
              <a:ext cx="3943200" cy="42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자동 처리 (규칙)</a:t>
              </a:r>
            </a:p>
          </p:txBody>
        </p:sp>
        <p:sp>
          <p:nvSpPr>
            <p:cNvPr id="5032" name="도형"/>
            <p:cNvSpPr/>
            <p:nvPr/>
          </p:nvSpPr>
          <p:spPr>
            <a:xfrm>
              <a:off x="10982915" y="37206942"/>
              <a:ext cx="1823200" cy="42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44450">
              <a:solidFill>
                <a:srgbClr val="262626"/>
              </a:solidFill>
            </a:ln>
          </p:spPr>
          <p:txBody>
            <a:bodyPr wrap="square" lIns="84800" tIns="42400" rIns="84800" bIns="424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3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LLM</a:t>
              </a:r>
            </a:p>
          </p:txBody>
        </p:sp>
        <p:sp>
          <p:nvSpPr>
            <p:cNvPr id="5033" name="글상자"/>
            <p:cNvSpPr/>
            <p:nvPr/>
          </p:nvSpPr>
          <p:spPr>
            <a:xfrm>
              <a:off x="2354515" y="37715742"/>
              <a:ext cx="106000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1200" tIns="10600" rIns="21200" bIns="106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5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굵은 테두리: LLM,  가는 테두리: 정해진 규칙으로 처리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597946" y="38348142"/>
            <a:ext cx="14113138" cy="6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9" name="본문"/>
          <p:cNvSpPr txBox="1"/>
          <p:nvPr/>
        </p:nvSpPr>
        <p:spPr>
          <a:xfrm>
            <a:off x="597946" y="38948142"/>
            <a:ext cx="14113138" cy="202114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 구축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원자료 4종을 6단계로 처리하고, 측정값과 원문은 KG 밖 저장소에 둠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검색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의도로 KG·저장소에서 근거를 모아 출처 번호가 붙은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만드는 일은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정해진 규칙에 따라 자동으로 처리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질문 해석과 답변 생성만 맡고, 비교·판단은 LLM이 하되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sp>
        <p:nvSpPr>
          <p:cNvPr id="1020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KG 구축</a:t>
            </a:r>
          </a:p>
        </p:txBody>
      </p:sp>
      <p:sp>
        <p:nvSpPr>
          <p:cNvPr id="1021" name="본문"/>
          <p:cNvSpPr txBox="1"/>
          <p:nvPr/>
        </p:nvSpPr>
        <p:spPr>
          <a:xfrm>
            <a:off x="15570184" y="7493024"/>
            <a:ext cx="14113138" cy="194494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전처리 → 구조화 자료 매핑 → 문서 자료 추출 → 관계 연결 → 검증 → 저장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 기록 한 행은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Approval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과 근거자료로, 비고에서 규칙으로 읽은 운영행위는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Operation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으로, 별표3의 제한수위는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Criterion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만듦. 측정값은 KG에 넣지 않고 찾아가는 키(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stationCode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)만 둠</a:t>
            </a:r>
          </a:p>
        </p:txBody>
      </p:sp>
      <p:grpSp>
        <p:nvGrpSpPr>
          <p:cNvPr id="5075" name="그림2 KG 예시"/>
          <p:cNvGrpSpPr/>
          <p:nvPr/>
        </p:nvGrpSpPr>
        <p:grpSpPr>
          <a:xfrm>
            <a:off x="17026753" y="9437969"/>
            <a:ext cx="11200000" cy="6987156"/>
            <a:chOff x="17026753" y="9437969"/>
            <a:chExt cx="11200000" cy="6987156"/>
          </a:xfrm>
        </p:grpSpPr>
        <p:sp>
          <p:nvSpPr>
            <p:cNvPr id="5035" name="도형"/>
            <p:cNvSpPr/>
            <p:nvPr/>
          </p:nvSpPr>
          <p:spPr>
            <a:xfrm>
              <a:off x="17489138" y="9437969"/>
              <a:ext cx="4521101" cy="15412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36" name="도형"/>
            <p:cNvSpPr/>
            <p:nvPr/>
          </p:nvSpPr>
          <p:spPr>
            <a:xfrm>
              <a:off x="17489138" y="9437969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7" name="속성"/>
            <p:cNvSpPr/>
            <p:nvPr/>
          </p:nvSpPr>
          <p:spPr>
            <a:xfrm>
              <a:off x="17489138" y="9910630"/>
              <a:ext cx="4521101" cy="1068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38" name="도형"/>
            <p:cNvSpPr/>
            <p:nvPr/>
          </p:nvSpPr>
          <p:spPr>
            <a:xfrm>
              <a:off x="23397395" y="9437969"/>
              <a:ext cx="4521101" cy="182899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39" name="도형"/>
            <p:cNvSpPr/>
            <p:nvPr/>
          </p:nvSpPr>
          <p:spPr>
            <a:xfrm>
              <a:off x="23397395" y="9437969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40" name="속성"/>
            <p:cNvSpPr/>
            <p:nvPr/>
          </p:nvSpPr>
          <p:spPr>
            <a:xfrm>
              <a:off x="23397395" y="9910630"/>
              <a:ext cx="4521101" cy="1356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41" name="도형"/>
            <p:cNvSpPr/>
            <p:nvPr/>
          </p:nvSpPr>
          <p:spPr>
            <a:xfrm>
              <a:off x="17489138" y="11842373"/>
              <a:ext cx="4521101" cy="15412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42" name="도형"/>
            <p:cNvSpPr/>
            <p:nvPr/>
          </p:nvSpPr>
          <p:spPr>
            <a:xfrm>
              <a:off x="17489138" y="11842373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43" name="속성"/>
            <p:cNvSpPr/>
            <p:nvPr/>
          </p:nvSpPr>
          <p:spPr>
            <a:xfrm>
              <a:off x="17489138" y="12315033"/>
              <a:ext cx="4521101" cy="1068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44" name="도형"/>
            <p:cNvSpPr/>
            <p:nvPr/>
          </p:nvSpPr>
          <p:spPr>
            <a:xfrm>
              <a:off x="23397395" y="11842373"/>
              <a:ext cx="4521101" cy="15412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45" name="도형"/>
            <p:cNvSpPr/>
            <p:nvPr/>
          </p:nvSpPr>
          <p:spPr>
            <a:xfrm>
              <a:off x="23397395" y="11842373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6" name="속성"/>
            <p:cNvSpPr/>
            <p:nvPr/>
          </p:nvSpPr>
          <p:spPr>
            <a:xfrm>
              <a:off x="23397395" y="12315033"/>
              <a:ext cx="4521101" cy="1068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47" name="도형"/>
            <p:cNvSpPr/>
            <p:nvPr/>
          </p:nvSpPr>
          <p:spPr>
            <a:xfrm>
              <a:off x="17489138" y="13959070"/>
              <a:ext cx="4521101" cy="1828991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48" name="도형"/>
            <p:cNvSpPr/>
            <p:nvPr/>
          </p:nvSpPr>
          <p:spPr>
            <a:xfrm>
              <a:off x="17489138" y="13959070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9" name="속성"/>
            <p:cNvSpPr/>
            <p:nvPr/>
          </p:nvSpPr>
          <p:spPr>
            <a:xfrm>
              <a:off x="17489138" y="14431730"/>
              <a:ext cx="4521101" cy="1356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050" name="도형"/>
            <p:cNvSpPr/>
            <p:nvPr/>
          </p:nvSpPr>
          <p:spPr>
            <a:xfrm>
              <a:off x="23397395" y="13959070"/>
              <a:ext cx="4521101" cy="15412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82202" tIns="41101" rIns="82202" bIns="41101" anchor="ctr">
              <a:noAutofit/>
            </a:bodyPr>
            <a:lstStyle/>
            <a:p>
              <a:endParaRPr lang="ko-KR"/>
            </a:p>
          </p:txBody>
        </p:sp>
        <p:sp>
          <p:nvSpPr>
            <p:cNvPr id="5051" name="도형"/>
            <p:cNvSpPr/>
            <p:nvPr/>
          </p:nvSpPr>
          <p:spPr>
            <a:xfrm>
              <a:off x="23397395" y="13959070"/>
              <a:ext cx="4521101" cy="452110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43853" tIns="71926" rIns="143853" bIns="71926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942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52" name="속성"/>
            <p:cNvSpPr/>
            <p:nvPr/>
          </p:nvSpPr>
          <p:spPr>
            <a:xfrm>
              <a:off x="23397395" y="14431730"/>
              <a:ext cx="4521101" cy="1068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43853" tIns="71926" rIns="143853" bIns="71926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56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19749689" y="10999804"/>
              <a:ext cx="0" cy="82201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20012735" y="11202226"/>
              <a:ext cx="1117945" cy="273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537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22030790" y="10362740"/>
              <a:ext cx="1346055" cy="189064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22139913" y="10849786"/>
              <a:ext cx="1179185" cy="2589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22030790" y="12767143"/>
              <a:ext cx="1346055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22081138" y="12433198"/>
              <a:ext cx="1255633" cy="2157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14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25657946" y="11287510"/>
              <a:ext cx="0" cy="53431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25851325" y="11489932"/>
              <a:ext cx="1360029" cy="273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537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>
              <a:off x="25657946" y="13404208"/>
              <a:ext cx="0" cy="53431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25669043" y="13628208"/>
              <a:ext cx="2443861" cy="230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95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>
              <a:off x="19749689" y="13404208"/>
              <a:ext cx="0" cy="534312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4" name="글상자"/>
            <p:cNvSpPr/>
            <p:nvPr/>
          </p:nvSpPr>
          <p:spPr>
            <a:xfrm>
              <a:off x="19849461" y="13606630"/>
              <a:ext cx="1238987" cy="2733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537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5" name="선"/>
            <p:cNvCxnSpPr/>
            <p:nvPr/>
          </p:nvCxnSpPr>
          <p:spPr>
            <a:xfrm flipH="1">
              <a:off x="22030790" y="14883841"/>
              <a:ext cx="1346055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6" name="글상자"/>
            <p:cNvSpPr/>
            <p:nvPr/>
          </p:nvSpPr>
          <p:spPr>
            <a:xfrm>
              <a:off x="22119362" y="14528318"/>
              <a:ext cx="1179185" cy="2589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5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7" name="선"/>
            <p:cNvCxnSpPr/>
            <p:nvPr/>
          </p:nvCxnSpPr>
          <p:spPr>
            <a:xfrm flipH="1">
              <a:off x="17211707" y="10157235"/>
              <a:ext cx="27743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>
              <a:off x="17211707" y="10157235"/>
              <a:ext cx="0" cy="5034862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>
              <a:off x="17211707" y="15192097"/>
              <a:ext cx="256881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70" name="선"/>
            <p:cNvCxnSpPr/>
            <p:nvPr/>
          </p:nvCxnSpPr>
          <p:spPr>
            <a:xfrm>
              <a:off x="27918496" y="10157235"/>
              <a:ext cx="102752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1" name="선"/>
            <p:cNvCxnSpPr/>
            <p:nvPr/>
          </p:nvCxnSpPr>
          <p:spPr>
            <a:xfrm>
              <a:off x="28021248" y="10157235"/>
              <a:ext cx="0" cy="5918532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2" name="선"/>
            <p:cNvCxnSpPr/>
            <p:nvPr/>
          </p:nvCxnSpPr>
          <p:spPr>
            <a:xfrm flipH="1">
              <a:off x="20571707" y="16075767"/>
              <a:ext cx="7449541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73" name="선"/>
            <p:cNvCxnSpPr/>
            <p:nvPr/>
          </p:nvCxnSpPr>
          <p:spPr>
            <a:xfrm flipV="1">
              <a:off x="20571707" y="15808611"/>
              <a:ext cx="0" cy="26715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4" name="글상자"/>
            <p:cNvSpPr/>
            <p:nvPr/>
          </p:nvSpPr>
          <p:spPr>
            <a:xfrm>
              <a:off x="17026753" y="16199070"/>
              <a:ext cx="11200000" cy="2877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0550" tIns="10275" rIns="20550" bIns="10275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618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22" name="본문"/>
          <p:cNvSpPr txBox="1"/>
          <p:nvPr/>
        </p:nvSpPr>
        <p:spPr>
          <a:xfrm>
            <a:off x="15570184" y="16485125"/>
            <a:ext cx="14113138" cy="6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지식그래프의 일부: 충주댐 승인 1368번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17085125"/>
            <a:ext cx="14113138" cy="1005551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 264, 관계 418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검증에서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승인–댐 관계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부재를 발견해 추가하여 승인 80건 모두 댐에서 도달 가능함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1829067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근거 검색과 근거 묶음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19433700"/>
            <a:ext cx="14113138" cy="1005551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LLM이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의도(복수 가능)·댐·시점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뽑아 넘기면 정해진 규칙에 따라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입력 확인 → ② KG 조회(의도별 Cypher) → ③ 측정값·원문 조회 → ④ 근거 묶음 구성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순으로 근거를 모음</a:t>
            </a:r>
          </a:p>
        </p:txBody>
      </p:sp>
      <p:sp>
        <p:nvSpPr>
          <p:cNvPr id="1026" name="직사각형 415"/>
          <p:cNvSpPr/>
          <p:nvPr/>
        </p:nvSpPr>
        <p:spPr>
          <a:xfrm>
            <a:off x="15803042" y="2049925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3. 근거 묶음의 구성</a:t>
            </a:r>
          </a:p>
        </p:txBody>
      </p:sp>
      <p:graphicFrame>
        <p:nvGraphicFramePr>
          <p:cNvPr id="1027" name="표"/>
          <p:cNvGraphicFramePr>
            <a:graphicFrameLocks noGrp="1"/>
          </p:cNvGraphicFramePr>
          <p:nvPr/>
        </p:nvGraphicFramePr>
        <p:xfrm>
          <a:off x="15670184" y="21235236"/>
          <a:ext cx="13500000" cy="3463000"/>
        </p:xfrm>
        <a:graphic>
          <a:graphicData uri="http://schemas.openxmlformats.org/drawingml/2006/table">
            <a:tbl>
              <a:tblPr firstRow="1" bandRow="1"/>
              <a:tblGrid>
                <a:gridCol w="3700000"/>
                <a:gridCol w="3300000"/>
                <a:gridCol w="6500000"/>
              </a:tblGrid>
              <a:tr h="4516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 구역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출처 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가져오는 근거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1 현재 상태 (CQ1)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[MEA:관측소코드:시각]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저장된 가장 최근 시각의 수위·저수량·강우량·유입량·총방류량·저수율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2 운영기준 (CQ5)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[CRI:번호]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제한수위와 별표3 원문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3 운영행위·승인 (CQ3)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[OPR] ← [APR]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운영행위(종류, 시각)와 그것을 허가한 승인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4 운영 시각 상태 (CQ2)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[MEA:관측소코드:시각]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운영행위 시각의 6개 변수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5 방류 승인 (CQ4)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[APR:번호]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승인일, 방류시작, 접수방류량, 비고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6 출처 (CQ6)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[EVI:…]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 기록, 측정자료, 별표3 등 출처와 위치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28" name="직사각형 1"/>
          <p:cNvSpPr/>
          <p:nvPr/>
        </p:nvSpPr>
        <p:spPr>
          <a:xfrm>
            <a:off x="15691431" y="2489823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답변 생성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26041260"/>
            <a:ext cx="14113138" cy="1005551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LLM에는 근거 묶음과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사용 원칙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(① 근거만 사실로 쓰고 출처 번호를 붙임 ② 비교·해석은 LLM의 판단임을 밝히고 근거를 적음 ③ 근거에 없으면 “자료에 없음”)을 전달함</a:t>
            </a:r>
          </a:p>
        </p:txBody>
      </p:sp>
      <p:sp>
        <p:nvSpPr>
          <p:cNvPr id="1030" name="직사각형 415"/>
          <p:cNvSpPr/>
          <p:nvPr/>
        </p:nvSpPr>
        <p:spPr>
          <a:xfrm>
            <a:off x="15803042" y="2704681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4. 답변의 구성: 근거와 판단의 구분</a:t>
            </a:r>
          </a:p>
        </p:txBody>
      </p:sp>
      <p:graphicFrame>
        <p:nvGraphicFramePr>
          <p:cNvPr id="1031" name="표"/>
          <p:cNvGraphicFramePr>
            <a:graphicFrameLocks noGrp="1"/>
          </p:cNvGraphicFramePr>
          <p:nvPr/>
        </p:nvGraphicFramePr>
        <p:xfrm>
          <a:off x="15670184" y="27782796"/>
          <a:ext cx="13500000" cy="240975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5300000"/>
                <a:gridCol w="5800000"/>
              </a:tblGrid>
              <a:tr h="45162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부분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내용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규칙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질문에 답하는 데 쓴 사실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값에 단위와 시각을 붙이고, 문장마다 출처 번호를 붙임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3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판단 (LLM)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근거를 비교·해석한 내용 (예: 제한수위와의 차이, 과거 사례와의 유사 여부)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LLM의 판단임을 밝히고, 어떤 근거에서 나온 판단인지 적음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5162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자료에 없음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근거 묶음에 없는 내용 (예: 방류 사유)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19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단정하지 않고 “자료에 없음”으로 답함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2" name="직사각형 1"/>
          <p:cNvSpPr/>
          <p:nvPr/>
        </p:nvSpPr>
        <p:spPr>
          <a:xfrm>
            <a:off x="15691431" y="3039254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33" name="본문"/>
          <p:cNvSpPr txBox="1"/>
          <p:nvPr/>
        </p:nvSpPr>
        <p:spPr>
          <a:xfrm>
            <a:off x="15570184" y="31535570"/>
            <a:ext cx="14113138" cy="339213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6단계로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KG(개체 264, 관계 418)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구축하고 수치·원문은 외부 저장소에 둠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근거와 판단을 나누어 답하는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제한수위, 과거 승인·운영행위를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34" name="직사각형 1"/>
          <p:cNvSpPr/>
          <p:nvPr/>
        </p:nvSpPr>
        <p:spPr>
          <a:xfrm>
            <a:off x="15691431" y="35127705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5" name="본문"/>
          <p:cNvSpPr txBox="1"/>
          <p:nvPr/>
        </p:nvSpPr>
        <p:spPr>
          <a:xfrm>
            <a:off x="15570184" y="36270729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36" name="직사각형 1"/>
          <p:cNvSpPr/>
          <p:nvPr/>
        </p:nvSpPr>
        <p:spPr>
          <a:xfrm>
            <a:off x="15691431" y="3708854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37" name="본문"/>
          <p:cNvSpPr txBox="1"/>
          <p:nvPr/>
        </p:nvSpPr>
        <p:spPr>
          <a:xfrm>
            <a:off x="15570184" y="38231573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